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87" r:id="rId3"/>
    <p:sldId id="286" r:id="rId4"/>
    <p:sldId id="278" r:id="rId5"/>
    <p:sldId id="266" r:id="rId6"/>
    <p:sldId id="260" r:id="rId7"/>
    <p:sldId id="279" r:id="rId8"/>
    <p:sldId id="28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9"/>
    <p:restoredTop sz="94694"/>
  </p:normalViewPr>
  <p:slideViewPr>
    <p:cSldViewPr snapToGrid="0" showGuides="1">
      <p:cViewPr varScale="1">
        <p:scale>
          <a:sx n="107" d="100"/>
          <a:sy n="107" d="100"/>
        </p:scale>
        <p:origin x="192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AA1B-AD8F-5CBF-1512-6C0A9A8C8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656EB-8D47-F128-1327-AECB19E2E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33A73-5B9F-FC8C-29F2-3BF15C54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655C7-A17C-95FC-1242-27F86F4A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0C3FC-8808-6DD5-8E29-C63765C8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493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4767-9B57-FCA8-150B-4FD7C94F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B0A8-6E55-FBFD-81CE-84CFC82F7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2568E-B56B-522A-75AB-1EC39F835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41D44-C3F0-7836-2D03-E81E8868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BB84-1ABA-0596-7420-E2DCFAEC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968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85C3-26AF-C4A1-8B89-435ED0FA8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8B64D-4DD2-8B82-CC4E-ADD53D0CF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65FFD-E2A6-DF2D-7B25-C2A9A3F87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A711D-6EDF-211E-D0CA-9E64AEB4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D4E92-3CAB-6AEF-DD98-E1A63C58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35544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B704-961F-787B-6A2B-4D206892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B5C61-0B19-5478-DB1F-FE4219060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3AE3A-325A-7778-0733-45D0C2798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C6CF1-73CA-ADA0-02CB-F1ED86B96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6B972-F30E-3205-727C-4DD824B3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BB176-7AD4-BAF1-82A2-B92FFD97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480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CBC9-F8C5-B032-FF2A-2EEB0576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4889A-132D-730E-88A9-E893A9E10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A8A0A-27BB-EA60-FB03-6489E6B16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F584D-BB98-B506-3607-1778B50D4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C077B-FB77-BB1C-1A40-DBE8D555D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B12A8-F737-D97F-0FC5-09D84D1F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38A08F-11D2-9499-A10B-EC14CD7D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2FA4AC-7896-3E90-9E5E-89C25A8F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8244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F67CC-73C2-B680-7218-B9EFD735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52BFE-77C1-DA2A-C95A-5FB0205E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66A03-8DC6-C218-4C17-7A6691A1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EB020-0100-D37F-985D-CF7CEBE3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1118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BE9BD-F090-05ED-F07E-13EF6FFC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0BE02-3357-2974-FEE7-98449843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F0CC0-57E2-643A-5B75-5E3D6BA8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9775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4763-8B3D-90AC-1080-1775DD9A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A7D89-39A3-695F-8B1F-1B2C8B93A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5C7E4-93EF-58C5-25AD-72F689C9A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CBA82-FD26-19B4-D5D2-4D01506A4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CCBD7-30A9-BB13-50B1-E74DDBF0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89855-D71F-E24C-0B1E-A036BF8F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5131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360D-AD15-7DC4-BC7F-D41A9F0E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1EC8A-1B8A-07BE-D360-914C94B3E8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409C2-0DC7-C762-1A14-F3A34DE14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16AC8-F78B-3701-D1FB-BED4BAD4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EBB29-8375-6BA6-FEAB-B287A9D3E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A8C2E-5026-3A9B-ACED-81A36A7A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747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6FC57-CA9A-F0FF-E60B-BADD0D39D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A5DDB-5063-DDF2-E0DC-BE2D8C240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6726D-5C9A-E97B-5A93-999E9C896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6185A-1F7B-BDC1-2266-61FF53BBD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21DF6-99BF-0337-9055-EC9CBFE60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1286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275725-34B3-E93F-9203-101E1F983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35AEC-E3C6-FBA5-A97F-7512469D1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89EA8-81A9-8FB6-1F66-00B7CB6A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25A58-A3ED-FCB3-FAAB-BFB51317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7FE5E-126F-D2E2-FAEC-5C56ED21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8109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DF951-CD83-D8D9-CDE9-3A6892468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B81A4-26A3-6366-202B-0E1C189C1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B9172-14BE-9E16-21D3-301460724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04AD9-693D-944E-79DF-B17AB5A25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697FB-1E63-8A3D-4F40-0E3721831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4161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ids.frontiersin.org/articles/10.3389/frym.2024.1164958" TargetMode="External"/><Relationship Id="rId2" Type="http://schemas.openxmlformats.org/officeDocument/2006/relationships/hyperlink" Target="https://kids.frontiersin.org/articles/10.3389/frym.2020.00009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88/0264-9381/32/6/065001" TargetMode="External"/><Relationship Id="rId4" Type="http://schemas.openxmlformats.org/officeDocument/2006/relationships/hyperlink" Target="https://www.quantamagazine.org/how-does-math-keep-secrets-20240801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ulsites.ul.ie/macsi/" TargetMode="External"/><Relationship Id="rId3" Type="http://schemas.openxmlformats.org/officeDocument/2006/relationships/hyperlink" Target="https://kids.frontiersin.org/articles/10.3389/frym.2023.1155100" TargetMode="External"/><Relationship Id="rId7" Type="http://schemas.openxmlformats.org/officeDocument/2006/relationships/hyperlink" Target="https://www.researchgate.net/profile/Ken_O_Connell" TargetMode="External"/><Relationship Id="rId2" Type="http://schemas.openxmlformats.org/officeDocument/2006/relationships/hyperlink" Target="https://www.nobelprize.org/uploads/2024/10/popular-physicsprize2024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twitter.com/kevin_moroney88" TargetMode="External"/><Relationship Id="rId5" Type="http://schemas.openxmlformats.org/officeDocument/2006/relationships/hyperlink" Target="https://www.rte.ie/brainstorm/2018/0514/963355-the-maths-behind-a-perfect-cup-of-coffee/#:~:text=The%20process%20behind%20your%20favourite%20hot" TargetMode="External"/><Relationship Id="rId4" Type="http://schemas.openxmlformats.org/officeDocument/2006/relationships/hyperlink" Target="https://kids.frontiersin.org/articles/10.3389/frym.2023.1284284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kids.frontiersin.org/articles/10.3389/frym.2022.820289" TargetMode="External"/><Relationship Id="rId2" Type="http://schemas.openxmlformats.org/officeDocument/2006/relationships/hyperlink" Target="https://kids.frontiersin.org/articles/10.3389/frym.2023.953114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kids.frontiersin.org/articles/10.3389/frym.2022.834049" TargetMode="External"/><Relationship Id="rId4" Type="http://schemas.openxmlformats.org/officeDocument/2006/relationships/hyperlink" Target="https://kids.frontiersin.org/articles/10.3389/frym.2022.926624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kids.frontiersin.org/articles/10.3389/frym.2022.741510" TargetMode="External"/><Relationship Id="rId2" Type="http://schemas.openxmlformats.org/officeDocument/2006/relationships/hyperlink" Target="https://kids.frontiersin.org/articles/10.3389/frym.2021.65113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kids.frontiersin.org/articles/10.3389/frym.2021.63104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29" name="Rectangle 2128">
            <a:extLst>
              <a:ext uri="{FF2B5EF4-FFF2-40B4-BE49-F238E27FC236}">
                <a16:creationId xmlns:a16="http://schemas.microsoft.com/office/drawing/2014/main" id="{D48D9584-D2FD-48CE-9E17-4E250B74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46F08F-BBAC-BDE8-A39F-C3FEDFFD3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59"/>
          <a:stretch>
            <a:fillRect/>
          </a:stretch>
        </p:blipFill>
        <p:spPr bwMode="auto">
          <a:xfrm>
            <a:off x="357721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A3BC209-1CE7-5F6F-4DAA-D479169AF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5" r="6838" b="1"/>
          <a:stretch>
            <a:fillRect/>
          </a:stretch>
        </p:blipFill>
        <p:spPr bwMode="auto">
          <a:xfrm>
            <a:off x="7822523" y="3456433"/>
            <a:ext cx="4369477" cy="3401568"/>
          </a:xfrm>
          <a:custGeom>
            <a:avLst/>
            <a:gdLst/>
            <a:ahLst/>
            <a:cxnLst/>
            <a:rect l="l" t="t" r="r" b="b"/>
            <a:pathLst>
              <a:path w="4369477" h="3401568">
                <a:moveTo>
                  <a:pt x="781270" y="0"/>
                </a:moveTo>
                <a:lnTo>
                  <a:pt x="4369477" y="0"/>
                </a:lnTo>
                <a:lnTo>
                  <a:pt x="4369477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ollywood Helped Physicists Cast Light on Spinning Black Holes | NOVA | PBS">
            <a:extLst>
              <a:ext uri="{FF2B5EF4-FFF2-40B4-BE49-F238E27FC236}">
                <a16:creationId xmlns:a16="http://schemas.microsoft.com/office/drawing/2014/main" id="{E39F048E-99C4-7ABC-6057-B2EE54014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49" b="-1"/>
          <a:stretch>
            <a:fillRect/>
          </a:stretch>
        </p:blipFill>
        <p:spPr bwMode="auto">
          <a:xfrm>
            <a:off x="3630260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2131" name="Freeform: Shape 2130">
            <a:extLst>
              <a:ext uri="{FF2B5EF4-FFF2-40B4-BE49-F238E27FC236}">
                <a16:creationId xmlns:a16="http://schemas.microsoft.com/office/drawing/2014/main" id="{CA17DEF4-6C5D-41C6-8D93-5C7CFD7AD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97136" cy="6858000"/>
          </a:xfrm>
          <a:custGeom>
            <a:avLst/>
            <a:gdLst>
              <a:gd name="connsiteX0" fmla="*/ 0 w 4397136"/>
              <a:gd name="connsiteY0" fmla="*/ 0 h 6858000"/>
              <a:gd name="connsiteX1" fmla="*/ 3599069 w 4397136"/>
              <a:gd name="connsiteY1" fmla="*/ 0 h 6858000"/>
              <a:gd name="connsiteX2" fmla="*/ 3634072 w 4397136"/>
              <a:gd name="connsiteY2" fmla="*/ 58977 h 6858000"/>
              <a:gd name="connsiteX3" fmla="*/ 4397136 w 4397136"/>
              <a:gd name="connsiteY3" fmla="*/ 3474189 h 6858000"/>
              <a:gd name="connsiteX4" fmla="*/ 3802221 w 4397136"/>
              <a:gd name="connsiteY4" fmla="*/ 6546415 h 6858000"/>
              <a:gd name="connsiteX5" fmla="*/ 3649466 w 4397136"/>
              <a:gd name="connsiteY5" fmla="*/ 6858000 h 6858000"/>
              <a:gd name="connsiteX6" fmla="*/ 0 w 439713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7136" h="6858000">
                <a:moveTo>
                  <a:pt x="0" y="0"/>
                </a:moveTo>
                <a:lnTo>
                  <a:pt x="3599069" y="0"/>
                </a:lnTo>
                <a:lnTo>
                  <a:pt x="3634072" y="58977"/>
                </a:lnTo>
                <a:cubicBezTo>
                  <a:pt x="4105532" y="933006"/>
                  <a:pt x="4397136" y="2140466"/>
                  <a:pt x="4397136" y="3474189"/>
                </a:cubicBezTo>
                <a:cubicBezTo>
                  <a:pt x="4397136" y="4641197"/>
                  <a:pt x="4173877" y="5711534"/>
                  <a:pt x="3802221" y="6546415"/>
                </a:cubicBezTo>
                <a:lnTo>
                  <a:pt x="3649466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33" name="Freeform: Shape 2132">
            <a:extLst>
              <a:ext uri="{FF2B5EF4-FFF2-40B4-BE49-F238E27FC236}">
                <a16:creationId xmlns:a16="http://schemas.microsoft.com/office/drawing/2014/main" id="{22BBC5A3-5C8C-4FB9-AEFF-8778D2C98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86504" cy="6858000"/>
          </a:xfrm>
          <a:custGeom>
            <a:avLst/>
            <a:gdLst>
              <a:gd name="connsiteX0" fmla="*/ 0 w 4386504"/>
              <a:gd name="connsiteY0" fmla="*/ 0 h 6858000"/>
              <a:gd name="connsiteX1" fmla="*/ 3588437 w 4386504"/>
              <a:gd name="connsiteY1" fmla="*/ 0 h 6858000"/>
              <a:gd name="connsiteX2" fmla="*/ 3623440 w 4386504"/>
              <a:gd name="connsiteY2" fmla="*/ 58977 h 6858000"/>
              <a:gd name="connsiteX3" fmla="*/ 4386504 w 4386504"/>
              <a:gd name="connsiteY3" fmla="*/ 3474189 h 6858000"/>
              <a:gd name="connsiteX4" fmla="*/ 3791589 w 4386504"/>
              <a:gd name="connsiteY4" fmla="*/ 6546415 h 6858000"/>
              <a:gd name="connsiteX5" fmla="*/ 3638834 w 4386504"/>
              <a:gd name="connsiteY5" fmla="*/ 6858000 h 6858000"/>
              <a:gd name="connsiteX6" fmla="*/ 0 w 438650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6504" h="6858000">
                <a:moveTo>
                  <a:pt x="0" y="0"/>
                </a:moveTo>
                <a:lnTo>
                  <a:pt x="3588437" y="0"/>
                </a:lnTo>
                <a:lnTo>
                  <a:pt x="3623440" y="58977"/>
                </a:lnTo>
                <a:cubicBezTo>
                  <a:pt x="4094900" y="933006"/>
                  <a:pt x="4386504" y="2140466"/>
                  <a:pt x="4386504" y="3474189"/>
                </a:cubicBezTo>
                <a:cubicBezTo>
                  <a:pt x="4386504" y="4641197"/>
                  <a:pt x="4163245" y="5711534"/>
                  <a:pt x="3791589" y="6546415"/>
                </a:cubicBezTo>
                <a:lnTo>
                  <a:pt x="363883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0009B-933E-E709-154B-41D89721F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1508760"/>
            <a:ext cx="3429000" cy="2898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Maths Research for All</a:t>
            </a:r>
            <a:b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Maths Week 2025</a:t>
            </a:r>
            <a:b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35" name="Rectangle 2134">
            <a:extLst>
              <a:ext uri="{FF2B5EF4-FFF2-40B4-BE49-F238E27FC236}">
                <a16:creationId xmlns:a16="http://schemas.microsoft.com/office/drawing/2014/main" id="{3BB917E8-D696-4787-96D6-521A9C42F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E08622A-93AB-0371-B48F-9EF579A91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40" r="9379"/>
          <a:stretch>
            <a:fillRect/>
          </a:stretch>
        </p:blipFill>
        <p:spPr bwMode="auto">
          <a:xfrm>
            <a:off x="7845207" y="10"/>
            <a:ext cx="4346795" cy="3401558"/>
          </a:xfrm>
          <a:custGeom>
            <a:avLst/>
            <a:gdLst/>
            <a:ahLst/>
            <a:cxnLst/>
            <a:rect l="l" t="t" r="r" b="b"/>
            <a:pathLst>
              <a:path w="4346795" h="3401568">
                <a:moveTo>
                  <a:pt x="0" y="0"/>
                </a:moveTo>
                <a:lnTo>
                  <a:pt x="4346795" y="0"/>
                </a:lnTo>
                <a:lnTo>
                  <a:pt x="4346795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37" name="Rectangle 2136">
            <a:extLst>
              <a:ext uri="{FF2B5EF4-FFF2-40B4-BE49-F238E27FC236}">
                <a16:creationId xmlns:a16="http://schemas.microsoft.com/office/drawing/2014/main" id="{39F4C545-E278-42ED-9B78-2EBA46444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4544568"/>
            <a:ext cx="341496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9299B4-4B3F-6312-C592-FFCE905F0191}"/>
              </a:ext>
            </a:extLst>
          </p:cNvPr>
          <p:cNvSpPr txBox="1"/>
          <p:nvPr/>
        </p:nvSpPr>
        <p:spPr>
          <a:xfrm>
            <a:off x="4099259" y="-54855"/>
            <a:ext cx="4231231" cy="133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 Learning Machines Take Over the World?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1F4F17-B5F1-001E-DDEC-B40B903384E2}"/>
              </a:ext>
            </a:extLst>
          </p:cNvPr>
          <p:cNvSpPr txBox="1"/>
          <p:nvPr/>
        </p:nvSpPr>
        <p:spPr>
          <a:xfrm>
            <a:off x="7979896" y="6025896"/>
            <a:ext cx="4917948" cy="133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800" dirty="0"/>
              <a:t>“Feeling” Ourselves Move: </a:t>
            </a:r>
            <a:br>
              <a:rPr lang="en-US" sz="2800" dirty="0"/>
            </a:br>
            <a:r>
              <a:rPr lang="en-US" sz="2800" dirty="0"/>
              <a:t>A Team Effort by Our Senses</a:t>
            </a:r>
            <a:endParaRPr 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6FFC9F-0B7B-64F3-B7DE-FB97217001EB}"/>
              </a:ext>
            </a:extLst>
          </p:cNvPr>
          <p:cNvSpPr txBox="1"/>
          <p:nvPr/>
        </p:nvSpPr>
        <p:spPr>
          <a:xfrm>
            <a:off x="8481583" y="2514608"/>
            <a:ext cx="3724001" cy="133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800" dirty="0"/>
              <a:t>How Does Math Keep Secrets?</a:t>
            </a:r>
            <a:endParaRPr 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8ACE88-45C5-6E61-BEE9-9832BCB57659}"/>
              </a:ext>
            </a:extLst>
          </p:cNvPr>
          <p:cNvSpPr txBox="1"/>
          <p:nvPr/>
        </p:nvSpPr>
        <p:spPr>
          <a:xfrm>
            <a:off x="3815668" y="6270762"/>
            <a:ext cx="4917948" cy="133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800" dirty="0">
                <a:solidFill>
                  <a:schemeClr val="bg1"/>
                </a:solidFill>
              </a:rPr>
              <a:t>Astrophysics in Interstellar</a:t>
            </a:r>
            <a:endParaRPr lang="en-US" sz="2800" kern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76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0" grpId="0"/>
      <p:bldP spid="11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024EA-37FC-ECE7-7B70-49B66DEEB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CED7A-6F80-C8B1-F233-C3831FC6D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B8F46-027C-B361-6493-8661DFF12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E" dirty="0"/>
              <a:t>Campos JL, Pandi M and Butler JS (2020) “Feeling” Ourselves Move: A Team Effort by Our Senses. Front. Young Minds. 8:9. </a:t>
            </a:r>
            <a:r>
              <a:rPr lang="en-IE" dirty="0" err="1"/>
              <a:t>doi</a:t>
            </a:r>
            <a:r>
              <a:rPr lang="en-IE" dirty="0"/>
              <a:t>: 10.3389/frym.2020.00009</a:t>
            </a:r>
          </a:p>
          <a:p>
            <a:r>
              <a:rPr lang="en-US" dirty="0">
                <a:solidFill>
                  <a:srgbClr val="282828"/>
                </a:solidFill>
                <a:latin typeface="MuseoSans"/>
                <a:hlinkClick r:id="rId2"/>
              </a:rPr>
              <a:t>https://kids.frontiersin.org/articles/10.3389/frym.2020.00009</a:t>
            </a:r>
            <a:endParaRPr lang="en-US" dirty="0">
              <a:solidFill>
                <a:srgbClr val="282828"/>
              </a:solidFill>
              <a:latin typeface="MuseoSans"/>
            </a:endParaRPr>
          </a:p>
          <a:p>
            <a:pPr marL="0" indent="0">
              <a:buNone/>
            </a:pPr>
            <a:endParaRPr lang="en-US" b="0" i="0" u="none" strike="noStrike" dirty="0">
              <a:solidFill>
                <a:srgbClr val="282828"/>
              </a:solidFill>
              <a:effectLst/>
              <a:latin typeface="MuseoSans"/>
            </a:endParaRPr>
          </a:p>
          <a:p>
            <a:r>
              <a:rPr lang="en-IE" dirty="0"/>
              <a:t>LeCun Y (2024) Will Learning Machines Take Over the World?. Front. Young Minds. 12:1164958. </a:t>
            </a:r>
            <a:r>
              <a:rPr lang="en-IE" dirty="0" err="1"/>
              <a:t>doi</a:t>
            </a:r>
            <a:r>
              <a:rPr lang="en-IE" dirty="0"/>
              <a:t>: 10.3389/frym.2024.1164958</a:t>
            </a:r>
          </a:p>
          <a:p>
            <a:r>
              <a:rPr lang="en-GB" dirty="0">
                <a:hlinkClick r:id="rId3"/>
              </a:rPr>
              <a:t>https://kids.frontiersin.org/articles/10.3389/frym.2024.116495</a:t>
            </a:r>
            <a:r>
              <a:rPr lang="en-GB" dirty="0">
                <a:hlinkClick r:id="rId3"/>
              </a:rPr>
              <a:t>8</a:t>
            </a:r>
            <a:br>
              <a:rPr lang="en-GB" dirty="0"/>
            </a:br>
            <a:endParaRPr lang="en-GB" dirty="0"/>
          </a:p>
          <a:p>
            <a:r>
              <a:rPr lang="en-GB" dirty="0"/>
              <a:t>THE JOY OF WHY, How Does Math Keep Secrets?</a:t>
            </a:r>
            <a:br>
              <a:rPr lang="en-GB" dirty="0"/>
            </a:br>
            <a:r>
              <a:rPr lang="en-GB" dirty="0">
                <a:hlinkClick r:id="rId4"/>
              </a:rPr>
              <a:t>https://www.quantamagazine.org/how-does-math-keep-secrets-20240801/</a:t>
            </a:r>
            <a:endParaRPr lang="en-GB" dirty="0"/>
          </a:p>
          <a:p>
            <a:r>
              <a:rPr lang="en-GB" dirty="0"/>
              <a:t>James, O., von </a:t>
            </a:r>
            <a:r>
              <a:rPr lang="en-GB" dirty="0" err="1"/>
              <a:t>Tunzelmann</a:t>
            </a:r>
            <a:r>
              <a:rPr lang="en-GB" dirty="0"/>
              <a:t>, E., Franklin, P., &amp; Thorne, K. S. (2015). Gravitational lensing by spinning black holes in astrophysics, and in the movie Interstellar. Classical and Quantum Gravity, 32(6), 065001. </a:t>
            </a:r>
          </a:p>
          <a:p>
            <a:r>
              <a:rPr lang="en-GB" dirty="0">
                <a:hlinkClick r:id="rId5"/>
              </a:rPr>
              <a:t>https://doi.org/10.1088/0264-9381/32/6/065001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b="0" i="0" u="none" strike="noStrike" dirty="0">
              <a:solidFill>
                <a:srgbClr val="282828"/>
              </a:solidFill>
              <a:effectLst/>
              <a:latin typeface="MuseoSans"/>
            </a:endParaRPr>
          </a:p>
          <a:p>
            <a:endParaRPr lang="en-IE" dirty="0"/>
          </a:p>
          <a:p>
            <a:endParaRPr lang="en-IE" b="0" i="0" u="none" strike="noStrike" dirty="0">
              <a:solidFill>
                <a:srgbClr val="282828"/>
              </a:solidFill>
              <a:effectLst/>
              <a:latin typeface="MuseoSans"/>
            </a:endParaRPr>
          </a:p>
          <a:p>
            <a:pPr lvl="1"/>
            <a:endParaRPr lang="en-IE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184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593DF-11C1-E268-597E-BC04B416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28DF9-7CFC-A739-3AA7-BE9BA3812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912" y="4678805"/>
            <a:ext cx="8818765" cy="116063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sz="70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Maths</a:t>
            </a:r>
            <a:r>
              <a:rPr lang="en-US" sz="7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Research for All</a:t>
            </a:r>
            <a:br>
              <a:rPr lang="en-US" sz="7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70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Maths</a:t>
            </a:r>
            <a:r>
              <a:rPr lang="en-US" sz="7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Week 2024</a:t>
            </a:r>
            <a:br>
              <a:rPr lang="en-US" sz="7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70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E7C190D4-9897-BDE3-17B5-05E869802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41" r="16110" b="3"/>
          <a:stretch/>
        </p:blipFill>
        <p:spPr bwMode="auto">
          <a:xfrm>
            <a:off x="4966006" y="198381"/>
            <a:ext cx="3765946" cy="3765946"/>
          </a:xfrm>
          <a:custGeom>
            <a:avLst/>
            <a:gdLst/>
            <a:ahLst/>
            <a:cxnLst/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89ED9FB-7A0F-B367-320C-7DBE55349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89" b="-1"/>
          <a:stretch/>
        </p:blipFill>
        <p:spPr bwMode="auto">
          <a:xfrm>
            <a:off x="1199083" y="10"/>
            <a:ext cx="4125131" cy="2489417"/>
          </a:xfrm>
          <a:custGeom>
            <a:avLst/>
            <a:gdLst/>
            <a:ahLst/>
            <a:cxnLst/>
            <a:rect l="l" t="t" r="r" b="b"/>
            <a:pathLst>
              <a:path w="4125131" h="2489417">
                <a:moveTo>
                  <a:pt x="44777" y="0"/>
                </a:moveTo>
                <a:lnTo>
                  <a:pt x="4080354" y="0"/>
                </a:lnTo>
                <a:lnTo>
                  <a:pt x="4083227" y="11173"/>
                </a:lnTo>
                <a:cubicBezTo>
                  <a:pt x="4110702" y="145441"/>
                  <a:pt x="4125131" y="284462"/>
                  <a:pt x="4125131" y="426852"/>
                </a:cubicBezTo>
                <a:cubicBezTo>
                  <a:pt x="4125131" y="1565976"/>
                  <a:pt x="3201689" y="2489417"/>
                  <a:pt x="2062565" y="2489417"/>
                </a:cubicBezTo>
                <a:cubicBezTo>
                  <a:pt x="923442" y="2489417"/>
                  <a:pt x="0" y="1565976"/>
                  <a:pt x="0" y="426852"/>
                </a:cubicBezTo>
                <a:cubicBezTo>
                  <a:pt x="0" y="284462"/>
                  <a:pt x="14429" y="145441"/>
                  <a:pt x="41904" y="11173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63B7549-102B-349E-DDF3-78A3C75D4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95" r="26324" b="-1"/>
          <a:stretch/>
        </p:blipFill>
        <p:spPr bwMode="auto">
          <a:xfrm>
            <a:off x="-7" y="2425601"/>
            <a:ext cx="3859488" cy="4432392"/>
          </a:xfrm>
          <a:custGeom>
            <a:avLst/>
            <a:gdLst/>
            <a:ahLst/>
            <a:cxnLst/>
            <a:rect l="l" t="t" r="r" b="b"/>
            <a:pathLst>
              <a:path w="4231752" h="4859916">
                <a:moveTo>
                  <a:pt x="1051869" y="0"/>
                </a:moveTo>
                <a:cubicBezTo>
                  <a:pt x="2808070" y="0"/>
                  <a:pt x="4231752" y="1423682"/>
                  <a:pt x="4231752" y="3179883"/>
                </a:cubicBezTo>
                <a:cubicBezTo>
                  <a:pt x="4231752" y="3728696"/>
                  <a:pt x="4092721" y="4245036"/>
                  <a:pt x="3847958" y="4695604"/>
                </a:cubicBezTo>
                <a:lnTo>
                  <a:pt x="3748135" y="4859916"/>
                </a:lnTo>
                <a:lnTo>
                  <a:pt x="0" y="4859916"/>
                </a:lnTo>
                <a:lnTo>
                  <a:pt x="0" y="181856"/>
                </a:lnTo>
                <a:lnTo>
                  <a:pt x="106268" y="142962"/>
                </a:lnTo>
                <a:cubicBezTo>
                  <a:pt x="404983" y="50052"/>
                  <a:pt x="722581" y="0"/>
                  <a:pt x="1051869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Image">
            <a:extLst>
              <a:ext uri="{FF2B5EF4-FFF2-40B4-BE49-F238E27FC236}">
                <a16:creationId xmlns:a16="http://schemas.microsoft.com/office/drawing/2014/main" id="{7F25EABC-8892-6EE6-7EF0-CFA9CF4DA9A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06" r="26968" b="2"/>
          <a:stretch/>
        </p:blipFill>
        <p:spPr bwMode="auto">
          <a:xfrm>
            <a:off x="8845412" y="10"/>
            <a:ext cx="3346597" cy="3631921"/>
          </a:xfrm>
          <a:custGeom>
            <a:avLst/>
            <a:gdLst/>
            <a:ahLst/>
            <a:cxnLst/>
            <a:rect l="l" t="t" r="r" b="b"/>
            <a:pathLst>
              <a:path w="3346597" h="3631921">
                <a:moveTo>
                  <a:pt x="416855" y="0"/>
                </a:moveTo>
                <a:lnTo>
                  <a:pt x="3346597" y="0"/>
                </a:lnTo>
                <a:lnTo>
                  <a:pt x="3346597" y="3384403"/>
                </a:lnTo>
                <a:lnTo>
                  <a:pt x="3209678" y="3450360"/>
                </a:lnTo>
                <a:cubicBezTo>
                  <a:pt x="2933269" y="3567272"/>
                  <a:pt x="2629372" y="3631921"/>
                  <a:pt x="2310376" y="3631921"/>
                </a:cubicBezTo>
                <a:cubicBezTo>
                  <a:pt x="1034390" y="3631921"/>
                  <a:pt x="0" y="2597531"/>
                  <a:pt x="0" y="1321546"/>
                </a:cubicBezTo>
                <a:cubicBezTo>
                  <a:pt x="0" y="843052"/>
                  <a:pt x="145461" y="398532"/>
                  <a:pt x="394576" y="29794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3BD0A5-B618-CD9D-7EED-8C48D4B69DF1}"/>
              </a:ext>
            </a:extLst>
          </p:cNvPr>
          <p:cNvSpPr txBox="1"/>
          <p:nvPr/>
        </p:nvSpPr>
        <p:spPr>
          <a:xfrm>
            <a:off x="-23743" y="5619660"/>
            <a:ext cx="3505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Causality: Using Math to Understand the Science of Cause and Effect</a:t>
            </a:r>
            <a:endParaRPr lang="en-IE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02B9CE-35CC-2EE0-62DB-1AEB429BDC85}"/>
              </a:ext>
            </a:extLst>
          </p:cNvPr>
          <p:cNvSpPr txBox="1"/>
          <p:nvPr/>
        </p:nvSpPr>
        <p:spPr>
          <a:xfrm>
            <a:off x="562748" y="1556100"/>
            <a:ext cx="44198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Easy Or Hard? Basic Questions in Computational Complexity Theory </a:t>
            </a:r>
            <a:endParaRPr lang="en-IE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730205-7695-CA9B-3BF7-1E2E041C5D4F}"/>
              </a:ext>
            </a:extLst>
          </p:cNvPr>
          <p:cNvSpPr txBox="1"/>
          <p:nvPr/>
        </p:nvSpPr>
        <p:spPr>
          <a:xfrm>
            <a:off x="4759302" y="3419756"/>
            <a:ext cx="42200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/>
              <a:t>The maths behind a perfect cup of coffee </a:t>
            </a:r>
            <a:endParaRPr lang="en-IE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14599D-2B51-0D5B-0469-8E08E3A7FACF}"/>
              </a:ext>
            </a:extLst>
          </p:cNvPr>
          <p:cNvSpPr txBox="1"/>
          <p:nvPr/>
        </p:nvSpPr>
        <p:spPr>
          <a:xfrm>
            <a:off x="8241585" y="-24673"/>
            <a:ext cx="4220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/>
              <a:t>Noble Prize in Physics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31776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>
            <a:extLst>
              <a:ext uri="{FF2B5EF4-FFF2-40B4-BE49-F238E27FC236}">
                <a16:creationId xmlns:a16="http://schemas.microsoft.com/office/drawing/2014/main" id="{83D55E46-3805-39AF-A173-A06ECDBC9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6056" y="3433545"/>
            <a:ext cx="7346286" cy="3673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595D090D-C000-02AA-47D0-0B573533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368" y="3453946"/>
            <a:ext cx="6051632" cy="3402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8D4969F1-906D-5320-4D20-D0A8F218D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742" y="-4117"/>
            <a:ext cx="7007258" cy="3503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8A2345E5-E1CB-AF87-A4F5-C4B038930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6140368" cy="3452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40009B-933E-E709-154B-41D89721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A13A01-A7AB-DB4A-BDF2-00BA482FE4EE}"/>
              </a:ext>
            </a:extLst>
          </p:cNvPr>
          <p:cNvSpPr txBox="1"/>
          <p:nvPr/>
        </p:nvSpPr>
        <p:spPr>
          <a:xfrm>
            <a:off x="7610673" y="-21691"/>
            <a:ext cx="61403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2800" b="0" i="0" u="none" strike="noStrike" kern="1200" cap="none" spc="0" normalizeH="0" baseline="0" noProof="0" dirty="0">
              <a:ln>
                <a:solidFill>
                  <a:prstClr val="black"/>
                </a:solidFill>
              </a:ln>
              <a:solidFill>
                <a:srgbClr val="4472C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MuseoSans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830B6D-ABCD-FF20-10C6-CD66E31A38FE}"/>
              </a:ext>
            </a:extLst>
          </p:cNvPr>
          <p:cNvSpPr txBox="1"/>
          <p:nvPr/>
        </p:nvSpPr>
        <p:spPr>
          <a:xfrm>
            <a:off x="200451" y="190658"/>
            <a:ext cx="6095999" cy="369332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CCD5D7-7A2F-B702-9A69-8C1E583CB15B}"/>
              </a:ext>
            </a:extLst>
          </p:cNvPr>
          <p:cNvSpPr/>
          <p:nvPr/>
        </p:nvSpPr>
        <p:spPr>
          <a:xfrm rot="18896749">
            <a:off x="4471992" y="1785929"/>
            <a:ext cx="3240000" cy="32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E5B328-E31E-57C3-B17D-3D9A12B324A0}"/>
              </a:ext>
            </a:extLst>
          </p:cNvPr>
          <p:cNvSpPr txBox="1"/>
          <p:nvPr/>
        </p:nvSpPr>
        <p:spPr>
          <a:xfrm>
            <a:off x="4200522" y="2908745"/>
            <a:ext cx="3786186" cy="107721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Maths Papers for Kids</a:t>
            </a:r>
            <a:br>
              <a:rPr kumimoji="0" lang="en-IE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IE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Maths Week 2023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11AFD4-ECEA-1166-3417-4A460515CAF3}"/>
              </a:ext>
            </a:extLst>
          </p:cNvPr>
          <p:cNvSpPr txBox="1"/>
          <p:nvPr/>
        </p:nvSpPr>
        <p:spPr>
          <a:xfrm>
            <a:off x="248598" y="5447713"/>
            <a:ext cx="4209319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800" b="1" i="0" u="none" strike="noStrike" kern="1200" cap="none" spc="0" normalizeH="0" baseline="0" noProof="0" dirty="0">
                <a:ln w="10160">
                  <a:solidFill>
                    <a:srgbClr val="5B9BD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seoSans"/>
                <a:ea typeface="+mn-ea"/>
                <a:cs typeface="+mn-cs"/>
              </a:rPr>
              <a:t>What Does Math Have to Do With Patterns in Fish?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353602-E726-D64F-A9AD-A74AE94BDD95}"/>
              </a:ext>
            </a:extLst>
          </p:cNvPr>
          <p:cNvSpPr txBox="1"/>
          <p:nvPr/>
        </p:nvSpPr>
        <p:spPr>
          <a:xfrm>
            <a:off x="6534971" y="5447713"/>
            <a:ext cx="4209319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800" b="1" i="0" u="none" strike="noStrike" kern="1200" cap="none" spc="0" normalizeH="0" baseline="0" noProof="0" dirty="0">
                <a:ln w="10160">
                  <a:solidFill>
                    <a:srgbClr val="5B9BD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seoSans"/>
                <a:ea typeface="+mn-ea"/>
                <a:cs typeface="+mn-cs"/>
              </a:rPr>
              <a:t>Understanding The Odds: </a:t>
            </a:r>
            <a:br>
              <a:rPr kumimoji="0" lang="en-IE" sz="2800" b="1" i="0" u="none" strike="noStrike" kern="1200" cap="none" spc="0" normalizeH="0" baseline="0" noProof="0" dirty="0">
                <a:ln w="10160">
                  <a:solidFill>
                    <a:srgbClr val="5B9BD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seoSans"/>
                <a:ea typeface="+mn-ea"/>
                <a:cs typeface="+mn-cs"/>
              </a:rPr>
            </a:br>
            <a:r>
              <a:rPr kumimoji="0" lang="en-IE" sz="2800" b="1" i="0" u="none" strike="noStrike" kern="1200" cap="none" spc="0" normalizeH="0" baseline="0" noProof="0" dirty="0">
                <a:ln w="10160">
                  <a:solidFill>
                    <a:srgbClr val="5B9BD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seoSans"/>
                <a:ea typeface="+mn-ea"/>
                <a:cs typeface="+mn-cs"/>
              </a:rPr>
              <a:t>Statistics in Public Health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20DF3-6FFF-AE6B-D3E2-1A50EA78A09C}"/>
              </a:ext>
            </a:extLst>
          </p:cNvPr>
          <p:cNvSpPr txBox="1"/>
          <p:nvPr/>
        </p:nvSpPr>
        <p:spPr>
          <a:xfrm>
            <a:off x="7124588" y="105233"/>
            <a:ext cx="4693412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800" b="1" i="0" u="none" strike="noStrike" kern="1200" cap="none" spc="0" normalizeH="0" baseline="0" noProof="0" dirty="0">
                <a:ln w="10160">
                  <a:solidFill>
                    <a:srgbClr val="5B9BD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seoSans"/>
                <a:ea typeface="+mn-ea"/>
                <a:cs typeface="+mn-cs"/>
              </a:rPr>
              <a:t>Predict Who Your Friends Are?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B1A530-7318-52C0-9785-3FDDACB2B62F}"/>
              </a:ext>
            </a:extLst>
          </p:cNvPr>
          <p:cNvSpPr txBox="1"/>
          <p:nvPr/>
        </p:nvSpPr>
        <p:spPr>
          <a:xfrm>
            <a:off x="23420" y="-22501"/>
            <a:ext cx="5664316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800" b="1" i="0" u="none" strike="noStrike" kern="1200" cap="none" spc="0" normalizeH="0" baseline="0" noProof="0" dirty="0">
                <a:ln w="10160">
                  <a:solidFill>
                    <a:srgbClr val="5B9BD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seoSans"/>
                <a:ea typeface="+mn-ea"/>
                <a:cs typeface="+mn-cs"/>
              </a:rPr>
              <a:t>Puzzling Pentagons—How Many Ways Can We Cover a Flat Surface?</a:t>
            </a:r>
          </a:p>
        </p:txBody>
      </p:sp>
    </p:spTree>
    <p:extLst>
      <p:ext uri="{BB962C8B-B14F-4D97-AF65-F5344CB8AC3E}">
        <p14:creationId xmlns:p14="http://schemas.microsoft.com/office/powerpoint/2010/main" val="193673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E0D8D0AA-6E75-117E-FC57-A2CED8435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894" y="0"/>
            <a:ext cx="6858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9EF2AE4-323D-CCDB-9D7F-3FB2C458A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-12237"/>
            <a:ext cx="6858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A13A01-A7AB-DB4A-BDF2-00BA482FE4EE}"/>
              </a:ext>
            </a:extLst>
          </p:cNvPr>
          <p:cNvSpPr txBox="1"/>
          <p:nvPr/>
        </p:nvSpPr>
        <p:spPr>
          <a:xfrm>
            <a:off x="8289403" y="-40811"/>
            <a:ext cx="61403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800" b="0" i="0" u="none" strike="noStrike" kern="1200" cap="none" spc="0" normalizeH="0" baseline="0" noProof="0" dirty="0">
                <a:ln>
                  <a:solidFill>
                    <a:prstClr val="black"/>
                  </a:solidFill>
                </a:ln>
                <a:solidFill>
                  <a:srgbClr val="4472C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MuseoSans"/>
                <a:ea typeface="+mn-ea"/>
                <a:cs typeface="+mn-cs"/>
              </a:rPr>
              <a:t>The Circle of Life: </a:t>
            </a:r>
            <a:br>
              <a:rPr kumimoji="0" lang="en-IE" sz="2800" b="0" i="0" u="none" strike="noStrike" kern="1200" cap="none" spc="0" normalizeH="0" baseline="0" noProof="0" dirty="0">
                <a:ln>
                  <a:solidFill>
                    <a:prstClr val="black"/>
                  </a:solidFill>
                </a:ln>
                <a:solidFill>
                  <a:srgbClr val="4472C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MuseoSans"/>
                <a:ea typeface="+mn-ea"/>
                <a:cs typeface="+mn-cs"/>
              </a:rPr>
            </a:br>
            <a:r>
              <a:rPr kumimoji="0" lang="en-IE" sz="2800" b="0" i="0" u="none" strike="noStrike" kern="1200" cap="none" spc="0" normalizeH="0" baseline="0" noProof="0" dirty="0">
                <a:ln>
                  <a:solidFill>
                    <a:prstClr val="black"/>
                  </a:solidFill>
                </a:ln>
                <a:solidFill>
                  <a:srgbClr val="4472C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MuseoSans"/>
                <a:ea typeface="+mn-ea"/>
                <a:cs typeface="+mn-cs"/>
              </a:rPr>
              <a:t>The Mathematics </a:t>
            </a:r>
            <a:br>
              <a:rPr kumimoji="0" lang="en-IE" sz="2800" b="0" i="0" u="none" strike="noStrike" kern="1200" cap="none" spc="0" normalizeH="0" baseline="0" noProof="0" dirty="0">
                <a:ln>
                  <a:solidFill>
                    <a:prstClr val="black"/>
                  </a:solidFill>
                </a:ln>
                <a:solidFill>
                  <a:srgbClr val="4472C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MuseoSans"/>
                <a:ea typeface="+mn-ea"/>
                <a:cs typeface="+mn-cs"/>
              </a:rPr>
            </a:br>
            <a:r>
              <a:rPr kumimoji="0" lang="en-IE" sz="2800" b="0" i="0" u="none" strike="noStrike" kern="1200" cap="none" spc="0" normalizeH="0" baseline="0" noProof="0" dirty="0">
                <a:ln>
                  <a:solidFill>
                    <a:prstClr val="black"/>
                  </a:solidFill>
                </a:ln>
                <a:solidFill>
                  <a:srgbClr val="4472C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MuseoSans"/>
                <a:ea typeface="+mn-ea"/>
                <a:cs typeface="+mn-cs"/>
              </a:rPr>
              <a:t>of Predator-Prey Relationships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830B6D-ABCD-FF20-10C6-CD66E31A38FE}"/>
              </a:ext>
            </a:extLst>
          </p:cNvPr>
          <p:cNvSpPr txBox="1"/>
          <p:nvPr/>
        </p:nvSpPr>
        <p:spPr>
          <a:xfrm>
            <a:off x="271766" y="-73406"/>
            <a:ext cx="7119641" cy="95410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800" b="1" i="0" u="none" strike="noStrike" kern="1200" cap="none" spc="0" normalizeH="0" baseline="0" noProof="0" dirty="0">
                <a:ln w="10160">
                  <a:solidFill>
                    <a:srgbClr val="5B9BD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Using Mathematics to Become in </a:t>
            </a:r>
            <a:br>
              <a:rPr kumimoji="0" lang="en-IE" sz="2800" b="1" i="0" u="none" strike="noStrike" kern="1200" cap="none" spc="0" normalizeH="0" baseline="0" noProof="0" dirty="0">
                <a:ln w="10160">
                  <a:solidFill>
                    <a:srgbClr val="5B9BD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IE" sz="2800" b="1" i="0" u="none" strike="noStrike" kern="1200" cap="none" spc="0" normalizeH="0" baseline="0" noProof="0" dirty="0">
                <a:ln w="10160">
                  <a:solidFill>
                    <a:srgbClr val="5B9BD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Sync With the Brain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0358975C-8341-8FCD-B4BE-E7570339D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5429" y="3417425"/>
            <a:ext cx="684552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4C6C15-F327-1407-4347-250EB401F2BB}"/>
              </a:ext>
            </a:extLst>
          </p:cNvPr>
          <p:cNvSpPr txBox="1"/>
          <p:nvPr/>
        </p:nvSpPr>
        <p:spPr>
          <a:xfrm>
            <a:off x="102622" y="3502406"/>
            <a:ext cx="7095280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800" b="1" i="0" u="none" strike="noStrike" kern="1200" cap="none" spc="0" normalizeH="0" baseline="0" noProof="0" dirty="0">
                <a:ln w="10160">
                  <a:solidFill>
                    <a:srgbClr val="5B9BD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seoSans"/>
                <a:ea typeface="+mn-ea"/>
                <a:cs typeface="+mn-cs"/>
              </a:rPr>
              <a:t>Finding Your Way: </a:t>
            </a:r>
            <a:br>
              <a:rPr kumimoji="0" lang="en-IE" sz="2800" b="1" i="0" u="none" strike="noStrike" kern="1200" cap="none" spc="0" normalizeH="0" baseline="0" noProof="0" dirty="0">
                <a:ln w="10160">
                  <a:solidFill>
                    <a:srgbClr val="5B9BD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seoSans"/>
                <a:ea typeface="+mn-ea"/>
                <a:cs typeface="+mn-cs"/>
              </a:rPr>
            </a:br>
            <a:r>
              <a:rPr kumimoji="0" lang="en-IE" sz="2800" b="1" i="0" u="none" strike="noStrike" kern="1200" cap="none" spc="0" normalizeH="0" baseline="0" noProof="0" dirty="0">
                <a:ln w="10160">
                  <a:solidFill>
                    <a:srgbClr val="5B9BD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MuseoSans"/>
                <a:ea typeface="+mn-ea"/>
                <a:cs typeface="+mn-cs"/>
              </a:rPr>
              <a:t>Shortest Paths on Networks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9666AA06-2553-CFC2-7C58-4BA7FA826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3411637"/>
            <a:ext cx="6869575" cy="343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AF88AE-4E0A-2536-F77C-C2F8A5C45B3D}"/>
              </a:ext>
            </a:extLst>
          </p:cNvPr>
          <p:cNvSpPr txBox="1"/>
          <p:nvPr/>
        </p:nvSpPr>
        <p:spPr>
          <a:xfrm>
            <a:off x="6460091" y="5880081"/>
            <a:ext cx="70952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800" b="1" i="0" u="none" strike="noStrike" kern="1200" cap="none" spc="0" normalizeH="0" baseline="0" noProof="0" dirty="0">
                <a:ln w="10160">
                  <a:solidFill>
                    <a:srgbClr val="5B9BD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MuseoSans"/>
                <a:ea typeface="+mn-ea"/>
                <a:cs typeface="+mn-cs"/>
              </a:rPr>
              <a:t>How Math Helps us Predict Water Flows in Forests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CCD5D7-7A2F-B702-9A69-8C1E583CB15B}"/>
              </a:ext>
            </a:extLst>
          </p:cNvPr>
          <p:cNvSpPr/>
          <p:nvPr/>
        </p:nvSpPr>
        <p:spPr>
          <a:xfrm rot="18896749">
            <a:off x="4471992" y="1785929"/>
            <a:ext cx="3240000" cy="32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E5B328-E31E-57C3-B17D-3D9A12B324A0}"/>
              </a:ext>
            </a:extLst>
          </p:cNvPr>
          <p:cNvSpPr txBox="1"/>
          <p:nvPr/>
        </p:nvSpPr>
        <p:spPr>
          <a:xfrm>
            <a:off x="4200522" y="2908745"/>
            <a:ext cx="3786186" cy="107721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Maths Papers for Kids</a:t>
            </a:r>
            <a:br>
              <a:rPr kumimoji="0" lang="en-IE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IE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Maths Week 2022</a:t>
            </a:r>
          </a:p>
        </p:txBody>
      </p:sp>
    </p:spTree>
    <p:extLst>
      <p:ext uri="{BB962C8B-B14F-4D97-AF65-F5344CB8AC3E}">
        <p14:creationId xmlns:p14="http://schemas.microsoft.com/office/powerpoint/2010/main" val="3889760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1B19-0209-E3B7-A37B-AE88F276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6A12C-FE92-DD0A-3052-B6891346D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popular-physicsprize2024.pdf (nobelprize.org)</a:t>
            </a:r>
            <a:endParaRPr lang="en-US" dirty="0"/>
          </a:p>
          <a:p>
            <a:endParaRPr lang="en-US" b="0" i="0" u="none" strike="noStrike" dirty="0">
              <a:solidFill>
                <a:srgbClr val="282828"/>
              </a:solidFill>
              <a:effectLst/>
              <a:latin typeface="MuseoSans"/>
            </a:endParaRPr>
          </a:p>
          <a:p>
            <a:r>
              <a:rPr lang="en-GB" dirty="0"/>
              <a:t>Emmert-</a:t>
            </a:r>
            <a:r>
              <a:rPr lang="en-GB" dirty="0" err="1"/>
              <a:t>Streib</a:t>
            </a:r>
            <a:r>
              <a:rPr lang="en-GB" dirty="0"/>
              <a:t> F and </a:t>
            </a:r>
            <a:r>
              <a:rPr lang="en-GB" dirty="0" err="1"/>
              <a:t>Dehmer</a:t>
            </a:r>
            <a:r>
              <a:rPr lang="en-GB" dirty="0"/>
              <a:t> M (2023) Causality: Using Math to Understand the Science of Cause and Effect. Front. Young Minds. 11:1155100. </a:t>
            </a:r>
            <a:r>
              <a:rPr lang="en-GB" dirty="0" err="1"/>
              <a:t>doi</a:t>
            </a:r>
            <a:r>
              <a:rPr lang="en-GB" dirty="0"/>
              <a:t>: 10.3389/frym.2023.1155100</a:t>
            </a:r>
          </a:p>
          <a:p>
            <a:r>
              <a:rPr lang="en-GB" dirty="0">
                <a:hlinkClick r:id="rId3"/>
              </a:rPr>
              <a:t>Causality: Using Math to Understand the Science of Cause and Effect · Frontiers for Young Minds (frontiersin.org)</a:t>
            </a:r>
            <a:endParaRPr lang="en-GB" dirty="0"/>
          </a:p>
          <a:p>
            <a:endParaRPr lang="en-GB" b="0" i="0" u="none" strike="noStrike" dirty="0">
              <a:solidFill>
                <a:srgbClr val="282828"/>
              </a:solidFill>
              <a:effectLst/>
              <a:latin typeface="MuseoSans"/>
            </a:endParaRPr>
          </a:p>
          <a:p>
            <a:r>
              <a:rPr lang="en-GB" dirty="0" err="1"/>
              <a:t>Segev</a:t>
            </a:r>
            <a:r>
              <a:rPr lang="en-GB" dirty="0"/>
              <a:t> N and </a:t>
            </a:r>
            <a:r>
              <a:rPr lang="en-GB" dirty="0" err="1"/>
              <a:t>Wigderson</a:t>
            </a:r>
            <a:r>
              <a:rPr lang="en-GB" dirty="0"/>
              <a:t> A (2024) Easy Or Hard? Basic Questions in Computational Complexity Theory. Front. Young Minds. 12:1284284. </a:t>
            </a:r>
            <a:r>
              <a:rPr lang="en-GB" dirty="0" err="1"/>
              <a:t>doi</a:t>
            </a:r>
            <a:r>
              <a:rPr lang="en-GB" dirty="0"/>
              <a:t>: 10.3389/frym.2023.1284284</a:t>
            </a:r>
          </a:p>
          <a:p>
            <a:r>
              <a:rPr lang="en-GB" dirty="0">
                <a:hlinkClick r:id="rId4"/>
              </a:rPr>
              <a:t>Easy Or Hard? Basic Questions in Computational Complexity Theory · Frontiers for Young Minds (frontiersin.org)</a:t>
            </a:r>
            <a:endParaRPr lang="en-GB" b="0" i="0" u="none" strike="noStrike" dirty="0">
              <a:solidFill>
                <a:srgbClr val="282828"/>
              </a:solidFill>
              <a:effectLst/>
              <a:latin typeface="MuseoSans"/>
            </a:endParaRPr>
          </a:p>
          <a:p>
            <a:endParaRPr lang="en-IE" dirty="0"/>
          </a:p>
          <a:p>
            <a:r>
              <a:rPr lang="en-GB" dirty="0">
                <a:hlinkClick r:id="rId5"/>
              </a:rPr>
              <a:t>The maths behind a perfect cup of coffee (rte.ie)</a:t>
            </a:r>
            <a:br>
              <a:rPr lang="en-IE" dirty="0"/>
            </a:br>
            <a:r>
              <a:rPr lang="en-GB" b="1" dirty="0"/>
              <a:t>By </a:t>
            </a:r>
            <a:r>
              <a:rPr lang="en-GB" b="1" dirty="0">
                <a:hlinkClick r:id="rId6"/>
              </a:rPr>
              <a:t>Kevin Moroney</a:t>
            </a:r>
            <a:r>
              <a:rPr lang="en-GB" b="1" dirty="0"/>
              <a:t> and </a:t>
            </a:r>
            <a:r>
              <a:rPr lang="en-GB" b="1" dirty="0">
                <a:hlinkClick r:id="rId7"/>
              </a:rPr>
              <a:t>Ken O’Connell</a:t>
            </a:r>
            <a:r>
              <a:rPr lang="en-GB" b="1" dirty="0"/>
              <a:t>, </a:t>
            </a:r>
            <a:r>
              <a:rPr lang="en-GB" b="1" dirty="0">
                <a:hlinkClick r:id="rId8"/>
              </a:rPr>
              <a:t>University of Limerick</a:t>
            </a:r>
            <a:endParaRPr lang="en-IE" dirty="0">
              <a:solidFill>
                <a:srgbClr val="282828"/>
              </a:solidFill>
              <a:latin typeface="MuseoSans"/>
            </a:endParaRPr>
          </a:p>
          <a:p>
            <a:endParaRPr lang="en-IE" dirty="0"/>
          </a:p>
          <a:p>
            <a:endParaRPr lang="en-IE" b="0" i="0" u="none" strike="noStrike" dirty="0">
              <a:solidFill>
                <a:srgbClr val="282828"/>
              </a:solidFill>
              <a:effectLst/>
              <a:latin typeface="MuseoSans"/>
            </a:endParaRPr>
          </a:p>
          <a:p>
            <a:pPr lvl="1"/>
            <a:endParaRPr lang="en-IE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577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1B19-0209-E3B7-A37B-AE88F276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6A12C-FE92-DD0A-3052-B6891346D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Mann C and </a:t>
            </a:r>
            <a:r>
              <a:rPr lang="en-IE" b="0" i="0" u="none" strike="noStrike" dirty="0" err="1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McLoud</a:t>
            </a:r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-Mann J (2023) </a:t>
            </a:r>
            <a:b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</a:br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Puzzling Pentagons—How Many Ways Can We Cover a Flat Surface?</a:t>
            </a:r>
            <a:b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</a:br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Front. Young Minds. 11:953114. </a:t>
            </a:r>
            <a:r>
              <a:rPr lang="en-IE" b="0" i="0" u="none" strike="noStrike" dirty="0" err="1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doi</a:t>
            </a:r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: 10.3389/frym.2023.953114</a:t>
            </a:r>
          </a:p>
          <a:p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  <a:hlinkClick r:id="rId2"/>
              </a:rPr>
              <a:t>https://kids.frontiersin.org/articles/10.3389/frym.2023.953114</a:t>
            </a:r>
            <a:endParaRPr lang="en-IE" b="0" i="0" u="none" strike="noStrike" dirty="0">
              <a:ln>
                <a:solidFill>
                  <a:schemeClr val="accent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useoSans"/>
            </a:endParaRPr>
          </a:p>
          <a:p>
            <a:endParaRPr lang="en-IE" b="0" dirty="0">
              <a:solidFill>
                <a:srgbClr val="282828"/>
              </a:solidFill>
              <a:effectLst/>
            </a:endParaRPr>
          </a:p>
          <a:p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Black A and West G (2023) Predict Who Your Friends Are?. Front. Young Minds. 11:820289. </a:t>
            </a:r>
            <a:r>
              <a:rPr lang="en-IE" b="0" i="0" u="none" strike="noStrike" dirty="0" err="1">
                <a:solidFill>
                  <a:srgbClr val="282828"/>
                </a:solidFill>
                <a:effectLst/>
                <a:latin typeface="MuseoSans"/>
              </a:rPr>
              <a:t>doi</a:t>
            </a:r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: 10.3389/frym.2022.820289</a:t>
            </a:r>
          </a:p>
          <a:p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  <a:hlinkClick r:id="rId3"/>
              </a:rPr>
              <a:t>https://kids.frontiersin.org/articles/10.3389/frym.2022.820289</a:t>
            </a:r>
            <a:endParaRPr lang="en-IE" b="0" i="0" u="none" strike="noStrike" dirty="0">
              <a:solidFill>
                <a:srgbClr val="282828"/>
              </a:solidFill>
              <a:effectLst/>
              <a:latin typeface="MuseoSans"/>
            </a:endParaRPr>
          </a:p>
          <a:p>
            <a:endParaRPr lang="en-IE" b="0" i="0" u="none" strike="noStrike" dirty="0">
              <a:solidFill>
                <a:srgbClr val="282828"/>
              </a:solidFill>
              <a:effectLst/>
              <a:latin typeface="MuseoSans"/>
            </a:endParaRPr>
          </a:p>
          <a:p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Goodwin G and Ryu S (2023) Understanding The Odds: Statistics in Public Health. Front. Young Minds. 11:926624. </a:t>
            </a:r>
            <a:r>
              <a:rPr lang="en-IE" b="0" i="0" u="none" strike="noStrike" dirty="0" err="1">
                <a:solidFill>
                  <a:srgbClr val="282828"/>
                </a:solidFill>
                <a:effectLst/>
                <a:latin typeface="MuseoSans"/>
              </a:rPr>
              <a:t>doi</a:t>
            </a:r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: 10.3389/frym.2022.926624</a:t>
            </a:r>
          </a:p>
          <a:p>
            <a:r>
              <a:rPr lang="en-IE" dirty="0">
                <a:hlinkClick r:id="rId4"/>
              </a:rPr>
              <a:t>https://kids.frontiersin.org/articles/10.3389/frym.2022.926624</a:t>
            </a:r>
            <a:endParaRPr lang="en-IE" dirty="0"/>
          </a:p>
          <a:p>
            <a:pPr algn="l"/>
            <a:r>
              <a:rPr lang="en-IE" b="0" i="0" u="none" strike="noStrike" dirty="0" err="1">
                <a:solidFill>
                  <a:srgbClr val="282828"/>
                </a:solidFill>
                <a:effectLst/>
                <a:latin typeface="MuseoSans"/>
              </a:rPr>
              <a:t>Shirman</a:t>
            </a:r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 B and </a:t>
            </a:r>
            <a:r>
              <a:rPr lang="en-IE" b="0" i="0" u="none" strike="noStrike" dirty="0" err="1">
                <a:solidFill>
                  <a:srgbClr val="282828"/>
                </a:solidFill>
                <a:effectLst/>
                <a:latin typeface="MuseoSans"/>
              </a:rPr>
              <a:t>Volkening</a:t>
            </a:r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 A (2022) What Does Math Have to Do With Patterns in Fish?. Front. Young Minds. 10:834049. </a:t>
            </a:r>
            <a:r>
              <a:rPr lang="en-IE" b="0" i="0" u="none" strike="noStrike" dirty="0" err="1">
                <a:solidFill>
                  <a:srgbClr val="282828"/>
                </a:solidFill>
                <a:effectLst/>
                <a:latin typeface="MuseoSans"/>
              </a:rPr>
              <a:t>doi</a:t>
            </a:r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: 10.3389/frym.2022.834049</a:t>
            </a:r>
          </a:p>
          <a:p>
            <a:r>
              <a:rPr lang="en-IE" dirty="0">
                <a:hlinkClick r:id="rId5"/>
              </a:rPr>
              <a:t>https://kids.frontiersin.org/articles/10.3389/frym.2022.834049</a:t>
            </a:r>
            <a:br>
              <a:rPr lang="en-IE" dirty="0"/>
            </a:br>
            <a:endParaRPr lang="en-IE" dirty="0">
              <a:solidFill>
                <a:srgbClr val="282828"/>
              </a:solidFill>
              <a:latin typeface="MuseoSans"/>
            </a:endParaRPr>
          </a:p>
          <a:p>
            <a:endParaRPr lang="en-IE" dirty="0"/>
          </a:p>
          <a:p>
            <a:endParaRPr lang="en-IE" b="0" i="0" u="none" strike="noStrike" dirty="0">
              <a:solidFill>
                <a:srgbClr val="282828"/>
              </a:solidFill>
              <a:effectLst/>
              <a:latin typeface="MuseoSans"/>
            </a:endParaRPr>
          </a:p>
          <a:p>
            <a:pPr lvl="1"/>
            <a:endParaRPr lang="en-IE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06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1B19-0209-E3B7-A37B-AE88F276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6A12C-FE92-DD0A-3052-B6891346D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The Circle of Life: </a:t>
            </a:r>
            <a:b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</a:br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The Mathematics of Predator-Prey Relationships</a:t>
            </a:r>
          </a:p>
          <a:p>
            <a:pPr lvl="1"/>
            <a:r>
              <a:rPr lang="en-IE" b="0" i="0" u="none" strike="noStrike" dirty="0">
                <a:ln>
                  <a:solidFill>
                    <a:schemeClr val="accent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useoSans"/>
              </a:rPr>
              <a:t>Rebecca Brady and John Butler</a:t>
            </a:r>
          </a:p>
          <a:p>
            <a:pPr lvl="1"/>
            <a:r>
              <a:rPr lang="en-IE" dirty="0">
                <a:hlinkClick r:id="rId2"/>
              </a:rPr>
              <a:t>https://kids.frontiersin.org/articles/10.3389/frym.2021.651131</a:t>
            </a:r>
            <a:endParaRPr lang="en-IE" dirty="0"/>
          </a:p>
          <a:p>
            <a:r>
              <a:rPr lang="en-IE" b="0" dirty="0">
                <a:solidFill>
                  <a:srgbClr val="282828"/>
                </a:solidFill>
                <a:effectLst/>
              </a:rPr>
              <a:t>Using Mathematics to Become in Sync With the Brain</a:t>
            </a:r>
          </a:p>
          <a:p>
            <a:pPr lvl="1"/>
            <a:r>
              <a:rPr lang="en-IE" dirty="0">
                <a:effectLst/>
                <a:latin typeface="Helvetica" pitchFamily="2" charset="0"/>
              </a:rPr>
              <a:t>Micah Swartz and Leonid L. </a:t>
            </a:r>
            <a:r>
              <a:rPr lang="en-IE" dirty="0" err="1">
                <a:effectLst/>
                <a:latin typeface="Helvetica" pitchFamily="2" charset="0"/>
              </a:rPr>
              <a:t>Rubchinsky</a:t>
            </a:r>
            <a:endParaRPr lang="en-IE" b="0" dirty="0">
              <a:solidFill>
                <a:srgbClr val="282828"/>
              </a:solidFill>
              <a:effectLst/>
            </a:endParaRPr>
          </a:p>
          <a:p>
            <a:pPr lvl="1"/>
            <a:r>
              <a:rPr lang="en-IE" dirty="0">
                <a:hlinkClick r:id="rId3"/>
              </a:rPr>
              <a:t>https://kids.frontiersin.org/articles/10.3389/frym.2022.741510</a:t>
            </a:r>
            <a:endParaRPr lang="en-IE" dirty="0"/>
          </a:p>
          <a:p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Finding Your Way: Shortest Paths on Networks</a:t>
            </a:r>
          </a:p>
          <a:p>
            <a:pPr lvl="1"/>
            <a:r>
              <a:rPr lang="en-IE" dirty="0">
                <a:effectLst/>
                <a:latin typeface="Helvetica" pitchFamily="2" charset="0"/>
              </a:rPr>
              <a:t>Teresa </a:t>
            </a:r>
            <a:r>
              <a:rPr lang="en-IE" dirty="0" err="1">
                <a:effectLst/>
                <a:latin typeface="Helvetica" pitchFamily="2" charset="0"/>
              </a:rPr>
              <a:t>Rexin</a:t>
            </a:r>
            <a:r>
              <a:rPr lang="en-IE" dirty="0">
                <a:effectLst/>
                <a:latin typeface="Helvetica" pitchFamily="2" charset="0"/>
              </a:rPr>
              <a:t> 1 and Mason A. Porter 1,2*</a:t>
            </a:r>
          </a:p>
          <a:p>
            <a:pPr lvl="1"/>
            <a:r>
              <a:rPr lang="en-IE" dirty="0">
                <a:effectLst/>
                <a:latin typeface="Helvetica" pitchFamily="2" charset="0"/>
                <a:hlinkClick r:id="rId4"/>
              </a:rPr>
              <a:t>https://kids.frontiersin.org/articles/10.3389/frym.2021.631045</a:t>
            </a:r>
            <a:endParaRPr lang="en-IE" dirty="0">
              <a:effectLst/>
              <a:latin typeface="Helvetica" pitchFamily="2" charset="0"/>
            </a:endParaRPr>
          </a:p>
          <a:p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How Math Helps us Predict Water Flows in Forests</a:t>
            </a:r>
          </a:p>
          <a:p>
            <a:pPr lvl="1"/>
            <a:r>
              <a:rPr lang="en-IE" dirty="0">
                <a:effectLst/>
                <a:latin typeface="Helvetica" pitchFamily="2" charset="0"/>
              </a:rPr>
              <a:t>Katarina </a:t>
            </a:r>
            <a:r>
              <a:rPr lang="en-IE" dirty="0" err="1">
                <a:effectLst/>
                <a:latin typeface="Helvetica" pitchFamily="2" charset="0"/>
              </a:rPr>
              <a:t>Zabret</a:t>
            </a:r>
            <a:r>
              <a:rPr lang="en-IE" dirty="0">
                <a:effectLst/>
                <a:latin typeface="Helvetica" pitchFamily="2" charset="0"/>
              </a:rPr>
              <a:t> 1,2*, </a:t>
            </a:r>
            <a:r>
              <a:rPr lang="en-IE" dirty="0" err="1">
                <a:effectLst/>
                <a:latin typeface="Helvetica" pitchFamily="2" charset="0"/>
              </a:rPr>
              <a:t>Mojca</a:t>
            </a:r>
            <a:r>
              <a:rPr lang="en-IE" dirty="0">
                <a:effectLst/>
                <a:latin typeface="Helvetica" pitchFamily="2" charset="0"/>
              </a:rPr>
              <a:t> </a:t>
            </a:r>
            <a:r>
              <a:rPr lang="en-IE" dirty="0" err="1">
                <a:effectLst/>
                <a:latin typeface="Helvetica" pitchFamily="2" charset="0"/>
              </a:rPr>
              <a:t>Šraj</a:t>
            </a:r>
            <a:r>
              <a:rPr lang="en-IE" dirty="0">
                <a:effectLst/>
                <a:latin typeface="Helvetica" pitchFamily="2" charset="0"/>
              </a:rPr>
              <a:t> 1 and John T. Van Stan II 3</a:t>
            </a:r>
            <a:endParaRPr lang="en-IE" dirty="0">
              <a:solidFill>
                <a:srgbClr val="282828"/>
              </a:solidFill>
              <a:latin typeface="MuseoSans"/>
            </a:endParaRPr>
          </a:p>
          <a:p>
            <a:pPr lvl="1"/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https://</a:t>
            </a:r>
            <a:r>
              <a:rPr lang="en-IE" b="0" i="0" u="none" strike="noStrike" dirty="0" err="1">
                <a:solidFill>
                  <a:srgbClr val="282828"/>
                </a:solidFill>
                <a:effectLst/>
                <a:latin typeface="MuseoSans"/>
              </a:rPr>
              <a:t>kids.frontiersin.org</a:t>
            </a:r>
            <a:r>
              <a:rPr lang="en-IE" b="0" i="0" u="none" strike="noStrike" dirty="0">
                <a:solidFill>
                  <a:srgbClr val="282828"/>
                </a:solidFill>
                <a:effectLst/>
                <a:latin typeface="MuseoSans"/>
              </a:rPr>
              <a:t>/articles/10.3389/frym.2022.762009</a:t>
            </a:r>
          </a:p>
          <a:p>
            <a:pPr lvl="1"/>
            <a:endParaRPr lang="en-IE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841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3321</TotalTime>
  <Words>815</Words>
  <Application>Microsoft Macintosh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MuseoSans</vt:lpstr>
      <vt:lpstr>Office Theme</vt:lpstr>
      <vt:lpstr>Maths Research for All Maths Week 2025 </vt:lpstr>
      <vt:lpstr>PowerPoint Presentation</vt:lpstr>
      <vt:lpstr>Maths Research for All Maths Week 2024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Books for Maths Week 2024</dc:title>
  <dc:creator>John Butler</dc:creator>
  <cp:lastModifiedBy>John Butler</cp:lastModifiedBy>
  <cp:revision>7</cp:revision>
  <dcterms:created xsi:type="dcterms:W3CDTF">2024-10-09T11:01:26Z</dcterms:created>
  <dcterms:modified xsi:type="dcterms:W3CDTF">2025-10-08T19:49:38Z</dcterms:modified>
</cp:coreProperties>
</file>