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9" r:id="rId4"/>
    <p:sldId id="266" r:id="rId5"/>
    <p:sldId id="260" r:id="rId6"/>
    <p:sldId id="262" r:id="rId7"/>
    <p:sldId id="263" r:id="rId8"/>
    <p:sldId id="264" r:id="rId9"/>
    <p:sldId id="265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4"/>
    <p:restoredTop sz="94694"/>
  </p:normalViewPr>
  <p:slideViewPr>
    <p:cSldViewPr snapToGrid="0" showGuides="1">
      <p:cViewPr varScale="1">
        <p:scale>
          <a:sx n="101" d="100"/>
          <a:sy n="101" d="100"/>
        </p:scale>
        <p:origin x="232" y="6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AA1B-AD8F-5CBF-1512-6C0A9A8C8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656EB-8D47-F128-1327-AECB19E2E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33A73-5B9F-FC8C-29F2-3BF15C54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655C7-A17C-95FC-1242-27F86F4A7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0C3FC-8808-6DD5-8E29-C63765C8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493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4767-9B57-FCA8-150B-4FD7C94F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B0A8-6E55-FBFD-81CE-84CFC82F7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2568E-B56B-522A-75AB-1EC39F835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41D44-C3F0-7836-2D03-E81E8868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BB84-1ABA-0596-7420-E2DCFAEC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968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85C3-26AF-C4A1-8B89-435ED0FA8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8B64D-4DD2-8B82-CC4E-ADD53D0CF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65FFD-E2A6-DF2D-7B25-C2A9A3F87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A711D-6EDF-211E-D0CA-9E64AEB4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D4E92-3CAB-6AEF-DD98-E1A63C58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35544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B704-961F-787B-6A2B-4D206892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B5C61-0B19-5478-DB1F-FE4219060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3AE3A-325A-7778-0733-45D0C2798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C6CF1-73CA-ADA0-02CB-F1ED86B96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6B972-F30E-3205-727C-4DD824B3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BB176-7AD4-BAF1-82A2-B92FFD97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480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CBC9-F8C5-B032-FF2A-2EEB0576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4889A-132D-730E-88A9-E893A9E10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A8A0A-27BB-EA60-FB03-6489E6B16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F584D-BB98-B506-3607-1778B50D4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C077B-FB77-BB1C-1A40-DBE8D555D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B12A8-F737-D97F-0FC5-09D84D1F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38A08F-11D2-9499-A10B-EC14CD7D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2FA4AC-7896-3E90-9E5E-89C25A8F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8244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F67CC-73C2-B680-7218-B9EFD735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452BFE-77C1-DA2A-C95A-5FB0205E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66A03-8DC6-C218-4C17-7A6691A1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EB020-0100-D37F-985D-CF7CEBE3C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1118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BE9BD-F090-05ED-F07E-13EF6FFC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0BE02-3357-2974-FEE7-98449843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F0CC0-57E2-643A-5B75-5E3D6BA8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9775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34763-8B3D-90AC-1080-1775DD9A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A7D89-39A3-695F-8B1F-1B2C8B93A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5C7E4-93EF-58C5-25AD-72F689C9A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CBA82-FD26-19B4-D5D2-4D01506A4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CCBD7-30A9-BB13-50B1-E74DDBF0B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89855-D71F-E24C-0B1E-A036BF8F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5131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360D-AD15-7DC4-BC7F-D41A9F0EE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1EC8A-1B8A-07BE-D360-914C94B3E8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409C2-0DC7-C762-1A14-F3A34DE14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16AC8-F78B-3701-D1FB-BED4BAD4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EBB29-8375-6BA6-FEAB-B287A9D3E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A8C2E-5026-3A9B-ACED-81A36A7A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747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6FC57-CA9A-F0FF-E60B-BADD0D39D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A5DDB-5063-DDF2-E0DC-BE2D8C240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6726D-5C9A-E97B-5A93-999E9C896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6185A-1F7B-BDC1-2266-61FF53BBD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21DF6-99BF-0337-9055-EC9CBFE60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1286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275725-34B3-E93F-9203-101E1F983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35AEC-E3C6-FBA5-A97F-7512469D1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89EA8-81A9-8FB6-1F66-00B7CB6A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25A58-A3ED-FCB3-FAAB-BFB51317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7FE5E-126F-D2E2-FAEC-5C56ED21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8109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7DF951-CD83-D8D9-CDE9-3A6892468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B81A4-26A3-6366-202B-0E1C189C1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B9172-14BE-9E16-21D3-301460724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6B3EA-8F39-0D45-9C0F-EBC64FEFCBC6}" type="datetimeFigureOut">
              <a:rPr lang="en-IE" smtClean="0"/>
              <a:t>28/07/2025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04AD9-693D-944E-79DF-B17AB5A25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697FB-1E63-8A3D-4F40-0E3721831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4161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kids.frontiersin.org/articles/10.3389/frym.2022.741510" TargetMode="External"/><Relationship Id="rId2" Type="http://schemas.openxmlformats.org/officeDocument/2006/relationships/hyperlink" Target="https://kids.frontiersin.org/articles/10.3389/frym.2021.65113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kids.frontiersin.org/articles/10.3389/frym.2021.631045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kids.frontiersin.org/articles/10.3389/frym.2021.651131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kids.frontiersin.org/articles/10.3389/frym.2022.741510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kids.frontiersin.org/articles/10.3389/frym.2022.741510" TargetMode="External"/><Relationship Id="rId2" Type="http://schemas.openxmlformats.org/officeDocument/2006/relationships/hyperlink" Target="https://kids.frontiersin.org/articles/10.3389/frym.2021.65113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kids.frontiersin.org/articles/10.3389/frym.2021.631045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kids.frontiersin.org/articles/10.3389/frym.2022.741510" TargetMode="External"/><Relationship Id="rId2" Type="http://schemas.openxmlformats.org/officeDocument/2006/relationships/hyperlink" Target="https://kids.frontiersin.org/articles/10.3389/frym.2021.65113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kids.frontiersin.org/articles/10.3389/frym.2021.631045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DFDA47BC-3069-47F5-8257-24B3B1F76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2927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Artificial Intelligence: A Guide for Thinking Humans (Pelican Books) eBook  : Mitchell, Melanie: Amazon.co.uk: Kindle Store">
            <a:extLst>
              <a:ext uri="{FF2B5EF4-FFF2-40B4-BE49-F238E27FC236}">
                <a16:creationId xmlns:a16="http://schemas.microsoft.com/office/drawing/2014/main" id="{9CEFE77E-E250-53FF-15F6-0F6DFF3E3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3770" y="307731"/>
            <a:ext cx="2454549" cy="3997637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52" name="Rectangle 1051">
            <a:extLst>
              <a:ext uri="{FF2B5EF4-FFF2-40B4-BE49-F238E27FC236}">
                <a16:creationId xmlns:a16="http://schemas.microsoft.com/office/drawing/2014/main" id="{7AE95D8F-9825-4222-8846-E3461598C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AD5AF1-360B-0A7E-B047-DC58DC1F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538" y="475663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>
                <a:solidFill>
                  <a:srgbClr val="FFFFFF"/>
                </a:solidFill>
              </a:rPr>
              <a:t>Books for Maths Week 2022</a:t>
            </a:r>
            <a:endParaRPr lang="en-US" sz="5400" b="1" dirty="0">
              <a:solidFill>
                <a:srgbClr val="FFFFFF"/>
              </a:solidFill>
            </a:endParaRPr>
          </a:p>
        </p:txBody>
      </p:sp>
      <p:pic>
        <p:nvPicPr>
          <p:cNvPr id="1030" name="Picture 6" descr="The Joy of X: A Guided Tour of Mathematics, from One to Infinity by [Steven Strogatz]">
            <a:extLst>
              <a:ext uri="{FF2B5EF4-FFF2-40B4-BE49-F238E27FC236}">
                <a16:creationId xmlns:a16="http://schemas.microsoft.com/office/drawing/2014/main" id="{9973D4D9-5FDB-A512-916D-B3D0940DB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1" y="433682"/>
            <a:ext cx="2659472" cy="3745735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8" name="Picture 4" descr="The Art of Statistics: Learning from Data (Pelican Books) by [David Spiegelhalter]">
            <a:extLst>
              <a:ext uri="{FF2B5EF4-FFF2-40B4-BE49-F238E27FC236}">
                <a16:creationId xmlns:a16="http://schemas.microsoft.com/office/drawing/2014/main" id="{9DD1A23D-0D47-F4CD-FC5B-C9FB060BA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86207" y="307731"/>
            <a:ext cx="2454549" cy="3997637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942B920A-73AD-402A-8EEF-B88E1A93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68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55">
            <a:extLst>
              <a:ext uri="{FF2B5EF4-FFF2-40B4-BE49-F238E27FC236}">
                <a16:creationId xmlns:a16="http://schemas.microsoft.com/office/drawing/2014/main" id="{00C9EB70-BC82-414A-BF8D-AD7FC6727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609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3217665F-0036-444A-8D4A-33AF36A36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Buy Fermat's Last Theorem Book at Easons">
            <a:extLst>
              <a:ext uri="{FF2B5EF4-FFF2-40B4-BE49-F238E27FC236}">
                <a16:creationId xmlns:a16="http://schemas.microsoft.com/office/drawing/2014/main" id="{F259ECF0-1E25-D49E-0E1D-93B6AAD3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6121" y="307730"/>
            <a:ext cx="2655838" cy="3997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9827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7362-A983-C6DA-1AF1-11547F20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C3DC7-5A17-549C-01E5-7AD77A61D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800" b="1" dirty="0"/>
              <a:t>Artificial Intelligence: A Guide for Thinking Humans</a:t>
            </a:r>
            <a:br>
              <a:rPr lang="en-IE" sz="2800" dirty="0"/>
            </a:br>
            <a:r>
              <a:rPr lang="en-IE" sz="2800" dirty="0"/>
              <a:t>by Melanie Mitchell </a:t>
            </a:r>
          </a:p>
          <a:p>
            <a:r>
              <a:rPr lang="en-IE" sz="2800" b="1" dirty="0"/>
              <a:t>The Art of Statistics: Learning from Data</a:t>
            </a:r>
            <a:br>
              <a:rPr lang="en-IE" sz="2800" dirty="0"/>
            </a:br>
            <a:r>
              <a:rPr lang="en-IE" sz="2800" dirty="0"/>
              <a:t>by David </a:t>
            </a:r>
            <a:r>
              <a:rPr lang="en-IE" sz="2800" dirty="0" err="1"/>
              <a:t>Spiegelhalter</a:t>
            </a:r>
            <a:endParaRPr lang="en-IE" sz="2800" dirty="0"/>
          </a:p>
          <a:p>
            <a:r>
              <a:rPr lang="en-IE" sz="2800" b="1" dirty="0"/>
              <a:t>The Joy of X: A Guided Tour of Mathematics, from One to Infinity</a:t>
            </a:r>
            <a:br>
              <a:rPr lang="en-IE" sz="2800" dirty="0"/>
            </a:br>
            <a:r>
              <a:rPr lang="en-IE" sz="2800" dirty="0"/>
              <a:t>by Steven </a:t>
            </a:r>
            <a:r>
              <a:rPr lang="en-IE" sz="2800" dirty="0" err="1"/>
              <a:t>Strogatz</a:t>
            </a:r>
            <a:endParaRPr lang="en-IE" sz="2800" dirty="0"/>
          </a:p>
          <a:p>
            <a:r>
              <a:rPr lang="en-IE" sz="2800" b="1" dirty="0"/>
              <a:t>Fermat’s Last Theorem</a:t>
            </a:r>
            <a:br>
              <a:rPr lang="en-IE" sz="2800" b="1" dirty="0"/>
            </a:br>
            <a:r>
              <a:rPr lang="en-IE" sz="2800"/>
              <a:t>by Simon Singh</a:t>
            </a:r>
            <a:endParaRPr lang="en-IE" sz="2800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25731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E0D8D0AA-6E75-117E-FC57-A2CED8435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894" y="0"/>
            <a:ext cx="6858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40009B-933E-E709-154B-41D89721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9EF2AE4-323D-CCDB-9D7F-3FB2C458A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-12237"/>
            <a:ext cx="6858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A13A01-A7AB-DB4A-BDF2-00BA482FE4EE}"/>
              </a:ext>
            </a:extLst>
          </p:cNvPr>
          <p:cNvSpPr txBox="1"/>
          <p:nvPr/>
        </p:nvSpPr>
        <p:spPr>
          <a:xfrm>
            <a:off x="8289403" y="-40811"/>
            <a:ext cx="61403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E" sz="2800" b="0" i="0" u="none" strike="noStrike" dirty="0">
                <a:ln>
                  <a:solidFill>
                    <a:schemeClr val="tx1"/>
                  </a:solidFill>
                </a:ln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The Circle of Life: </a:t>
            </a:r>
            <a:br>
              <a:rPr lang="en-IE" sz="2800" b="0" i="0" u="none" strike="noStrike" dirty="0">
                <a:ln>
                  <a:solidFill>
                    <a:schemeClr val="tx1"/>
                  </a:solidFill>
                </a:ln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</a:br>
            <a:r>
              <a:rPr lang="en-IE" sz="2800" b="0" i="0" u="none" strike="noStrike" dirty="0">
                <a:ln>
                  <a:solidFill>
                    <a:schemeClr val="tx1"/>
                  </a:solidFill>
                </a:ln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The Mathematics </a:t>
            </a:r>
            <a:br>
              <a:rPr lang="en-IE" sz="2800" b="0" i="0" u="none" strike="noStrike" dirty="0">
                <a:ln>
                  <a:solidFill>
                    <a:schemeClr val="tx1"/>
                  </a:solidFill>
                </a:ln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</a:br>
            <a:r>
              <a:rPr lang="en-IE" sz="2800" b="0" i="0" u="none" strike="noStrike" dirty="0">
                <a:ln>
                  <a:solidFill>
                    <a:schemeClr val="tx1"/>
                  </a:solidFill>
                </a:ln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of Predator-Prey Relationships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830B6D-ABCD-FF20-10C6-CD66E31A38FE}"/>
              </a:ext>
            </a:extLst>
          </p:cNvPr>
          <p:cNvSpPr txBox="1"/>
          <p:nvPr/>
        </p:nvSpPr>
        <p:spPr>
          <a:xfrm>
            <a:off x="0" y="-40811"/>
            <a:ext cx="7095280" cy="1508105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  <p:txBody>
          <a:bodyPr wrap="square">
            <a:spAutoFit/>
          </a:bodyPr>
          <a:lstStyle/>
          <a:p>
            <a:r>
              <a:rPr lang="en-IE" sz="2800" b="0" dirty="0">
                <a:solidFill>
                  <a:srgbClr val="28282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Using Mathematics to Become in </a:t>
            </a:r>
            <a:br>
              <a:rPr lang="en-IE" sz="2800" b="0" dirty="0">
                <a:solidFill>
                  <a:srgbClr val="28282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IE" sz="2800" b="0" dirty="0">
                <a:solidFill>
                  <a:srgbClr val="28282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Sync With the Brain</a:t>
            </a:r>
          </a:p>
          <a:p>
            <a:br>
              <a:rPr lang="en-IE" dirty="0"/>
            </a:br>
            <a:endParaRPr lang="en-IE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0358975C-8341-8FCD-B4BE-E7570339D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5429" y="3417425"/>
            <a:ext cx="684552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4C6C15-F327-1407-4347-250EB401F2BB}"/>
              </a:ext>
            </a:extLst>
          </p:cNvPr>
          <p:cNvSpPr txBox="1"/>
          <p:nvPr/>
        </p:nvSpPr>
        <p:spPr>
          <a:xfrm>
            <a:off x="102622" y="3502406"/>
            <a:ext cx="7095280" cy="9541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txBody>
          <a:bodyPr wrap="square">
            <a:spAutoFit/>
          </a:bodyPr>
          <a:lstStyle/>
          <a:p>
            <a:pPr algn="l"/>
            <a:r>
              <a:rPr lang="en-IE" sz="2800" b="0" i="0" u="none" strike="noStrike" dirty="0">
                <a:solidFill>
                  <a:srgbClr val="282828"/>
                </a:solidFill>
                <a:effectLst/>
                <a:latin typeface="MuseoSans"/>
              </a:rPr>
              <a:t>Finding Your Way: </a:t>
            </a:r>
            <a:br>
              <a:rPr lang="en-IE" sz="2800" b="0" i="0" u="none" strike="noStrike" dirty="0">
                <a:solidFill>
                  <a:srgbClr val="282828"/>
                </a:solidFill>
                <a:effectLst/>
                <a:latin typeface="MuseoSans"/>
              </a:rPr>
            </a:br>
            <a:r>
              <a:rPr lang="en-IE" sz="2800" b="0" i="0" u="none" strike="noStrike" dirty="0">
                <a:solidFill>
                  <a:srgbClr val="282828"/>
                </a:solidFill>
                <a:effectLst/>
                <a:latin typeface="MuseoSans"/>
              </a:rPr>
              <a:t>Shortest Paths on Networks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9666AA06-2553-CFC2-7C58-4BA7FA826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3411637"/>
            <a:ext cx="6869575" cy="343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AF88AE-4E0A-2536-F77C-C2F8A5C45B3D}"/>
              </a:ext>
            </a:extLst>
          </p:cNvPr>
          <p:cNvSpPr txBox="1"/>
          <p:nvPr/>
        </p:nvSpPr>
        <p:spPr>
          <a:xfrm>
            <a:off x="6460091" y="5880081"/>
            <a:ext cx="70952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E" sz="2800" b="0" i="0" u="none" strike="noStrike" dirty="0">
                <a:solidFill>
                  <a:srgbClr val="282828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How Math Helps us Predict Water Flows in Forests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CCD5D7-7A2F-B702-9A69-8C1E583CB15B}"/>
              </a:ext>
            </a:extLst>
          </p:cNvPr>
          <p:cNvSpPr/>
          <p:nvPr/>
        </p:nvSpPr>
        <p:spPr>
          <a:xfrm rot="18896749">
            <a:off x="4471992" y="1785929"/>
            <a:ext cx="3240000" cy="32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E5B328-E31E-57C3-B17D-3D9A12B324A0}"/>
              </a:ext>
            </a:extLst>
          </p:cNvPr>
          <p:cNvSpPr txBox="1"/>
          <p:nvPr/>
        </p:nvSpPr>
        <p:spPr>
          <a:xfrm>
            <a:off x="4200522" y="2908745"/>
            <a:ext cx="3786186" cy="1077218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Maths Papers for Kids</a:t>
            </a:r>
            <a:br>
              <a:rPr lang="en-IE" sz="3200" dirty="0"/>
            </a:br>
            <a:r>
              <a:rPr lang="en-IE" sz="3200" dirty="0"/>
              <a:t>Maths Week 2022</a:t>
            </a:r>
          </a:p>
        </p:txBody>
      </p:sp>
    </p:spTree>
    <p:extLst>
      <p:ext uri="{BB962C8B-B14F-4D97-AF65-F5344CB8AC3E}">
        <p14:creationId xmlns:p14="http://schemas.microsoft.com/office/powerpoint/2010/main" val="66376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E0D8D0AA-6E75-117E-FC57-A2CED8435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894" y="0"/>
            <a:ext cx="6858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9EF2AE4-323D-CCDB-9D7F-3FB2C458A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-12237"/>
            <a:ext cx="6858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A13A01-A7AB-DB4A-BDF2-00BA482FE4EE}"/>
              </a:ext>
            </a:extLst>
          </p:cNvPr>
          <p:cNvSpPr txBox="1"/>
          <p:nvPr/>
        </p:nvSpPr>
        <p:spPr>
          <a:xfrm>
            <a:off x="8289403" y="-40811"/>
            <a:ext cx="61403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E" sz="2800" b="0" i="0" u="none" strike="noStrike" dirty="0">
                <a:ln>
                  <a:solidFill>
                    <a:schemeClr val="tx1"/>
                  </a:solidFill>
                </a:ln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The Circle of Life: </a:t>
            </a:r>
            <a:br>
              <a:rPr lang="en-IE" sz="2800" b="0" i="0" u="none" strike="noStrike" dirty="0">
                <a:ln>
                  <a:solidFill>
                    <a:schemeClr val="tx1"/>
                  </a:solidFill>
                </a:ln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</a:br>
            <a:r>
              <a:rPr lang="en-IE" sz="2800" b="0" i="0" u="none" strike="noStrike" dirty="0">
                <a:ln>
                  <a:solidFill>
                    <a:schemeClr val="tx1"/>
                  </a:solidFill>
                </a:ln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The Mathematics </a:t>
            </a:r>
            <a:br>
              <a:rPr lang="en-IE" sz="2800" b="0" i="0" u="none" strike="noStrike" dirty="0">
                <a:ln>
                  <a:solidFill>
                    <a:schemeClr val="tx1"/>
                  </a:solidFill>
                </a:ln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</a:br>
            <a:r>
              <a:rPr lang="en-IE" sz="2800" b="0" i="0" u="none" strike="noStrike" dirty="0">
                <a:ln>
                  <a:solidFill>
                    <a:schemeClr val="tx1"/>
                  </a:solidFill>
                </a:ln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of Predator-Prey Relationships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830B6D-ABCD-FF20-10C6-CD66E31A38FE}"/>
              </a:ext>
            </a:extLst>
          </p:cNvPr>
          <p:cNvSpPr txBox="1"/>
          <p:nvPr/>
        </p:nvSpPr>
        <p:spPr>
          <a:xfrm>
            <a:off x="271766" y="-73406"/>
            <a:ext cx="7119641" cy="95410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  <p:txBody>
          <a:bodyPr wrap="square">
            <a:spAutoFit/>
          </a:bodyPr>
          <a:lstStyle/>
          <a:p>
            <a:r>
              <a:rPr lang="en-IE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Using Mathematics to Become in </a:t>
            </a:r>
            <a:br>
              <a:rPr lang="en-IE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IE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Sync With the Brain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0358975C-8341-8FCD-B4BE-E7570339D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5429" y="3417425"/>
            <a:ext cx="684552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4C6C15-F327-1407-4347-250EB401F2BB}"/>
              </a:ext>
            </a:extLst>
          </p:cNvPr>
          <p:cNvSpPr txBox="1"/>
          <p:nvPr/>
        </p:nvSpPr>
        <p:spPr>
          <a:xfrm>
            <a:off x="102622" y="3502406"/>
            <a:ext cx="7095280" cy="9541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txBody>
          <a:bodyPr wrap="square">
            <a:spAutoFit/>
          </a:bodyPr>
          <a:lstStyle/>
          <a:p>
            <a:pPr algn="l"/>
            <a:r>
              <a:rPr lang="en-IE" sz="2800" b="1" i="0" u="none" strike="noStrike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MuseoSans"/>
              </a:rPr>
              <a:t>Finding Your Way: </a:t>
            </a:r>
            <a:br>
              <a:rPr lang="en-IE" sz="2800" b="1" i="0" u="none" strike="noStrike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MuseoSans"/>
              </a:rPr>
            </a:br>
            <a:r>
              <a:rPr lang="en-IE" sz="2800" b="1" i="0" u="none" strike="noStrike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MuseoSans"/>
              </a:rPr>
              <a:t>Shortest Paths on Networks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9666AA06-2553-CFC2-7C58-4BA7FA826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3411637"/>
            <a:ext cx="6869575" cy="343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AF88AE-4E0A-2536-F77C-C2F8A5C45B3D}"/>
              </a:ext>
            </a:extLst>
          </p:cNvPr>
          <p:cNvSpPr txBox="1"/>
          <p:nvPr/>
        </p:nvSpPr>
        <p:spPr>
          <a:xfrm>
            <a:off x="6460091" y="5880081"/>
            <a:ext cx="70952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E" sz="2800" b="1" i="0" u="none" strike="noStrike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How Math Helps us Predict Water Flows in Forests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CCD5D7-7A2F-B702-9A69-8C1E583CB15B}"/>
              </a:ext>
            </a:extLst>
          </p:cNvPr>
          <p:cNvSpPr/>
          <p:nvPr/>
        </p:nvSpPr>
        <p:spPr>
          <a:xfrm rot="18896749">
            <a:off x="4471992" y="1785929"/>
            <a:ext cx="3240000" cy="32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E5B328-E31E-57C3-B17D-3D9A12B324A0}"/>
              </a:ext>
            </a:extLst>
          </p:cNvPr>
          <p:cNvSpPr txBox="1"/>
          <p:nvPr/>
        </p:nvSpPr>
        <p:spPr>
          <a:xfrm>
            <a:off x="4200522" y="2908745"/>
            <a:ext cx="3786186" cy="1077218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Maths Papers for Kids</a:t>
            </a:r>
            <a:br>
              <a:rPr lang="en-IE" sz="3200" dirty="0"/>
            </a:br>
            <a:r>
              <a:rPr lang="en-IE" sz="3200" dirty="0"/>
              <a:t>Maths Week 2022</a:t>
            </a:r>
          </a:p>
        </p:txBody>
      </p:sp>
    </p:spTree>
    <p:extLst>
      <p:ext uri="{BB962C8B-B14F-4D97-AF65-F5344CB8AC3E}">
        <p14:creationId xmlns:p14="http://schemas.microsoft.com/office/powerpoint/2010/main" val="3889760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1B19-0209-E3B7-A37B-AE88F276D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6A12C-FE92-DD0A-3052-B6891346D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The Circle of Life: </a:t>
            </a:r>
            <a:b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</a:br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The Mathematics of Predator-Prey Relationships</a:t>
            </a:r>
          </a:p>
          <a:p>
            <a:pPr lvl="1"/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Rebecca Brady and John Butler</a:t>
            </a:r>
          </a:p>
          <a:p>
            <a:pPr lvl="1"/>
            <a:r>
              <a:rPr lang="en-IE" dirty="0">
                <a:hlinkClick r:id="rId2"/>
              </a:rPr>
              <a:t>https://kids.frontiersin.org/articles/10.3389/frym.2021.651131</a:t>
            </a:r>
            <a:endParaRPr lang="en-IE" dirty="0"/>
          </a:p>
          <a:p>
            <a:r>
              <a:rPr lang="en-IE" b="0" dirty="0">
                <a:solidFill>
                  <a:srgbClr val="282828"/>
                </a:solidFill>
                <a:effectLst/>
              </a:rPr>
              <a:t>Using Mathematics to Become in Sync With the Brain</a:t>
            </a:r>
          </a:p>
          <a:p>
            <a:pPr lvl="1"/>
            <a:r>
              <a:rPr lang="en-IE" dirty="0">
                <a:effectLst/>
                <a:latin typeface="Helvetica" pitchFamily="2" charset="0"/>
              </a:rPr>
              <a:t>Micah Swartz and Leonid L. </a:t>
            </a:r>
            <a:r>
              <a:rPr lang="en-IE" dirty="0" err="1">
                <a:effectLst/>
                <a:latin typeface="Helvetica" pitchFamily="2" charset="0"/>
              </a:rPr>
              <a:t>Rubchinsky</a:t>
            </a:r>
            <a:endParaRPr lang="en-IE" b="0" dirty="0">
              <a:solidFill>
                <a:srgbClr val="282828"/>
              </a:solidFill>
              <a:effectLst/>
            </a:endParaRPr>
          </a:p>
          <a:p>
            <a:pPr lvl="1"/>
            <a:r>
              <a:rPr lang="en-IE" dirty="0">
                <a:hlinkClick r:id="rId3"/>
              </a:rPr>
              <a:t>https://kids.frontiersin.org/articles/10.3389/frym.2022.741510</a:t>
            </a:r>
            <a:endParaRPr lang="en-IE" dirty="0"/>
          </a:p>
          <a:p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Finding Your Way: Shortest Paths on Networks</a:t>
            </a:r>
          </a:p>
          <a:p>
            <a:pPr lvl="1"/>
            <a:r>
              <a:rPr lang="en-IE" dirty="0">
                <a:effectLst/>
                <a:latin typeface="Helvetica" pitchFamily="2" charset="0"/>
              </a:rPr>
              <a:t>Teresa </a:t>
            </a:r>
            <a:r>
              <a:rPr lang="en-IE" dirty="0" err="1">
                <a:effectLst/>
                <a:latin typeface="Helvetica" pitchFamily="2" charset="0"/>
              </a:rPr>
              <a:t>Rexin</a:t>
            </a:r>
            <a:r>
              <a:rPr lang="en-IE" dirty="0">
                <a:effectLst/>
                <a:latin typeface="Helvetica" pitchFamily="2" charset="0"/>
              </a:rPr>
              <a:t> 1 and Mason A. Porter 1,2*</a:t>
            </a:r>
          </a:p>
          <a:p>
            <a:pPr lvl="1"/>
            <a:r>
              <a:rPr lang="en-IE" dirty="0">
                <a:effectLst/>
                <a:latin typeface="Helvetica" pitchFamily="2" charset="0"/>
                <a:hlinkClick r:id="rId4"/>
              </a:rPr>
              <a:t>https://kids.frontiersin.org/articles/10.3389/frym.2021.631045</a:t>
            </a:r>
            <a:endParaRPr lang="en-IE" dirty="0">
              <a:effectLst/>
              <a:latin typeface="Helvetica" pitchFamily="2" charset="0"/>
            </a:endParaRPr>
          </a:p>
          <a:p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How Math Helps us Predict Water Flows in Forests</a:t>
            </a:r>
          </a:p>
          <a:p>
            <a:pPr lvl="1"/>
            <a:r>
              <a:rPr lang="en-IE" dirty="0">
                <a:effectLst/>
                <a:latin typeface="Helvetica" pitchFamily="2" charset="0"/>
              </a:rPr>
              <a:t>Katarina </a:t>
            </a:r>
            <a:r>
              <a:rPr lang="en-IE" dirty="0" err="1">
                <a:effectLst/>
                <a:latin typeface="Helvetica" pitchFamily="2" charset="0"/>
              </a:rPr>
              <a:t>Zabret</a:t>
            </a:r>
            <a:r>
              <a:rPr lang="en-IE" dirty="0">
                <a:effectLst/>
                <a:latin typeface="Helvetica" pitchFamily="2" charset="0"/>
              </a:rPr>
              <a:t> 1,2*, </a:t>
            </a:r>
            <a:r>
              <a:rPr lang="en-IE" dirty="0" err="1">
                <a:effectLst/>
                <a:latin typeface="Helvetica" pitchFamily="2" charset="0"/>
              </a:rPr>
              <a:t>Mojca</a:t>
            </a:r>
            <a:r>
              <a:rPr lang="en-IE" dirty="0">
                <a:effectLst/>
                <a:latin typeface="Helvetica" pitchFamily="2" charset="0"/>
              </a:rPr>
              <a:t> </a:t>
            </a:r>
            <a:r>
              <a:rPr lang="en-IE" dirty="0" err="1">
                <a:effectLst/>
                <a:latin typeface="Helvetica" pitchFamily="2" charset="0"/>
              </a:rPr>
              <a:t>Šraj</a:t>
            </a:r>
            <a:r>
              <a:rPr lang="en-IE" dirty="0">
                <a:effectLst/>
                <a:latin typeface="Helvetica" pitchFamily="2" charset="0"/>
              </a:rPr>
              <a:t> 1 and John T. Van Stan II 3</a:t>
            </a:r>
            <a:endParaRPr lang="en-IE" dirty="0">
              <a:solidFill>
                <a:srgbClr val="282828"/>
              </a:solidFill>
              <a:latin typeface="MuseoSans"/>
            </a:endParaRPr>
          </a:p>
          <a:p>
            <a:pPr lvl="1"/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https://</a:t>
            </a:r>
            <a:r>
              <a:rPr lang="en-IE" b="0" i="0" u="none" strike="noStrike" dirty="0" err="1">
                <a:solidFill>
                  <a:srgbClr val="282828"/>
                </a:solidFill>
                <a:effectLst/>
                <a:latin typeface="MuseoSans"/>
              </a:rPr>
              <a:t>kids.frontiersin.org</a:t>
            </a:r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/articles/10.3389/frym.2022.762009</a:t>
            </a:r>
          </a:p>
          <a:p>
            <a:pPr lvl="1"/>
            <a:endParaRPr lang="en-IE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577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1B19-0209-E3B7-A37B-AE88F276D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The Circle of Life: </a:t>
            </a:r>
            <a:b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</a:br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The Mathematics of Predator-Prey Relationships</a:t>
            </a:r>
            <a:b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</a:b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6A12C-FE92-DD0A-3052-B6891346D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The first paper The Circle of Life: </a:t>
            </a:r>
            <a:b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</a:br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The Mathematics of Predator-Prey Relationships</a:t>
            </a:r>
          </a:p>
          <a:p>
            <a:pPr marL="457200" lvl="1" indent="0">
              <a:buNone/>
            </a:pPr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by</a:t>
            </a:r>
            <a:b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</a:br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Rebecca Brady and John Butler</a:t>
            </a:r>
          </a:p>
          <a:p>
            <a:pPr marL="457200" lvl="1" indent="0">
              <a:buNone/>
            </a:pPr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 shows how maths can be used to model nature.</a:t>
            </a:r>
          </a:p>
          <a:p>
            <a:pPr lvl="1"/>
            <a:r>
              <a:rPr lang="en-IE" dirty="0">
                <a:hlinkClick r:id="rId2"/>
              </a:rPr>
              <a:t>https://kids.frontiersin.org/articles/10.3389/frym.2021.651131</a:t>
            </a:r>
            <a:endParaRPr lang="en-IE" dirty="0"/>
          </a:p>
          <a:p>
            <a:pPr lvl="1"/>
            <a:endParaRPr lang="en-IE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98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1B19-0209-E3B7-A37B-AE88F276D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b="0" dirty="0">
                <a:solidFill>
                  <a:srgbClr val="282828"/>
                </a:solidFill>
                <a:effectLst/>
              </a:rPr>
              <a:t>Using Mathematics to Become in Sync With the Brain</a:t>
            </a:r>
            <a:br>
              <a:rPr lang="en-IE" b="0" dirty="0">
                <a:solidFill>
                  <a:srgbClr val="282828"/>
                </a:solidFill>
                <a:effectLst/>
              </a:rPr>
            </a:b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6A12C-FE92-DD0A-3052-B6891346D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b="0" dirty="0">
                <a:solidFill>
                  <a:srgbClr val="282828"/>
                </a:solidFill>
                <a:effectLst/>
              </a:rPr>
              <a:t>Using Mathematics to Become in Sync With the Brain</a:t>
            </a:r>
          </a:p>
          <a:p>
            <a:pPr lvl="1"/>
            <a:r>
              <a:rPr lang="en-IE" dirty="0">
                <a:effectLst/>
                <a:latin typeface="Helvetica" pitchFamily="2" charset="0"/>
              </a:rPr>
              <a:t>Micah Swartz and Leonid L. </a:t>
            </a:r>
            <a:r>
              <a:rPr lang="en-IE" dirty="0" err="1">
                <a:effectLst/>
                <a:latin typeface="Helvetica" pitchFamily="2" charset="0"/>
              </a:rPr>
              <a:t>Rubchinsky</a:t>
            </a:r>
            <a:endParaRPr lang="en-IE" b="0" dirty="0">
              <a:solidFill>
                <a:srgbClr val="282828"/>
              </a:solidFill>
              <a:effectLst/>
            </a:endParaRPr>
          </a:p>
          <a:p>
            <a:pPr lvl="1"/>
            <a:r>
              <a:rPr lang="en-IE" dirty="0">
                <a:hlinkClick r:id="rId2"/>
              </a:rPr>
              <a:t>https://kids.frontiersin.org/articles/10.3389/frym.2022.741510</a:t>
            </a:r>
            <a:endParaRPr lang="en-IE" dirty="0"/>
          </a:p>
          <a:p>
            <a:pPr lvl="1"/>
            <a:endParaRPr lang="en-IE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791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1B19-0209-E3B7-A37B-AE88F276D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6A12C-FE92-DD0A-3052-B6891346D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The Circle of Life: </a:t>
            </a:r>
            <a:b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</a:br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The Mathematics of Predator-Prey Relationships</a:t>
            </a:r>
          </a:p>
          <a:p>
            <a:pPr lvl="1"/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Rebecca Brady and John Butler</a:t>
            </a:r>
          </a:p>
          <a:p>
            <a:pPr lvl="1"/>
            <a:r>
              <a:rPr lang="en-IE" dirty="0">
                <a:hlinkClick r:id="rId2"/>
              </a:rPr>
              <a:t>https://kids.frontiersin.org/articles/10.3389/frym.2021.651131</a:t>
            </a:r>
            <a:endParaRPr lang="en-IE" dirty="0"/>
          </a:p>
          <a:p>
            <a:r>
              <a:rPr lang="en-IE" b="0" dirty="0">
                <a:solidFill>
                  <a:srgbClr val="282828"/>
                </a:solidFill>
                <a:effectLst/>
              </a:rPr>
              <a:t>Using Mathematics to Become in Sync With the Brain</a:t>
            </a:r>
          </a:p>
          <a:p>
            <a:pPr lvl="1"/>
            <a:r>
              <a:rPr lang="en-IE" dirty="0">
                <a:effectLst/>
                <a:latin typeface="Helvetica" pitchFamily="2" charset="0"/>
              </a:rPr>
              <a:t>Micah Swartz and Leonid L. </a:t>
            </a:r>
            <a:r>
              <a:rPr lang="en-IE" dirty="0" err="1">
                <a:effectLst/>
                <a:latin typeface="Helvetica" pitchFamily="2" charset="0"/>
              </a:rPr>
              <a:t>Rubchinsky</a:t>
            </a:r>
            <a:endParaRPr lang="en-IE" b="0" dirty="0">
              <a:solidFill>
                <a:srgbClr val="282828"/>
              </a:solidFill>
              <a:effectLst/>
            </a:endParaRPr>
          </a:p>
          <a:p>
            <a:pPr lvl="1"/>
            <a:r>
              <a:rPr lang="en-IE" dirty="0">
                <a:hlinkClick r:id="rId3"/>
              </a:rPr>
              <a:t>https://kids.frontiersin.org/articles/10.3389/frym.2022.741510</a:t>
            </a:r>
            <a:endParaRPr lang="en-IE" dirty="0"/>
          </a:p>
          <a:p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Finding Your Way: Shortest Paths on Networks</a:t>
            </a:r>
          </a:p>
          <a:p>
            <a:pPr lvl="1"/>
            <a:r>
              <a:rPr lang="en-IE" dirty="0">
                <a:effectLst/>
                <a:latin typeface="Helvetica" pitchFamily="2" charset="0"/>
              </a:rPr>
              <a:t>Teresa </a:t>
            </a:r>
            <a:r>
              <a:rPr lang="en-IE" dirty="0" err="1">
                <a:effectLst/>
                <a:latin typeface="Helvetica" pitchFamily="2" charset="0"/>
              </a:rPr>
              <a:t>Rexin</a:t>
            </a:r>
            <a:r>
              <a:rPr lang="en-IE" dirty="0">
                <a:effectLst/>
                <a:latin typeface="Helvetica" pitchFamily="2" charset="0"/>
              </a:rPr>
              <a:t> 1 and Mason A. Porter 1,2*</a:t>
            </a:r>
          </a:p>
          <a:p>
            <a:pPr lvl="1"/>
            <a:r>
              <a:rPr lang="en-IE" dirty="0">
                <a:effectLst/>
                <a:latin typeface="Helvetica" pitchFamily="2" charset="0"/>
                <a:hlinkClick r:id="rId4"/>
              </a:rPr>
              <a:t>https://kids.frontiersin.org/articles/10.3389/frym.2021.631045</a:t>
            </a:r>
            <a:endParaRPr lang="en-IE" dirty="0">
              <a:effectLst/>
              <a:latin typeface="Helvetica" pitchFamily="2" charset="0"/>
            </a:endParaRPr>
          </a:p>
          <a:p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How Math Helps us Predict Water Flows in Forests</a:t>
            </a:r>
          </a:p>
          <a:p>
            <a:pPr lvl="1"/>
            <a:r>
              <a:rPr lang="en-IE" dirty="0">
                <a:effectLst/>
                <a:latin typeface="Helvetica" pitchFamily="2" charset="0"/>
              </a:rPr>
              <a:t>Katarina </a:t>
            </a:r>
            <a:r>
              <a:rPr lang="en-IE" dirty="0" err="1">
                <a:effectLst/>
                <a:latin typeface="Helvetica" pitchFamily="2" charset="0"/>
              </a:rPr>
              <a:t>Zabret</a:t>
            </a:r>
            <a:r>
              <a:rPr lang="en-IE" dirty="0">
                <a:effectLst/>
                <a:latin typeface="Helvetica" pitchFamily="2" charset="0"/>
              </a:rPr>
              <a:t> 1,2*, </a:t>
            </a:r>
            <a:r>
              <a:rPr lang="en-IE" dirty="0" err="1">
                <a:effectLst/>
                <a:latin typeface="Helvetica" pitchFamily="2" charset="0"/>
              </a:rPr>
              <a:t>Mojca</a:t>
            </a:r>
            <a:r>
              <a:rPr lang="en-IE" dirty="0">
                <a:effectLst/>
                <a:latin typeface="Helvetica" pitchFamily="2" charset="0"/>
              </a:rPr>
              <a:t> </a:t>
            </a:r>
            <a:r>
              <a:rPr lang="en-IE" dirty="0" err="1">
                <a:effectLst/>
                <a:latin typeface="Helvetica" pitchFamily="2" charset="0"/>
              </a:rPr>
              <a:t>Šraj</a:t>
            </a:r>
            <a:r>
              <a:rPr lang="en-IE" dirty="0">
                <a:effectLst/>
                <a:latin typeface="Helvetica" pitchFamily="2" charset="0"/>
              </a:rPr>
              <a:t> 1 and John T. Van Stan II 3</a:t>
            </a:r>
            <a:endParaRPr lang="en-IE" dirty="0">
              <a:solidFill>
                <a:srgbClr val="282828"/>
              </a:solidFill>
              <a:latin typeface="MuseoSans"/>
            </a:endParaRPr>
          </a:p>
          <a:p>
            <a:pPr lvl="1"/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https://</a:t>
            </a:r>
            <a:r>
              <a:rPr lang="en-IE" b="0" i="0" u="none" strike="noStrike" dirty="0" err="1">
                <a:solidFill>
                  <a:srgbClr val="282828"/>
                </a:solidFill>
                <a:effectLst/>
                <a:latin typeface="MuseoSans"/>
              </a:rPr>
              <a:t>kids.frontiersin.org</a:t>
            </a:r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/articles/10.3389/frym.2022.762009</a:t>
            </a:r>
          </a:p>
          <a:p>
            <a:pPr lvl="1"/>
            <a:endParaRPr lang="en-IE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815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1B19-0209-E3B7-A37B-AE88F276D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6A12C-FE92-DD0A-3052-B6891346D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The Circle of Life: </a:t>
            </a:r>
            <a:b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</a:br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The Mathematics of Predator-Prey Relationships</a:t>
            </a:r>
          </a:p>
          <a:p>
            <a:pPr lvl="1"/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Rebecca Brady and John Butler</a:t>
            </a:r>
          </a:p>
          <a:p>
            <a:pPr lvl="1"/>
            <a:r>
              <a:rPr lang="en-IE" dirty="0">
                <a:hlinkClick r:id="rId2"/>
              </a:rPr>
              <a:t>https://kids.frontiersin.org/articles/10.3389/frym.2021.651131</a:t>
            </a:r>
            <a:endParaRPr lang="en-IE" dirty="0"/>
          </a:p>
          <a:p>
            <a:r>
              <a:rPr lang="en-IE" b="0" dirty="0">
                <a:solidFill>
                  <a:srgbClr val="282828"/>
                </a:solidFill>
                <a:effectLst/>
              </a:rPr>
              <a:t>Using Mathematics to Become in Sync With the Brain</a:t>
            </a:r>
          </a:p>
          <a:p>
            <a:pPr lvl="1"/>
            <a:r>
              <a:rPr lang="en-IE" dirty="0">
                <a:effectLst/>
                <a:latin typeface="Helvetica" pitchFamily="2" charset="0"/>
              </a:rPr>
              <a:t>Micah Swartz and Leonid L. </a:t>
            </a:r>
            <a:r>
              <a:rPr lang="en-IE" dirty="0" err="1">
                <a:effectLst/>
                <a:latin typeface="Helvetica" pitchFamily="2" charset="0"/>
              </a:rPr>
              <a:t>Rubchinsky</a:t>
            </a:r>
            <a:endParaRPr lang="en-IE" b="0" dirty="0">
              <a:solidFill>
                <a:srgbClr val="282828"/>
              </a:solidFill>
              <a:effectLst/>
            </a:endParaRPr>
          </a:p>
          <a:p>
            <a:pPr lvl="1"/>
            <a:r>
              <a:rPr lang="en-IE" dirty="0">
                <a:hlinkClick r:id="rId3"/>
              </a:rPr>
              <a:t>https://kids.frontiersin.org/articles/10.3389/frym.2022.741510</a:t>
            </a:r>
            <a:endParaRPr lang="en-IE" dirty="0"/>
          </a:p>
          <a:p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Finding Your Way: Shortest Paths on Networks</a:t>
            </a:r>
          </a:p>
          <a:p>
            <a:pPr lvl="1"/>
            <a:r>
              <a:rPr lang="en-IE" dirty="0">
                <a:effectLst/>
                <a:latin typeface="Helvetica" pitchFamily="2" charset="0"/>
              </a:rPr>
              <a:t>Teresa </a:t>
            </a:r>
            <a:r>
              <a:rPr lang="en-IE" dirty="0" err="1">
                <a:effectLst/>
                <a:latin typeface="Helvetica" pitchFamily="2" charset="0"/>
              </a:rPr>
              <a:t>Rexin</a:t>
            </a:r>
            <a:r>
              <a:rPr lang="en-IE" dirty="0">
                <a:effectLst/>
                <a:latin typeface="Helvetica" pitchFamily="2" charset="0"/>
              </a:rPr>
              <a:t> 1 and Mason A. Porter 1,2*</a:t>
            </a:r>
          </a:p>
          <a:p>
            <a:pPr lvl="1"/>
            <a:r>
              <a:rPr lang="en-IE" dirty="0">
                <a:effectLst/>
                <a:latin typeface="Helvetica" pitchFamily="2" charset="0"/>
                <a:hlinkClick r:id="rId4"/>
              </a:rPr>
              <a:t>https://kids.frontiersin.org/articles/10.3389/frym.2021.631045</a:t>
            </a:r>
            <a:endParaRPr lang="en-IE" dirty="0">
              <a:effectLst/>
              <a:latin typeface="Helvetica" pitchFamily="2" charset="0"/>
            </a:endParaRPr>
          </a:p>
          <a:p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How Math Helps us Predict Water Flows in Forests</a:t>
            </a:r>
          </a:p>
          <a:p>
            <a:pPr lvl="1"/>
            <a:r>
              <a:rPr lang="en-IE" dirty="0">
                <a:effectLst/>
                <a:latin typeface="Helvetica" pitchFamily="2" charset="0"/>
              </a:rPr>
              <a:t>Katarina </a:t>
            </a:r>
            <a:r>
              <a:rPr lang="en-IE" dirty="0" err="1">
                <a:effectLst/>
                <a:latin typeface="Helvetica" pitchFamily="2" charset="0"/>
              </a:rPr>
              <a:t>Zabret</a:t>
            </a:r>
            <a:r>
              <a:rPr lang="en-IE" dirty="0">
                <a:effectLst/>
                <a:latin typeface="Helvetica" pitchFamily="2" charset="0"/>
              </a:rPr>
              <a:t> 1,2*, </a:t>
            </a:r>
            <a:r>
              <a:rPr lang="en-IE" dirty="0" err="1">
                <a:effectLst/>
                <a:latin typeface="Helvetica" pitchFamily="2" charset="0"/>
              </a:rPr>
              <a:t>Mojca</a:t>
            </a:r>
            <a:r>
              <a:rPr lang="en-IE" dirty="0">
                <a:effectLst/>
                <a:latin typeface="Helvetica" pitchFamily="2" charset="0"/>
              </a:rPr>
              <a:t> </a:t>
            </a:r>
            <a:r>
              <a:rPr lang="en-IE" dirty="0" err="1">
                <a:effectLst/>
                <a:latin typeface="Helvetica" pitchFamily="2" charset="0"/>
              </a:rPr>
              <a:t>Šraj</a:t>
            </a:r>
            <a:r>
              <a:rPr lang="en-IE" dirty="0">
                <a:effectLst/>
                <a:latin typeface="Helvetica" pitchFamily="2" charset="0"/>
              </a:rPr>
              <a:t> 1 and John T. Van Stan II 3</a:t>
            </a:r>
            <a:endParaRPr lang="en-IE" dirty="0">
              <a:solidFill>
                <a:srgbClr val="282828"/>
              </a:solidFill>
              <a:latin typeface="MuseoSans"/>
            </a:endParaRPr>
          </a:p>
          <a:p>
            <a:pPr lvl="1"/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https://</a:t>
            </a:r>
            <a:r>
              <a:rPr lang="en-IE" b="0" i="0" u="none" strike="noStrike" dirty="0" err="1">
                <a:solidFill>
                  <a:srgbClr val="282828"/>
                </a:solidFill>
                <a:effectLst/>
                <a:latin typeface="MuseoSans"/>
              </a:rPr>
              <a:t>kids.frontiersin.org</a:t>
            </a:r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/articles/10.3389/frym.2022.762009</a:t>
            </a:r>
          </a:p>
          <a:p>
            <a:pPr lvl="1"/>
            <a:endParaRPr lang="en-IE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821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7" name="Straight Connector 1076">
            <a:extLst>
              <a:ext uri="{FF2B5EF4-FFF2-40B4-BE49-F238E27FC236}">
                <a16:creationId xmlns:a16="http://schemas.microsoft.com/office/drawing/2014/main" id="{99AE2756-0FC4-4155-83E7-58AAAB63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5689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247AB924-1B87-43FC-B7C7-B112D5C51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61F6FC-D506-1FB7-DDDB-73FE9760C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538" y="4756638"/>
            <a:ext cx="11139854" cy="930447"/>
          </a:xfrm>
        </p:spPr>
        <p:txBody>
          <a:bodyPr>
            <a:normAutofit/>
          </a:bodyPr>
          <a:lstStyle/>
          <a:p>
            <a:r>
              <a:rPr lang="en-IE" sz="5400" dirty="0">
                <a:solidFill>
                  <a:srgbClr val="FFFFFF"/>
                </a:solidFill>
              </a:rPr>
              <a:t>Maths Week 2022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71BAE-A0B5-7DE7-19F8-4DD2168EA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9362" y="5815698"/>
            <a:ext cx="9144000" cy="420001"/>
          </a:xfrm>
        </p:spPr>
        <p:txBody>
          <a:bodyPr>
            <a:normAutofit/>
          </a:bodyPr>
          <a:lstStyle/>
          <a:p>
            <a:r>
              <a:rPr lang="en-IE" sz="2000">
                <a:solidFill>
                  <a:srgbClr val="E7E6E6"/>
                </a:solidFill>
              </a:rPr>
              <a:t>Podcast Recommendations 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CA89648-5404-03D8-7724-06BB65C53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0" y="1343097"/>
            <a:ext cx="3425609" cy="192690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&#10;&#10;Description automatically generated">
            <a:extLst>
              <a:ext uri="{FF2B5EF4-FFF2-40B4-BE49-F238E27FC236}">
                <a16:creationId xmlns:a16="http://schemas.microsoft.com/office/drawing/2014/main" id="{EE94599B-B0A0-21B8-7381-9DE4F746F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85729" y="1340927"/>
            <a:ext cx="3433324" cy="19312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81" name="Straight Connector 1080">
            <a:extLst>
              <a:ext uri="{FF2B5EF4-FFF2-40B4-BE49-F238E27FC236}">
                <a16:creationId xmlns:a16="http://schemas.microsoft.com/office/drawing/2014/main" id="{818DC98F-4057-4645-B948-F604F39A9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53400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B04F1257-F071-4F17-6099-AF55D7868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9725" y="616905"/>
            <a:ext cx="3423916" cy="342391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83" name="Straight Connector 1082">
            <a:extLst>
              <a:ext uri="{FF2B5EF4-FFF2-40B4-BE49-F238E27FC236}">
                <a16:creationId xmlns:a16="http://schemas.microsoft.com/office/drawing/2014/main" id="{DAD2B705-4A9B-408D-AA80-4F41045E0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94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3756</TotalTime>
  <Words>659</Words>
  <Application>Microsoft Macintosh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Helvetica</vt:lpstr>
      <vt:lpstr>MuseoSans</vt:lpstr>
      <vt:lpstr>Office Theme</vt:lpstr>
      <vt:lpstr>Books for Maths Week 2022</vt:lpstr>
      <vt:lpstr>PowerPoint Presentation</vt:lpstr>
      <vt:lpstr>PowerPoint Presentation</vt:lpstr>
      <vt:lpstr>PowerPoint Presentation</vt:lpstr>
      <vt:lpstr>PowerPoint Presentation</vt:lpstr>
      <vt:lpstr>The Circle of Life:  The Mathematics of Predator-Prey Relationships </vt:lpstr>
      <vt:lpstr>Using Mathematics to Become in Sync With the Brain </vt:lpstr>
      <vt:lpstr>PowerPoint Presentation</vt:lpstr>
      <vt:lpstr>PowerPoint Presentation</vt:lpstr>
      <vt:lpstr>Maths Week 2022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Books for Maths Week 2022</dc:title>
  <dc:creator>John Butler</dc:creator>
  <cp:lastModifiedBy>John Butler</cp:lastModifiedBy>
  <cp:revision>8</cp:revision>
  <dcterms:created xsi:type="dcterms:W3CDTF">2022-10-15T15:06:40Z</dcterms:created>
  <dcterms:modified xsi:type="dcterms:W3CDTF">2025-07-28T07:41:02Z</dcterms:modified>
</cp:coreProperties>
</file>