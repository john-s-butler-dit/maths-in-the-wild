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8" r:id="rId4"/>
    <p:sldId id="269" r:id="rId5"/>
    <p:sldId id="259" r:id="rId6"/>
    <p:sldId id="260" r:id="rId7"/>
    <p:sldId id="258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81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ids.frontiersin.org/articles/10.3389/frym.2022.820289" TargetMode="External"/><Relationship Id="rId2" Type="http://schemas.openxmlformats.org/officeDocument/2006/relationships/hyperlink" Target="https://kids.frontiersin.org/articles/10.3389/frym.2023.95311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ids.frontiersin.org/articles/10.3389/frym.2022.834049" TargetMode="External"/><Relationship Id="rId4" Type="http://schemas.openxmlformats.org/officeDocument/2006/relationships/hyperlink" Target="https://kids.frontiersin.org/articles/10.3389/frym.2022.926624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Books for </a:t>
            </a:r>
            <a:r>
              <a:rPr lang="en-US" sz="5400" b="1" dirty="0" err="1">
                <a:solidFill>
                  <a:srgbClr val="FFFFFF"/>
                </a:solidFill>
              </a:rPr>
              <a:t>Maths</a:t>
            </a:r>
            <a:r>
              <a:rPr lang="en-US" sz="5400" b="1" dirty="0">
                <a:solidFill>
                  <a:srgbClr val="FFFFFF"/>
                </a:solidFill>
              </a:rPr>
              <a:t> Week 2023</a:t>
            </a:r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 descr="Falling Felines and Fundamental Physics: Gbur, Gregory J.: 9780300231298:  Amazon.com: Books">
            <a:extLst>
              <a:ext uri="{FF2B5EF4-FFF2-40B4-BE49-F238E27FC236}">
                <a16:creationId xmlns:a16="http://schemas.microsoft.com/office/drawing/2014/main" id="{BFED279F-AFB5-C87B-77B7-9F6526B9B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68" y="327767"/>
            <a:ext cx="2623516" cy="405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Once Upon a Prime: The Wondrous Connections Between Mathematics and  Literature | Buy online at Books Upstairs">
            <a:extLst>
              <a:ext uri="{FF2B5EF4-FFF2-40B4-BE49-F238E27FC236}">
                <a16:creationId xmlns:a16="http://schemas.microsoft.com/office/drawing/2014/main" id="{D74AB38F-0689-DA9B-9ED0-F3F39D1A0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542" y="331226"/>
            <a:ext cx="2522054" cy="405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lings &amp; Arrows">
            <a:extLst>
              <a:ext uri="{FF2B5EF4-FFF2-40B4-BE49-F238E27FC236}">
                <a16:creationId xmlns:a16="http://schemas.microsoft.com/office/drawing/2014/main" id="{55171195-AA6E-AE37-DB64-0F78EBD8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020" y="327767"/>
            <a:ext cx="2771221" cy="405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Reaching for the Moon | Book by Katherine Johnson | Official Publisher Page  | Simon &amp; Schuster">
            <a:extLst>
              <a:ext uri="{FF2B5EF4-FFF2-40B4-BE49-F238E27FC236}">
                <a16:creationId xmlns:a16="http://schemas.microsoft.com/office/drawing/2014/main" id="{7F630676-894D-F69D-1775-1F0280C5F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276" y="327766"/>
            <a:ext cx="2681300" cy="405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82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Falling Felines and Fundamental Physics</a:t>
            </a:r>
            <a:br>
              <a:rPr lang="en-IE" sz="2800" dirty="0"/>
            </a:br>
            <a:r>
              <a:rPr lang="en-IE" sz="2800" dirty="0"/>
              <a:t>by Gregory J. </a:t>
            </a:r>
            <a:r>
              <a:rPr lang="en-IE" sz="2800" dirty="0" err="1"/>
              <a:t>Gbur</a:t>
            </a:r>
            <a:endParaRPr lang="en-IE" sz="2800" dirty="0"/>
          </a:p>
          <a:p>
            <a:r>
              <a:rPr lang="en-IE" b="1" dirty="0"/>
              <a:t>Once Upon a Prime</a:t>
            </a:r>
            <a:br>
              <a:rPr lang="en-IE" sz="2800" dirty="0"/>
            </a:br>
            <a:r>
              <a:rPr lang="en-IE" sz="2800" dirty="0"/>
              <a:t>by Sarah Hart</a:t>
            </a:r>
          </a:p>
          <a:p>
            <a:r>
              <a:rPr lang="en-IE" sz="2800" b="1" dirty="0" err="1"/>
              <a:t>Logicomix</a:t>
            </a:r>
            <a:r>
              <a:rPr lang="en-IE" sz="2800" b="1" dirty="0"/>
              <a:t>: An Epic Search for Truth</a:t>
            </a:r>
            <a:br>
              <a:rPr lang="en-IE" sz="2800" dirty="0"/>
            </a:br>
            <a:r>
              <a:rPr lang="en-IE" sz="2800" dirty="0"/>
              <a:t>by Apostolos and Christos H. </a:t>
            </a:r>
            <a:r>
              <a:rPr lang="en-IE" dirty="0" err="1"/>
              <a:t>Papadimitirou</a:t>
            </a:r>
            <a:endParaRPr lang="en-IE" sz="2800" dirty="0"/>
          </a:p>
          <a:p>
            <a:r>
              <a:rPr lang="en-IE" sz="2800" b="1" dirty="0"/>
              <a:t>Reaching for the Moon: The Autobiography of NASA Mathematician Katherine Johnson</a:t>
            </a:r>
            <a:br>
              <a:rPr lang="en-IE" sz="2800" b="1" dirty="0"/>
            </a:br>
            <a:r>
              <a:rPr lang="en-IE" sz="2800" dirty="0"/>
              <a:t>by Katherine Johnson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2573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Rectangle 1089">
            <a:extLst>
              <a:ext uri="{FF2B5EF4-FFF2-40B4-BE49-F238E27FC236}">
                <a16:creationId xmlns:a16="http://schemas.microsoft.com/office/drawing/2014/main" id="{B6DBFCBF-E869-4150-807D-0EA34DD5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28000"/>
            <a:ext cx="6143626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3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Films for </a:t>
            </a:r>
            <a:r>
              <a:rPr lang="en-US" sz="43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43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Week 2023</a:t>
            </a:r>
          </a:p>
        </p:txBody>
      </p:sp>
      <p:pic>
        <p:nvPicPr>
          <p:cNvPr id="1028" name="Picture 4" descr="The Man Who Knew Infinity (2015) - IMDb">
            <a:extLst>
              <a:ext uri="{FF2B5EF4-FFF2-40B4-BE49-F238E27FC236}">
                <a16:creationId xmlns:a16="http://schemas.microsoft.com/office/drawing/2014/main" id="{1507B9E7-2C47-C63F-57AE-A0F7B4ED4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7" r="-1" b="-1"/>
          <a:stretch/>
        </p:blipFill>
        <p:spPr bwMode="auto">
          <a:xfrm>
            <a:off x="-4" y="10"/>
            <a:ext cx="2952750" cy="3940619"/>
          </a:xfrm>
          <a:custGeom>
            <a:avLst/>
            <a:gdLst/>
            <a:ahLst/>
            <a:cxnLst/>
            <a:rect l="l" t="t" r="r" b="b"/>
            <a:pathLst>
              <a:path w="2952750" h="3940629">
                <a:moveTo>
                  <a:pt x="0" y="0"/>
                </a:moveTo>
                <a:lnTo>
                  <a:pt x="2952750" y="0"/>
                </a:lnTo>
                <a:lnTo>
                  <a:pt x="2952749" y="3847994"/>
                </a:lnTo>
                <a:lnTo>
                  <a:pt x="0" y="394062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he Mitchells vs the Machines (2021) - IMDb">
            <a:extLst>
              <a:ext uri="{FF2B5EF4-FFF2-40B4-BE49-F238E27FC236}">
                <a16:creationId xmlns:a16="http://schemas.microsoft.com/office/drawing/2014/main" id="{F8A7F51A-BAC5-C566-E4A3-A4169CA45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7" r="-3" b="5504"/>
          <a:stretch/>
        </p:blipFill>
        <p:spPr bwMode="auto">
          <a:xfrm>
            <a:off x="3143253" y="10"/>
            <a:ext cx="2857499" cy="3842008"/>
          </a:xfrm>
          <a:custGeom>
            <a:avLst/>
            <a:gdLst/>
            <a:ahLst/>
            <a:cxnLst/>
            <a:rect l="l" t="t" r="r" b="b"/>
            <a:pathLst>
              <a:path w="2857499" h="3842018">
                <a:moveTo>
                  <a:pt x="0" y="0"/>
                </a:moveTo>
                <a:lnTo>
                  <a:pt x="2857499" y="0"/>
                </a:lnTo>
                <a:lnTo>
                  <a:pt x="2857499" y="3799815"/>
                </a:lnTo>
                <a:lnTo>
                  <a:pt x="2408465" y="3766458"/>
                </a:lnTo>
                <a:lnTo>
                  <a:pt x="0" y="384201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Trip to Infinity - Rotten Tomatoes">
            <a:extLst>
              <a:ext uri="{FF2B5EF4-FFF2-40B4-BE49-F238E27FC236}">
                <a16:creationId xmlns:a16="http://schemas.microsoft.com/office/drawing/2014/main" id="{EB48B86F-DB11-B500-37D7-6C5AAA455F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076"/>
          <a:stretch/>
        </p:blipFill>
        <p:spPr bwMode="auto">
          <a:xfrm>
            <a:off x="6191251" y="10"/>
            <a:ext cx="2857499" cy="4026227"/>
          </a:xfrm>
          <a:custGeom>
            <a:avLst/>
            <a:gdLst/>
            <a:ahLst/>
            <a:cxnLst/>
            <a:rect l="l" t="t" r="r" b="b"/>
            <a:pathLst>
              <a:path w="2857499" h="4026237">
                <a:moveTo>
                  <a:pt x="0" y="0"/>
                </a:moveTo>
                <a:lnTo>
                  <a:pt x="2857499" y="0"/>
                </a:lnTo>
                <a:lnTo>
                  <a:pt x="2857499" y="4026237"/>
                </a:lnTo>
                <a:lnTo>
                  <a:pt x="0" y="38139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arbenheimer | Layered Butter">
            <a:extLst>
              <a:ext uri="{FF2B5EF4-FFF2-40B4-BE49-F238E27FC236}">
                <a16:creationId xmlns:a16="http://schemas.microsoft.com/office/drawing/2014/main" id="{F4A083A6-8D8E-31D5-B0ED-493796FB9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" r="3623" b="3"/>
          <a:stretch/>
        </p:blipFill>
        <p:spPr bwMode="auto">
          <a:xfrm>
            <a:off x="9239249" y="10"/>
            <a:ext cx="2952751" cy="4049475"/>
          </a:xfrm>
          <a:custGeom>
            <a:avLst/>
            <a:gdLst/>
            <a:ahLst/>
            <a:cxnLst/>
            <a:rect l="l" t="t" r="r" b="b"/>
            <a:pathLst>
              <a:path w="2952751" h="4049485">
                <a:moveTo>
                  <a:pt x="0" y="0"/>
                </a:moveTo>
                <a:lnTo>
                  <a:pt x="2952751" y="0"/>
                </a:lnTo>
                <a:lnTo>
                  <a:pt x="2952750" y="3940629"/>
                </a:lnTo>
                <a:lnTo>
                  <a:pt x="122465" y="4049485"/>
                </a:lnTo>
                <a:lnTo>
                  <a:pt x="0" y="40403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92" name="Group 1091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6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10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The Man Who Knew Infinity</a:t>
            </a:r>
            <a:endParaRPr lang="en-IE" sz="2800" dirty="0"/>
          </a:p>
          <a:p>
            <a:r>
              <a:rPr lang="en-IE" b="1" dirty="0"/>
              <a:t>Mitchell’s vs the Machines</a:t>
            </a:r>
            <a:endParaRPr lang="en-IE" sz="2800" dirty="0"/>
          </a:p>
          <a:p>
            <a:r>
              <a:rPr lang="en-IE" sz="2800" b="1" dirty="0"/>
              <a:t>A Trip to Infinity</a:t>
            </a:r>
          </a:p>
          <a:p>
            <a:r>
              <a:rPr lang="en-IE" dirty="0"/>
              <a:t>Barbie and Oppenheimer</a:t>
            </a:r>
          </a:p>
          <a:p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8312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83D55E46-3805-39AF-A173-A06ECDBC9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6056" y="3433545"/>
            <a:ext cx="7346286" cy="367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95D090D-C000-02AA-47D0-0B573533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368" y="3453946"/>
            <a:ext cx="6051632" cy="340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D4969F1-906D-5320-4D20-D0A8F218D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742" y="-4117"/>
            <a:ext cx="7007258" cy="350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8A2345E5-E1CB-AF87-A4F5-C4B038930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6140368" cy="345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13A01-A7AB-DB4A-BDF2-00BA482FE4EE}"/>
              </a:ext>
            </a:extLst>
          </p:cNvPr>
          <p:cNvSpPr txBox="1"/>
          <p:nvPr/>
        </p:nvSpPr>
        <p:spPr>
          <a:xfrm>
            <a:off x="7610673" y="-21691"/>
            <a:ext cx="6140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E" sz="2800" b="0" i="0" u="none" strike="noStrike" dirty="0">
              <a:ln>
                <a:solidFill>
                  <a:schemeClr val="tx1"/>
                </a:solidFill>
              </a:ln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useo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30B6D-ABCD-FF20-10C6-CD66E31A38FE}"/>
              </a:ext>
            </a:extLst>
          </p:cNvPr>
          <p:cNvSpPr txBox="1"/>
          <p:nvPr/>
        </p:nvSpPr>
        <p:spPr>
          <a:xfrm>
            <a:off x="200451" y="190658"/>
            <a:ext cx="6095999" cy="369332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endParaRPr lang="en-I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CD5D7-7A2F-B702-9A69-8C1E583CB15B}"/>
              </a:ext>
            </a:extLst>
          </p:cNvPr>
          <p:cNvSpPr/>
          <p:nvPr/>
        </p:nvSpPr>
        <p:spPr>
          <a:xfrm rot="18896749">
            <a:off x="4471992" y="1785929"/>
            <a:ext cx="3240000" cy="32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5B328-E31E-57C3-B17D-3D9A12B324A0}"/>
              </a:ext>
            </a:extLst>
          </p:cNvPr>
          <p:cNvSpPr txBox="1"/>
          <p:nvPr/>
        </p:nvSpPr>
        <p:spPr>
          <a:xfrm>
            <a:off x="4200522" y="2908745"/>
            <a:ext cx="3786186" cy="10772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Maths Papers for Kids</a:t>
            </a:r>
            <a:br>
              <a:rPr lang="en-IE" sz="3200" dirty="0"/>
            </a:br>
            <a:r>
              <a:rPr lang="en-IE" sz="3200" dirty="0"/>
              <a:t>Maths Week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1AFD4-ECEA-1166-3417-4A460515CAF3}"/>
              </a:ext>
            </a:extLst>
          </p:cNvPr>
          <p:cNvSpPr txBox="1"/>
          <p:nvPr/>
        </p:nvSpPr>
        <p:spPr>
          <a:xfrm>
            <a:off x="248598" y="5447713"/>
            <a:ext cx="4209319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l"/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  <a:t>What Does Math Have to Do With Patterns in Fish?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53602-E726-D64F-A9AD-A74AE94BDD95}"/>
              </a:ext>
            </a:extLst>
          </p:cNvPr>
          <p:cNvSpPr txBox="1"/>
          <p:nvPr/>
        </p:nvSpPr>
        <p:spPr>
          <a:xfrm>
            <a:off x="6534971" y="5447713"/>
            <a:ext cx="4209319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l"/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  <a:t>Understanding The Odds: </a:t>
            </a:r>
            <a:b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</a:br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  <a:t>Statistics in Public Health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20DF3-6FFF-AE6B-D3E2-1A50EA78A09C}"/>
              </a:ext>
            </a:extLst>
          </p:cNvPr>
          <p:cNvSpPr txBox="1"/>
          <p:nvPr/>
        </p:nvSpPr>
        <p:spPr>
          <a:xfrm>
            <a:off x="7124588" y="105233"/>
            <a:ext cx="4693412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l"/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  <a:t>Predict Who Your Friends Are?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1A530-7318-52C0-9785-3FDDACB2B62F}"/>
              </a:ext>
            </a:extLst>
          </p:cNvPr>
          <p:cNvSpPr txBox="1"/>
          <p:nvPr/>
        </p:nvSpPr>
        <p:spPr>
          <a:xfrm>
            <a:off x="23420" y="-22501"/>
            <a:ext cx="5664316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l"/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  <a:t>Puzzling Pentagons—How Many Ways Can We Cover a Flat Surface?</a:t>
            </a:r>
          </a:p>
        </p:txBody>
      </p:sp>
    </p:spTree>
    <p:extLst>
      <p:ext uri="{BB962C8B-B14F-4D97-AF65-F5344CB8AC3E}">
        <p14:creationId xmlns:p14="http://schemas.microsoft.com/office/powerpoint/2010/main" val="6637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Mann C and </a:t>
            </a:r>
            <a:r>
              <a:rPr lang="en-IE" b="0" i="0" u="none" strike="noStrike" dirty="0" err="1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McLoud</a:t>
            </a: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-Mann J (2023)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Puzzling Pentagons—How Many Ways Can We Cover a Flat Surface?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Front. Young Minds. 11:953114. </a:t>
            </a:r>
            <a:r>
              <a:rPr lang="en-IE" b="0" i="0" u="none" strike="noStrike" dirty="0" err="1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doi</a:t>
            </a: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: 10.3389/frym.2023.953114</a:t>
            </a:r>
          </a:p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  <a:hlinkClick r:id="rId2"/>
              </a:rPr>
              <a:t>https://kids.frontiersin.org/articles/10.3389/frym.2023.953114</a:t>
            </a:r>
            <a:endParaRPr lang="en-IE" b="0" i="0" u="none" strike="noStrike" dirty="0">
              <a:ln>
                <a:solidFill>
                  <a:schemeClr val="accen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useoSans"/>
            </a:endParaRPr>
          </a:p>
          <a:p>
            <a:endParaRPr lang="en-IE" b="0" dirty="0">
              <a:solidFill>
                <a:srgbClr val="282828"/>
              </a:solidFill>
              <a:effectLst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Black A and West G (2023) Predict Who Your Friends Are?. Front. Young Minds. 11:820289.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doi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: 10.3389/frym.2022.820289</a:t>
            </a: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  <a:hlinkClick r:id="rId3"/>
              </a:rPr>
              <a:t>https://kids.frontiersin.org/articles/10.3389/frym.2022.820289</a:t>
            </a:r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Goodwin G and Ryu S (2023) Understanding The Odds: Statistics in Public Health. Front. Young Minds. 11:926624.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doi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: 10.3389/frym.2022.926624</a:t>
            </a:r>
          </a:p>
          <a:p>
            <a:r>
              <a:rPr lang="en-IE" dirty="0">
                <a:hlinkClick r:id="rId4"/>
              </a:rPr>
              <a:t>https://kids.frontiersin.org/articles/10.3389/frym.2022.926624</a:t>
            </a:r>
            <a:endParaRPr lang="en-IE" dirty="0"/>
          </a:p>
          <a:p>
            <a:pPr algn="l"/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Shirman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 B and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Volkening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 A (2022) What Does Math Have to Do With Patterns in Fish?. Front. Young Minds. 10:834049.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doi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: 10.3389/frym.2022.834049</a:t>
            </a:r>
          </a:p>
          <a:p>
            <a:r>
              <a:rPr lang="en-IE" dirty="0">
                <a:hlinkClick r:id="rId5"/>
              </a:rPr>
              <a:t>https://kids.frontiersin.org/articles/10.3389/frym.2022.834049</a:t>
            </a:r>
            <a:br>
              <a:rPr lang="en-IE" dirty="0"/>
            </a:br>
            <a:endParaRPr lang="en-IE" dirty="0">
              <a:solidFill>
                <a:srgbClr val="282828"/>
              </a:solidFill>
              <a:latin typeface="MuseoSans"/>
            </a:endParaRPr>
          </a:p>
          <a:p>
            <a:endParaRPr lang="en-IE" dirty="0"/>
          </a:p>
          <a:p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7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99AE2756-0FC4-4155-83E7-58AAAB63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689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247AB924-1B87-43FC-B7C7-B112D5C51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1F6FC-D506-1FB7-DDDB-73FE9760C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>
            <a:normAutofit/>
          </a:bodyPr>
          <a:lstStyle/>
          <a:p>
            <a:r>
              <a:rPr lang="en-IE" sz="5400" dirty="0">
                <a:solidFill>
                  <a:srgbClr val="FFFFFF"/>
                </a:solidFill>
              </a:rPr>
              <a:t>Maths Week 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1BAE-A0B5-7DE7-19F8-4DD2168E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420001"/>
          </a:xfrm>
        </p:spPr>
        <p:txBody>
          <a:bodyPr>
            <a:normAutofit/>
          </a:bodyPr>
          <a:lstStyle/>
          <a:p>
            <a:r>
              <a:rPr lang="en-IE" sz="2000">
                <a:solidFill>
                  <a:srgbClr val="E7E6E6"/>
                </a:solidFill>
              </a:rPr>
              <a:t>Podcast Recommendations </a:t>
            </a:r>
          </a:p>
        </p:txBody>
      </p: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818DC98F-4057-4645-B948-F604F39A9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534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DAD2B705-4A9B-408D-AA80-4F41045E0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he Function Room">
            <a:extLst>
              <a:ext uri="{FF2B5EF4-FFF2-40B4-BE49-F238E27FC236}">
                <a16:creationId xmlns:a16="http://schemas.microsoft.com/office/drawing/2014/main" id="{58D9ED72-AD7E-08FD-7C55-CA979A841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43" y="543144"/>
            <a:ext cx="3592205" cy="359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t So Standard Deviations">
            <a:extLst>
              <a:ext uri="{FF2B5EF4-FFF2-40B4-BE49-F238E27FC236}">
                <a16:creationId xmlns:a16="http://schemas.microsoft.com/office/drawing/2014/main" id="{C324A82C-073C-E57E-3CDC-79F3CD787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477749"/>
            <a:ext cx="3639428" cy="363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utureproof with Jonathan McCrea | Newstalk">
            <a:extLst>
              <a:ext uri="{FF2B5EF4-FFF2-40B4-BE49-F238E27FC236}">
                <a16:creationId xmlns:a16="http://schemas.microsoft.com/office/drawing/2014/main" id="{7CE10DBA-06F5-820B-8283-FC8E0A26B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270" y="543144"/>
            <a:ext cx="3557416" cy="355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9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Not so Standard Deviations with Roger Peng and Hilary Parker</a:t>
            </a:r>
            <a:br>
              <a:rPr lang="en-IE" sz="2800" dirty="0"/>
            </a:br>
            <a:endParaRPr lang="en-IE" sz="2800" dirty="0"/>
          </a:p>
          <a:p>
            <a:r>
              <a:rPr lang="en-IE" b="1" dirty="0"/>
              <a:t>The Function Room, Colm </a:t>
            </a:r>
            <a:r>
              <a:rPr lang="en-IE" b="1" dirty="0" err="1"/>
              <a:t>O’Regan</a:t>
            </a:r>
            <a:r>
              <a:rPr lang="en-IE" b="1" dirty="0"/>
              <a:t> chats about maths</a:t>
            </a:r>
            <a:br>
              <a:rPr lang="en-IE" sz="2800" dirty="0"/>
            </a:br>
            <a:endParaRPr lang="en-IE" sz="2800" dirty="0"/>
          </a:p>
          <a:p>
            <a:r>
              <a:rPr lang="en-IE" sz="2800" b="1" dirty="0"/>
              <a:t>Future proof with Jonathan McCrea</a:t>
            </a: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66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3872</TotalTime>
  <Words>346</Words>
  <Application>Microsoft Macintosh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MuseoSans</vt:lpstr>
      <vt:lpstr>Office Theme</vt:lpstr>
      <vt:lpstr>Books for Maths Week 2023</vt:lpstr>
      <vt:lpstr>PowerPoint Presentation</vt:lpstr>
      <vt:lpstr>Films for Maths Week 2023</vt:lpstr>
      <vt:lpstr>PowerPoint Presentation</vt:lpstr>
      <vt:lpstr>PowerPoint Presentation</vt:lpstr>
      <vt:lpstr>PowerPoint Presentation</vt:lpstr>
      <vt:lpstr>Maths Week 2023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2022</dc:title>
  <dc:creator>John Butler</dc:creator>
  <cp:lastModifiedBy>John Butler</cp:lastModifiedBy>
  <cp:revision>9</cp:revision>
  <dcterms:created xsi:type="dcterms:W3CDTF">2022-10-15T15:06:40Z</dcterms:created>
  <dcterms:modified xsi:type="dcterms:W3CDTF">2025-07-28T07:29:43Z</dcterms:modified>
</cp:coreProperties>
</file>