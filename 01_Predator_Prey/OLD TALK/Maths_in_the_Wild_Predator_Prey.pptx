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2"/>
  </p:notesMasterIdLst>
  <p:sldIdLst>
    <p:sldId id="279" r:id="rId2"/>
    <p:sldId id="791" r:id="rId3"/>
    <p:sldId id="766" r:id="rId4"/>
    <p:sldId id="753" r:id="rId5"/>
    <p:sldId id="768" r:id="rId6"/>
    <p:sldId id="789" r:id="rId7"/>
    <p:sldId id="773" r:id="rId8"/>
    <p:sldId id="795" r:id="rId9"/>
    <p:sldId id="757" r:id="rId10"/>
    <p:sldId id="774" r:id="rId11"/>
    <p:sldId id="775" r:id="rId12"/>
    <p:sldId id="776" r:id="rId13"/>
    <p:sldId id="770" r:id="rId14"/>
    <p:sldId id="796" r:id="rId15"/>
    <p:sldId id="777" r:id="rId16"/>
    <p:sldId id="778" r:id="rId17"/>
    <p:sldId id="792" r:id="rId18"/>
    <p:sldId id="793" r:id="rId19"/>
    <p:sldId id="780" r:id="rId20"/>
    <p:sldId id="760" r:id="rId21"/>
    <p:sldId id="781" r:id="rId22"/>
    <p:sldId id="782" r:id="rId23"/>
    <p:sldId id="756" r:id="rId24"/>
    <p:sldId id="797" r:id="rId25"/>
    <p:sldId id="769" r:id="rId26"/>
    <p:sldId id="783" r:id="rId27"/>
    <p:sldId id="784" r:id="rId28"/>
    <p:sldId id="787" r:id="rId29"/>
    <p:sldId id="786" r:id="rId30"/>
    <p:sldId id="785" r:id="rId31"/>
    <p:sldId id="751" r:id="rId32"/>
    <p:sldId id="761" r:id="rId33"/>
    <p:sldId id="752" r:id="rId34"/>
    <p:sldId id="767" r:id="rId35"/>
    <p:sldId id="772" r:id="rId36"/>
    <p:sldId id="798" r:id="rId37"/>
    <p:sldId id="794" r:id="rId38"/>
    <p:sldId id="788" r:id="rId39"/>
    <p:sldId id="790" r:id="rId40"/>
    <p:sldId id="625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070"/>
    <a:srgbClr val="E9E9E9"/>
    <a:srgbClr val="0BB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9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2F38-1ED5-4244-B688-1F27C5C01D9D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5EBBE-B1F3-854A-A13B-B4DE1AE4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8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513556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invGray">
          <a:xfrm>
            <a:off x="0" y="5127625"/>
            <a:ext cx="9144000" cy="46038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tIns="0" bIns="0" anchor="t"/>
          <a:lstStyle>
            <a:lvl1pPr algn="l">
              <a:defRPr sz="3525" b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1500">
                <a:solidFill>
                  <a:srgbClr val="FFFF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639CF-DE20-4518-8A99-847C9DE3081F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095A03-FA64-438A-9B3E-B4710C61F5A0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86D202F8-C26E-6146-9111-1652ECB669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401" y="38100"/>
            <a:ext cx="1524001" cy="96022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68072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28613" indent="-239316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1pPr>
            <a:lvl2pPr marL="547688" indent="-204788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2pPr>
            <a:lvl3pPr marL="746522" indent="-171450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3pPr>
            <a:lvl4pPr marL="912019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4pPr>
            <a:lvl5pPr marL="1069181" indent="-136922">
              <a:buClr>
                <a:schemeClr val="tx1"/>
              </a:buClr>
              <a:buFont typeface="Arial" panose="020B0604020202020204" pitchFamily="34" charset="0"/>
              <a:buChar char="•"/>
              <a:defRPr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CEE18-2F86-4815-AA4C-28B1810BE92C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BFC629-3DA3-475E-B422-0A5F778C0E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1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ltGray">
          <a:xfrm>
            <a:off x="0" y="4"/>
            <a:ext cx="9144000" cy="26019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invGray">
          <a:xfrm>
            <a:off x="0" y="2601917"/>
            <a:ext cx="9144000" cy="46037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tIns="0" rIns="91440" bIns="0" anchor="b"/>
          <a:lstStyle>
            <a:lvl1pPr algn="l">
              <a:defRPr sz="3525" b="0" cap="none" baseline="0"/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/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950E7-F59D-41FD-9C77-77B3EEF34172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BA8E74-7F46-4E54-834F-5AD8A517EE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4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EED0A-4507-4F25-BB04-A41183D340F9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C4F5B8-DA3A-40A8-B45D-D218A722FD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94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90"/>
            <a:ext cx="4040188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698990"/>
            <a:ext cx="4041775" cy="715355"/>
          </a:xfrm>
        </p:spPr>
        <p:txBody>
          <a:bodyPr lIns="146304" anchor="ctr"/>
          <a:lstStyle>
            <a:lvl1pPr marL="0" indent="0">
              <a:buNone/>
              <a:defRPr sz="1725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449512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4DEEF8-C16D-4C0A-9E75-01A0CEAC4EFB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E9D9F7-0101-4300-9393-E641A85FCD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7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44240-E3BE-458E-ABDC-A00C9B3E1378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70842C-DBE2-4E48-A1B4-D69335A401F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13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E4417-5758-421B-9142-970B40155EC6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207BA0-B3BC-4585-B1DE-CB662C282A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1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14541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9" y="1743134"/>
            <a:ext cx="5920641" cy="455888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829A34-0849-491B-94BF-57C5E21AB71A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A4D00-15C5-4A4E-B632-DCE5D54E1D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8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6" name="Rectangle 5"/>
          <p:cNvSpPr/>
          <p:nvPr/>
        </p:nvSpPr>
        <p:spPr bwMode="invGray">
          <a:xfrm>
            <a:off x="2855915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3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1500" b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7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65100" y="1169988"/>
            <a:ext cx="2522538" cy="2016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95DD43-4D9F-4959-92A0-B733AD070C20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301" y="1169988"/>
            <a:ext cx="5194300" cy="201612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138" y="1169988"/>
            <a:ext cx="733425" cy="201612"/>
          </a:xfrm>
        </p:spPr>
        <p:txBody>
          <a:bodyPr/>
          <a:lstStyle>
            <a:lvl1pPr>
              <a:defRPr/>
            </a:lvl1pPr>
          </a:lstStyle>
          <a:p>
            <a:fld id="{276ED41C-B129-425F-9ED4-6D4C3D3130D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701619-D700-4C71-8868-C5E78449190E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76A59-2CEB-4E46-ACDC-456609F431E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6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invGray">
          <a:xfrm>
            <a:off x="6599240" y="0"/>
            <a:ext cx="46037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4"/>
          <p:cNvSpPr/>
          <p:nvPr/>
        </p:nvSpPr>
        <p:spPr bwMode="ltGray">
          <a:xfrm>
            <a:off x="6648450" y="0"/>
            <a:ext cx="2514600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4"/>
            <a:ext cx="19050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4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680D3-2722-408D-B66D-B6CE8EC46D2F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015" y="6376992"/>
            <a:ext cx="38369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A45D71-EED7-4F0B-940C-FDD304D9312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52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468313" y="547690"/>
            <a:ext cx="8496301" cy="1081088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68313" y="1700215"/>
            <a:ext cx="4038601" cy="410527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82686" y="6586220"/>
            <a:ext cx="155576" cy="165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04156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98990"/>
            <a:ext cx="4040188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  <a:lvl2pPr marL="0" indent="457200">
              <a:buClrTx/>
              <a:buSzTx/>
              <a:buNone/>
              <a:defRPr sz="2300" b="1" cap="all"/>
            </a:lvl2pPr>
            <a:lvl3pPr marL="0" indent="914400">
              <a:buClrTx/>
              <a:buSzTx/>
              <a:buNone/>
              <a:defRPr sz="2300" b="1" cap="all"/>
            </a:lvl3pPr>
            <a:lvl4pPr marL="0" indent="1371600">
              <a:buClrTx/>
              <a:buSzTx/>
              <a:buNone/>
              <a:defRPr sz="2300" b="1" cap="all"/>
            </a:lvl4pPr>
            <a:lvl5pPr marL="0" indent="1828800">
              <a:buClrTx/>
              <a:buSzTx/>
              <a:buNone/>
              <a:defRPr sz="2300" b="1" cap="all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9" y="1698990"/>
            <a:ext cx="4041776" cy="715356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2300" b="1" cap="all"/>
            </a:lvl1pPr>
          </a:lstStyle>
          <a:p>
            <a:pPr marL="0" indent="0">
              <a:buClrTx/>
              <a:buSzTx/>
              <a:buNone/>
              <a:defRPr sz="2300" b="1" cap="all"/>
            </a:pPr>
            <a:endParaRPr/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7404641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1_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547690"/>
            <a:ext cx="8496300" cy="1081087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68313" y="1700215"/>
            <a:ext cx="4038600" cy="41052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59313" y="1700215"/>
            <a:ext cx="4038600" cy="1976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59313" y="3829050"/>
            <a:ext cx="4038600" cy="1976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04397" y="6476999"/>
            <a:ext cx="733864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013AA-615C-4E61-8035-811E7FE68EA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640597" y="6476999"/>
            <a:ext cx="5507719" cy="27432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753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6688"/>
            <a:ext cx="9144000" cy="4445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Rectangle 6"/>
          <p:cNvSpPr/>
          <p:nvPr/>
        </p:nvSpPr>
        <p:spPr bwMode="ltGray">
          <a:xfrm>
            <a:off x="0" y="4"/>
            <a:ext cx="9144000" cy="143351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095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74825"/>
            <a:ext cx="82296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4864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274638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E640C10F-0C3D-41AE-AFAF-A738F58C9068}" type="datetimeFigureOut">
              <a:rPr lang="en-US"/>
              <a:pPr>
                <a:defRPr/>
              </a:pPr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015" y="6477000"/>
            <a:ext cx="5508625" cy="274638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900">
                <a:solidFill>
                  <a:schemeClr val="tx1">
                    <a:tint val="95000"/>
                  </a:schemeClr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201" y="6477000"/>
            <a:ext cx="733425" cy="274638"/>
          </a:xfrm>
          <a:prstGeom prst="rect">
            <a:avLst/>
          </a:prstGeom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3F3F3F"/>
                </a:solidFill>
                <a:latin typeface="Garamond" panose="02020404030301010803" pitchFamily="18" charset="0"/>
              </a:defRPr>
            </a:lvl1pPr>
          </a:lstStyle>
          <a:p>
            <a:fld id="{256C581C-F1CE-4791-99FB-EA92AFBA400F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Object 3" descr="Object 3">
            <a:extLst>
              <a:ext uri="{FF2B5EF4-FFF2-40B4-BE49-F238E27FC236}">
                <a16:creationId xmlns:a16="http://schemas.microsoft.com/office/drawing/2014/main" id="{4DEEEED9-23A5-D54C-AD54-286D29959C6E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" y="6125312"/>
            <a:ext cx="1162878" cy="7326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474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375" b="0" kern="1200">
          <a:solidFill>
            <a:srgbClr val="DDDDDD"/>
          </a:solidFill>
          <a:latin typeface="Helvetica" pitchFamily="2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75" b="1">
          <a:solidFill>
            <a:srgbClr val="DDDDDD"/>
          </a:solidFill>
          <a:latin typeface="Garamond" panose="02020404030301010803" pitchFamily="18" charset="0"/>
        </a:defRPr>
      </a:lvl9pPr>
      <a:extLst/>
    </p:titleStyle>
    <p:bodyStyle>
      <a:lvl1pPr marL="328613" indent="-239316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80000"/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1pPr>
      <a:lvl2pPr marL="547688" indent="-2047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2pPr>
      <a:lvl3pPr marL="746522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3pPr>
      <a:lvl4pPr marL="912019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4pPr>
      <a:lvl5pPr marL="1069181" indent="-136922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lang="en-US" sz="1500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Arial" panose="020B0604020202020204" pitchFamily="34" charset="0"/>
        </a:defRPr>
      </a:lvl5pPr>
      <a:lvl6pPr marL="1220724" indent="-13716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1522476" indent="-13716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1673352" indent="-13716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35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sa5OBhXz-Q?feature=oembed" TargetMode="External"/><Relationship Id="rId4" Type="http://schemas.openxmlformats.org/officeDocument/2006/relationships/image" Target="../media/image2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FE18-F19C-1D49-BB16-F0C4CB59F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20132" y="3429000"/>
            <a:ext cx="9728200" cy="477843"/>
          </a:xfrm>
        </p:spPr>
        <p:txBody>
          <a:bodyPr vert="horz" lIns="68580" tIns="34290" rIns="68580" bIns="34290" rtlCol="0" anchor="ctr">
            <a:no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algn="ctr"/>
            <a:r>
              <a:rPr lang="en-US" sz="4800" dirty="0">
                <a:solidFill>
                  <a:srgbClr val="FFFFFF"/>
                </a:solidFill>
              </a:rPr>
              <a:t>The Maths of Predators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and Preys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Don’t get Eaten by the Wolf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3F27-89E2-C645-B0AC-D3A85B9A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8531" y="5341215"/>
            <a:ext cx="7006939" cy="1319049"/>
          </a:xfrm>
        </p:spPr>
        <p:txBody>
          <a:bodyPr vert="horz" wrap="square" lIns="68580" tIns="34290" rIns="68580" bIns="3429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800" b="1" dirty="0"/>
              <a:t>Dr John Butler</a:t>
            </a:r>
            <a:br>
              <a:rPr lang="en-US" sz="1800" dirty="0"/>
            </a:br>
            <a:r>
              <a:rPr lang="en-US" sz="1800" dirty="0"/>
              <a:t>TU Dublin (Lecturer in Mathematics and Statistics)</a:t>
            </a:r>
          </a:p>
        </p:txBody>
      </p:sp>
      <p:pic>
        <p:nvPicPr>
          <p:cNvPr id="1026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8EA8EF4B-38C1-12AA-5B9C-BC874368FE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r="18587"/>
          <a:stretch/>
        </p:blipFill>
        <p:spPr bwMode="auto">
          <a:xfrm>
            <a:off x="3356682" y="78466"/>
            <a:ext cx="2430636" cy="262430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395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7AA9F-142D-B6C1-0D5D-0FB58A1AA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4E9E8C-A333-0BFD-9E11-49302257A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Picture 4" descr="A cartoon of a child pointing at a window&#10;&#10;Description automatically generated">
            <a:extLst>
              <a:ext uri="{FF2B5EF4-FFF2-40B4-BE49-F238E27FC236}">
                <a16:creationId xmlns:a16="http://schemas.microsoft.com/office/drawing/2014/main" id="{2079A022-8852-B596-972B-300B8FAC4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13"/>
          <a:stretch/>
        </p:blipFill>
        <p:spPr>
          <a:xfrm>
            <a:off x="390053" y="0"/>
            <a:ext cx="8332532" cy="68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75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F6759-B149-0788-D612-205D38BA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46425-DD43-6EF1-4A49-48080C2C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Hares and Lynx</a:t>
            </a:r>
          </a:p>
        </p:txBody>
      </p:sp>
      <p:pic>
        <p:nvPicPr>
          <p:cNvPr id="4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3D292AEE-27F0-D072-5DE2-E2DDB6E12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5267745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C28B1D49-E754-8FAC-66EB-BBA4C6EB51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>
            <a:off x="995908" y="3252924"/>
            <a:ext cx="2880000" cy="28800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112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57F8-4A03-ED75-7A24-56D02CA21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Prey Hares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D365144F-FB40-5B89-35D5-96C5BFD17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32"/>
          <a:stretch/>
        </p:blipFill>
        <p:spPr>
          <a:xfrm>
            <a:off x="782430" y="2901829"/>
            <a:ext cx="7797800" cy="2340045"/>
          </a:xfrm>
        </p:spPr>
      </p:pic>
    </p:spTree>
    <p:extLst>
      <p:ext uri="{BB962C8B-B14F-4D97-AF65-F5344CB8AC3E}">
        <p14:creationId xmlns:p14="http://schemas.microsoft.com/office/powerpoint/2010/main" val="367798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0DE13-1922-4A46-A515-0EFE4AF6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46BBF-8F2C-52D9-987E-CCE90333E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E433C73E-0EFD-2F56-A34F-30E7EDB61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31"/>
          <a:stretch/>
        </p:blipFill>
        <p:spPr>
          <a:xfrm>
            <a:off x="673100" y="2484783"/>
            <a:ext cx="7797800" cy="2226434"/>
          </a:xfrm>
        </p:spPr>
      </p:pic>
    </p:spTree>
    <p:extLst>
      <p:ext uri="{BB962C8B-B14F-4D97-AF65-F5344CB8AC3E}">
        <p14:creationId xmlns:p14="http://schemas.microsoft.com/office/powerpoint/2010/main" val="509603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D800D-44C3-2C9B-B483-F536BCEE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AAA71-7A48-09C6-7494-4078DF23B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2BDAD3E4-E7FA-48F0-38CB-8CB2D1985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6"/>
          <a:stretch/>
        </p:blipFill>
        <p:spPr>
          <a:xfrm>
            <a:off x="673100" y="1709531"/>
            <a:ext cx="7797800" cy="4424970"/>
          </a:xfrm>
        </p:spPr>
      </p:pic>
    </p:spTree>
    <p:extLst>
      <p:ext uri="{BB962C8B-B14F-4D97-AF65-F5344CB8AC3E}">
        <p14:creationId xmlns:p14="http://schemas.microsoft.com/office/powerpoint/2010/main" val="337974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3B45-47C3-C12B-9C95-EA60B5DD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Mathematics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D882-0A59-D117-483F-AE26EF84C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6006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6666-C2A5-CE9A-7148-A4E40E186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71C6C-C005-E03F-3F82-86559D571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How to we make a model for a Hare population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641B23-26DF-B9F8-84FF-AE875949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pic>
        <p:nvPicPr>
          <p:cNvPr id="3" name="Picture 2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BB997160-1C5F-619B-8C22-94DAB7F6B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93" y="2719060"/>
            <a:ext cx="2569306" cy="1419880"/>
          </a:xfrm>
          <a:prstGeom prst="rect">
            <a:avLst/>
          </a:prstGeom>
        </p:spPr>
      </p:pic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EBD15D62-E5AC-565C-5A2E-9DA19CEAC1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337" y="4555991"/>
            <a:ext cx="2051458" cy="1145094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494AFF25-3640-2D4A-05AC-0712EAC3AF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10" t="3656" r="1669" b="50000"/>
          <a:stretch/>
        </p:blipFill>
        <p:spPr bwMode="auto">
          <a:xfrm>
            <a:off x="530308" y="4176239"/>
            <a:ext cx="1923576" cy="192357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975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3BB8F-D270-8B57-B3A8-C1D9D8E1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D975A9BD-564D-2434-3919-C05A10F7A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>
          <a:xfrm>
            <a:off x="801364" y="2250549"/>
            <a:ext cx="7541272" cy="3299460"/>
          </a:xfrm>
        </p:spPr>
      </p:pic>
      <p:pic>
        <p:nvPicPr>
          <p:cNvPr id="3" name="Picture 2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DD2C7DCA-61C5-2987-F972-BD74D0977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4" name="Picture 3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E326D00-A86F-F97F-254E-FF3D514FAE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0321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AD0D-8FDD-E790-C32C-0BA46975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89653DB-747D-88AC-2856-15E0B8029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04993"/>
              </p:ext>
            </p:extLst>
          </p:nvPr>
        </p:nvGraphicFramePr>
        <p:xfrm>
          <a:off x="1690687" y="430090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F424497C-A2E3-CB4B-5798-CC0C27BBF7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3" t="14675" b="59628"/>
          <a:stretch/>
        </p:blipFill>
        <p:spPr bwMode="auto">
          <a:xfrm>
            <a:off x="1476001" y="1526982"/>
            <a:ext cx="6068563" cy="2655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5424CEED-CCC5-5117-BAE1-CE5E7BB05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7" name="Picture 6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BD2D8C29-FD43-6A4B-E9C9-482974DE9C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89182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D8856-7D97-2D84-F320-36546E05B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1EFA-8204-21E9-1A63-43DD4BFC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4CFD1-242F-DCFB-BE1F-CF18F9B92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153058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60+0.2(60)=72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6" name="Picture 5" descr="A graph with green dot&#10;&#10;Description automatically generated">
            <a:extLst>
              <a:ext uri="{FF2B5EF4-FFF2-40B4-BE49-F238E27FC236}">
                <a16:creationId xmlns:a16="http://schemas.microsoft.com/office/drawing/2014/main" id="{03209209-76F6-3E06-10AB-B93CACBEC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285785F9-98B3-A81B-AF43-BDD5F6759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957E470-6EAA-272F-E6F3-778D13E810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84745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03424-5BD2-344B-0C4C-80BC7735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BC934-2A36-D80C-B585-31C84F836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1F9CE1-EBFA-DF9A-1172-C7661E731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850093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72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86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103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5" name="Picture 4" descr="A graph with green dots&#10;&#10;Description automatically generated">
            <a:extLst>
              <a:ext uri="{FF2B5EF4-FFF2-40B4-BE49-F238E27FC236}">
                <a16:creationId xmlns:a16="http://schemas.microsoft.com/office/drawing/2014/main" id="{BAB4FAEC-873F-7C2B-F70A-9B05BB91F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3200400"/>
            <a:ext cx="5486400" cy="3657600"/>
          </a:xfrm>
          <a:prstGeom prst="rect">
            <a:avLst/>
          </a:prstGeom>
        </p:spPr>
      </p:pic>
      <p:pic>
        <p:nvPicPr>
          <p:cNvPr id="7" name="Picture 6" descr="A diagram of a circle with a circle and a circle with a circle with a circle with a circle with a circle with a circle with a circle with a circle with a circle with a circle with&#10;&#10;Description automatically generated">
            <a:extLst>
              <a:ext uri="{FF2B5EF4-FFF2-40B4-BE49-F238E27FC236}">
                <a16:creationId xmlns:a16="http://schemas.microsoft.com/office/drawing/2014/main" id="{86B386FE-AF6C-A9DE-476D-E551E2717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710" y="1498248"/>
            <a:ext cx="1820290" cy="1005950"/>
          </a:xfrm>
          <a:prstGeom prst="rect">
            <a:avLst/>
          </a:prstGeom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F24BBE17-C319-AD9D-5886-002EE841D1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5324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49B85-B352-00C0-F20D-F5AC324A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29D7-7FA5-51BD-3D82-E8835E1B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Hare Population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C4F8E45B-877D-F513-61AF-2889A53BC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64" b="47890"/>
          <a:stretch/>
        </p:blipFill>
        <p:spPr>
          <a:xfrm>
            <a:off x="1113209" y="2118356"/>
            <a:ext cx="7086574" cy="3656280"/>
          </a:xfrm>
        </p:spPr>
      </p:pic>
      <p:pic>
        <p:nvPicPr>
          <p:cNvPr id="3" name="Picture 2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8FAF8B86-DCC9-0843-36CC-FA3A8944D6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230" y="232632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6795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0BF2-096C-6BAF-32AC-2666F1FC8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C155B-4ACD-D1DB-DC4E-56FA8EDF1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How to we make a model for a Lynx population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8CE3C-8DC7-B7FF-1A8F-82AE0B4D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5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E4E1FB37-6B86-31DC-CA55-18CB4312FFF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3316679" y="2268104"/>
            <a:ext cx="2242694" cy="12940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888D793E-5E66-FE86-1DC0-3F893D4775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5636670" y="4300853"/>
            <a:ext cx="1901167" cy="1268086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Content Placeholder 7" descr="A collage of graphs and diagrams&#10;&#10;Description automatically generated">
            <a:extLst>
              <a:ext uri="{FF2B5EF4-FFF2-40B4-BE49-F238E27FC236}">
                <a16:creationId xmlns:a16="http://schemas.microsoft.com/office/drawing/2014/main" id="{76C326CB-FADF-B1D6-C9EF-B8551ADA99E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87" t="39961" b="2047"/>
          <a:stretch/>
        </p:blipFill>
        <p:spPr bwMode="auto">
          <a:xfrm flipH="1">
            <a:off x="1228222" y="3707352"/>
            <a:ext cx="2242694" cy="2242694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096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F054-A63E-41EA-E40F-73B8E4B9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E6127-A2DA-E3DB-7F27-BB7FDDCD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4" name="Picture 3" descr="A screenshot of a diagram&#10;&#10;Description automatically generated">
            <a:extLst>
              <a:ext uri="{FF2B5EF4-FFF2-40B4-BE49-F238E27FC236}">
                <a16:creationId xmlns:a16="http://schemas.microsoft.com/office/drawing/2014/main" id="{FF229B88-0215-C181-AE7E-43F03771C74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14765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5DD19-0574-ED3B-9CF4-91C9B4E4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7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494364" y="2051437"/>
            <a:ext cx="6234304" cy="2790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C6ED3A7A-F1DE-2D1E-B787-6D4D712615B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52969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57EEE-EB17-314F-237C-417568E5A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87284-16FA-71CB-3D3F-0CB52DEB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48E5DC-B193-1C56-B73F-627B4006D5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686468"/>
              </p:ext>
            </p:extLst>
          </p:nvPr>
        </p:nvGraphicFramePr>
        <p:xfrm>
          <a:off x="1690687" y="430090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Content Placeholder 4" descr="A screenshot of a graph&#10;&#10;Description automatically generated">
            <a:extLst>
              <a:ext uri="{FF2B5EF4-FFF2-40B4-BE49-F238E27FC236}">
                <a16:creationId xmlns:a16="http://schemas.microsoft.com/office/drawing/2014/main" id="{6282FBC5-6BB6-A5F2-523A-D465FB34C1D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8" t="15497" r="7152" b="61936"/>
          <a:stretch/>
        </p:blipFill>
        <p:spPr bwMode="auto">
          <a:xfrm>
            <a:off x="1529890" y="1645921"/>
            <a:ext cx="6037833" cy="270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diagram&#10;&#10;Description automatically generated">
            <a:extLst>
              <a:ext uri="{FF2B5EF4-FFF2-40B4-BE49-F238E27FC236}">
                <a16:creationId xmlns:a16="http://schemas.microsoft.com/office/drawing/2014/main" id="{982B0169-FA30-4362-CFD9-770599E012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530667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line drawing of a cat&#10;&#10;Description automatically generated">
            <a:extLst>
              <a:ext uri="{FF2B5EF4-FFF2-40B4-BE49-F238E27FC236}">
                <a16:creationId xmlns:a16="http://schemas.microsoft.com/office/drawing/2014/main" id="{B81D0C9C-E5FE-44F4-5689-406DA6F1B08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54045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17B7-549D-9C62-4928-A5B01278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A876-66EA-3B4C-2059-F92AA78C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7E7C2A-1117-DE36-09C7-96F02400DD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4193623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0A185FE9-55AA-1AB2-E020-3E5C6D3BFC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A779BC4D-F522-4C23-A500-7AA343DD9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4275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73143CE-B89B-248D-B06B-49BB8B3810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69598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F798A-A789-31F4-C611-7AF498B0A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EBEEE-6D6A-C71A-B593-6FEBA059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6AFD4D-EC94-71E6-29FE-0E3A204449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7224353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200" kern="1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30-0.1*30=27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80B33759-A685-2D76-26B9-BE466040A4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numbers and a red dot&#10;&#10;Description automatically generated">
            <a:extLst>
              <a:ext uri="{FF2B5EF4-FFF2-40B4-BE49-F238E27FC236}">
                <a16:creationId xmlns:a16="http://schemas.microsoft.com/office/drawing/2014/main" id="{5F7D558E-9D24-7F9E-7880-218560245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4275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7717374E-33FD-4064-4DDB-21077AF2689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03474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6C9E-F49C-D9EC-9B3A-5FC939DF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14-B58E-F37F-6C31-7CD70B64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2A7E70-9D31-97B4-4897-6FAA7BFDC1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952577"/>
              </p:ext>
            </p:extLst>
          </p:nvPr>
        </p:nvGraphicFramePr>
        <p:xfrm>
          <a:off x="1690687" y="1804198"/>
          <a:ext cx="5762625" cy="121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0528">
                  <a:extLst>
                    <a:ext uri="{9D8B030D-6E8A-4147-A177-3AD203B41FA5}">
                      <a16:colId xmlns:a16="http://schemas.microsoft.com/office/drawing/2014/main" val="2507504743"/>
                    </a:ext>
                  </a:extLst>
                </a:gridCol>
                <a:gridCol w="4952097">
                  <a:extLst>
                    <a:ext uri="{9D8B030D-6E8A-4147-A177-3AD203B41FA5}">
                      <a16:colId xmlns:a16="http://schemas.microsoft.com/office/drawing/2014/main" val="2308213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344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30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7124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27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430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24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31200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IE" sz="16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2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6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22</a:t>
                      </a:r>
                      <a:endParaRPr lang="en-IE" sz="12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7557978"/>
                  </a:ext>
                </a:extLst>
              </a:tr>
            </a:tbl>
          </a:graphicData>
        </a:graphic>
      </p:graphicFrame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89B17BE8-4597-ABAA-7C08-36B8D0137B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0" t="51216" r="50614" b="37028"/>
          <a:stretch/>
        </p:blipFill>
        <p:spPr bwMode="auto">
          <a:xfrm>
            <a:off x="7635240" y="1610180"/>
            <a:ext cx="1508760" cy="870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graph with red dots and numbers&#10;&#10;Description automatically generated">
            <a:extLst>
              <a:ext uri="{FF2B5EF4-FFF2-40B4-BE49-F238E27FC236}">
                <a16:creationId xmlns:a16="http://schemas.microsoft.com/office/drawing/2014/main" id="{0DDC80EC-B7CE-BB40-17CE-1E0AE73B2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110944"/>
            <a:ext cx="5486400" cy="3657600"/>
          </a:xfrm>
          <a:prstGeom prst="rect">
            <a:avLst/>
          </a:prstGeom>
        </p:spPr>
      </p:pic>
      <p:pic>
        <p:nvPicPr>
          <p:cNvPr id="9" name="Picture 8" descr="A line drawing of a cat&#10;&#10;Description automatically generated">
            <a:extLst>
              <a:ext uri="{FF2B5EF4-FFF2-40B4-BE49-F238E27FC236}">
                <a16:creationId xmlns:a16="http://schemas.microsoft.com/office/drawing/2014/main" id="{49F81492-3E18-5070-15BC-C0622FCA661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92887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41FF-60D5-D60C-1365-FE413DFD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5137-ABC4-39A8-F54A-8882972B4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Lynx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D499528C-FC25-31DC-637A-044B0E495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46413"/>
          <a:stretch/>
        </p:blipFill>
        <p:spPr>
          <a:xfrm>
            <a:off x="838072" y="2037523"/>
            <a:ext cx="7252380" cy="3796748"/>
          </a:xfrm>
        </p:spPr>
      </p:pic>
      <p:pic>
        <p:nvPicPr>
          <p:cNvPr id="3" name="Picture 2" descr="A line drawing of a cat&#10;&#10;Description automatically generated">
            <a:extLst>
              <a:ext uri="{FF2B5EF4-FFF2-40B4-BE49-F238E27FC236}">
                <a16:creationId xmlns:a16="http://schemas.microsoft.com/office/drawing/2014/main" id="{D88C3D36-EE56-BF9E-329B-7C88DEA0A3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7575992" y="275390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05421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B7CA-FD68-6F23-272A-39E1FB89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95306-075D-5AE5-362B-5353D8D43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51894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DD11-91B9-82A2-C5DB-BDAD0996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0E286-5F97-599B-FA7C-150E6819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screenshot of a diagram&#10;&#10;Description automatically generated">
            <a:extLst>
              <a:ext uri="{FF2B5EF4-FFF2-40B4-BE49-F238E27FC236}">
                <a16:creationId xmlns:a16="http://schemas.microsoft.com/office/drawing/2014/main" id="{37118A55-DCFE-162C-CEB7-C142586AD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92" t="71435" r="25385" b="14363"/>
          <a:stretch/>
        </p:blipFill>
        <p:spPr bwMode="auto">
          <a:xfrm>
            <a:off x="1037396" y="2782957"/>
            <a:ext cx="7069208" cy="25364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B41FE764-1696-21CE-AB64-013F8567FE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5063380" y="196106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AD6AE2CD-0B4D-1FFF-CE74-8EEABE48CD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810" y="2027265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15889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4E838-62DA-73AB-0312-7700D1E6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87E158-CBCC-49AA-A893-B686657F6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0" t="15131" r="15032" b="59481"/>
          <a:stretch/>
        </p:blipFill>
        <p:spPr>
          <a:xfrm>
            <a:off x="1191236" y="1500755"/>
            <a:ext cx="6459524" cy="2699506"/>
          </a:xfrm>
        </p:spPr>
      </p:pic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0B2E5AC9-CBA4-69A0-211D-E32249CFED8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" t="15353" r="14402" b="61841"/>
          <a:stretch/>
        </p:blipFill>
        <p:spPr bwMode="auto">
          <a:xfrm>
            <a:off x="1305754" y="4025574"/>
            <a:ext cx="6532492" cy="25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42FAA1C1-CA01-FF16-411E-71F9115FA5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4E477D1E-3029-0E2C-B3AE-782C08C370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07893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A230-73FA-9ED0-E508-0E3258DC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961E-BD55-74E3-F0B4-78A173C9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7" name="Picture 6" descr="A line drawing of a cat&#10;&#10;Description automatically generated">
            <a:extLst>
              <a:ext uri="{FF2B5EF4-FFF2-40B4-BE49-F238E27FC236}">
                <a16:creationId xmlns:a16="http://schemas.microsoft.com/office/drawing/2014/main" id="{662007A1-CFD8-004B-7A97-D5B040C231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" t="24076" r="9787" b="18710"/>
          <a:stretch/>
        </p:blipFill>
        <p:spPr bwMode="auto">
          <a:xfrm flipH="1">
            <a:off x="316452" y="4374947"/>
            <a:ext cx="1365250" cy="910627"/>
          </a:xfrm>
          <a:prstGeom prst="rect">
            <a:avLst/>
          </a:prstGeom>
          <a:solidFill>
            <a:schemeClr val="bg1"/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 descr="A black and white image of a cat&#10;&#10;Description automatically generated">
            <a:extLst>
              <a:ext uri="{FF2B5EF4-FFF2-40B4-BE49-F238E27FC236}">
                <a16:creationId xmlns:a16="http://schemas.microsoft.com/office/drawing/2014/main" id="{9E73B857-4201-7EEA-467F-49BBF0880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52" y="1697759"/>
            <a:ext cx="1512811" cy="844429"/>
          </a:xfrm>
          <a:prstGeom prst="rect">
            <a:avLst/>
          </a:prstGeom>
          <a:solidFill>
            <a:schemeClr val="bg1"/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FB2C0C-7AB1-2372-BE88-21B1F0EC09B4}"/>
              </a:ext>
            </a:extLst>
          </p:cNvPr>
          <p:cNvSpPr txBox="1"/>
          <p:nvPr/>
        </p:nvSpPr>
        <p:spPr>
          <a:xfrm>
            <a:off x="2005071" y="1766030"/>
            <a:ext cx="73262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H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40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A304BC-A02C-4FC5-1A21-02D82D16FB82}"/>
              </a:ext>
            </a:extLst>
          </p:cNvPr>
          <p:cNvSpPr txBox="1"/>
          <p:nvPr/>
        </p:nvSpPr>
        <p:spPr>
          <a:xfrm>
            <a:off x="2005071" y="4476317"/>
            <a:ext cx="70067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4000" b="1" kern="100" dirty="0" err="1">
                <a:latin typeface="Helvetica" pitchFamily="2" charset="0"/>
              </a:rPr>
              <a:t>L</a:t>
            </a:r>
            <a:r>
              <a:rPr lang="en-IE" sz="4000" b="1" kern="100" baseline="-25000" dirty="0" err="1">
                <a:latin typeface="Helvetica" pitchFamily="2" charset="0"/>
              </a:rPr>
              <a:t>Future</a:t>
            </a:r>
            <a:r>
              <a:rPr lang="en-IE" sz="4000" kern="100" dirty="0">
                <a:latin typeface="Helvetica" pitchFamily="2" charset="0"/>
              </a:rPr>
              <a:t>= 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40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40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40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40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082395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23B2-C89E-64FD-0C50-164965C77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9FB7-FAE2-3342-307E-2195D15D5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61452E-37D4-0F9D-AAFA-E09B436D1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455113"/>
              </p:ext>
            </p:extLst>
          </p:nvPr>
        </p:nvGraphicFramePr>
        <p:xfrm>
          <a:off x="679836" y="2708808"/>
          <a:ext cx="7784327" cy="2693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785150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176730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8AAD9E8-C5DB-0938-2AD5-1A3F57788DA2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A5D3A-DE1C-B489-D7FD-727A039BE527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66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CABFC-A61A-813B-6DDC-229E2F9A9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A94A-A199-C170-4D6E-4A923E57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E73F52-2DEA-BC7A-ACAB-15A7DD6773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864296"/>
              </p:ext>
            </p:extLst>
          </p:nvPr>
        </p:nvGraphicFramePr>
        <p:xfrm>
          <a:off x="55084" y="2796944"/>
          <a:ext cx="9033832" cy="2703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91478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4204636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4137718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Year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Hare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Lynx Population</a:t>
                      </a:r>
                      <a:b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</a:b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endParaRPr lang="en-IE" sz="1800" b="1" u="none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60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30.6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538736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)-</a:t>
                      </a:r>
                      <a:r>
                        <a:rPr lang="en-IE" sz="1800" u="none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0.005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u="none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u="none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68.8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 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-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0.1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)+</a:t>
                      </a:r>
                      <a:r>
                        <a:rPr lang="en-IE" sz="1800" kern="100" dirty="0">
                          <a:solidFill>
                            <a:srgbClr val="00B0F0"/>
                          </a:solidFill>
                          <a:effectLst/>
                          <a:latin typeface="Helvetica" pitchFamily="2" charset="0"/>
                        </a:rPr>
                        <a:t>0.002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(</a:t>
                      </a:r>
                      <a:r>
                        <a:rPr lang="en-IE" sz="1800" kern="100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31.3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)(</a:t>
                      </a:r>
                      <a:r>
                        <a:rPr lang="en-IE" sz="1800" kern="100" dirty="0">
                          <a:solidFill>
                            <a:srgbClr val="92D050"/>
                          </a:solidFill>
                          <a:effectLst/>
                          <a:latin typeface="Helvetica" pitchFamily="2" charset="0"/>
                        </a:rPr>
                        <a:t>65.9</a:t>
                      </a:r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)=</a:t>
                      </a:r>
                      <a:r>
                        <a:rPr lang="en-IE" sz="1800" b="1" kern="1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</a:rPr>
                        <a:t>32.4</a:t>
                      </a:r>
                      <a:endParaRPr lang="en-IE" sz="1800" b="1" kern="1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08AFABF-FBE9-3201-5C1F-FB47D3F0343E}"/>
              </a:ext>
            </a:extLst>
          </p:cNvPr>
          <p:cNvSpPr txBox="1"/>
          <p:nvPr/>
        </p:nvSpPr>
        <p:spPr>
          <a:xfrm>
            <a:off x="683811" y="1634397"/>
            <a:ext cx="3403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H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)-</a:t>
            </a:r>
            <a:r>
              <a:rPr lang="en-IE" sz="1800" u="none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0.005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u="none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u="none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u="none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4C1BB-7402-330E-04E7-FEE03F34352C}"/>
              </a:ext>
            </a:extLst>
          </p:cNvPr>
          <p:cNvSpPr txBox="1"/>
          <p:nvPr/>
        </p:nvSpPr>
        <p:spPr>
          <a:xfrm>
            <a:off x="5453351" y="1634397"/>
            <a:ext cx="34034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b="1" kern="100" dirty="0" err="1">
                <a:latin typeface="Helvetica" pitchFamily="2" charset="0"/>
              </a:rPr>
              <a:t>L</a:t>
            </a:r>
            <a:r>
              <a:rPr lang="en-IE" b="1" kern="100" baseline="-25000" dirty="0" err="1">
                <a:latin typeface="Helvetica" pitchFamily="2" charset="0"/>
              </a:rPr>
              <a:t>Future</a:t>
            </a:r>
            <a:r>
              <a:rPr lang="en-IE" kern="100" dirty="0">
                <a:latin typeface="Helvetica" pitchFamily="2" charset="0"/>
              </a:rPr>
              <a:t>= 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-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0.1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)+</a:t>
            </a:r>
            <a:r>
              <a:rPr lang="en-IE" sz="1800" kern="100" dirty="0">
                <a:solidFill>
                  <a:srgbClr val="00B0F0"/>
                </a:solidFill>
                <a:effectLst/>
                <a:latin typeface="Helvetica" pitchFamily="2" charset="0"/>
              </a:rPr>
              <a:t>0.002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(</a:t>
            </a:r>
            <a:r>
              <a:rPr lang="en-IE" sz="1800" kern="100" dirty="0">
                <a:solidFill>
                  <a:srgbClr val="FF0000"/>
                </a:solidFill>
                <a:effectLst/>
                <a:latin typeface="Helvetica" pitchFamily="2" charset="0"/>
              </a:rPr>
              <a:t>L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)(</a:t>
            </a:r>
            <a:r>
              <a:rPr lang="en-IE" sz="1800" kern="100" dirty="0">
                <a:solidFill>
                  <a:srgbClr val="92D050"/>
                </a:solidFill>
                <a:effectLst/>
                <a:latin typeface="Helvetica" pitchFamily="2" charset="0"/>
              </a:rPr>
              <a:t>H</a:t>
            </a:r>
            <a:r>
              <a:rPr lang="en-IE" sz="1800" kern="100" dirty="0">
                <a:solidFill>
                  <a:schemeClr val="tx1"/>
                </a:solidFill>
                <a:effectLst/>
                <a:latin typeface="Helvetica" pitchFamily="2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6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044B6-2679-AC11-EE03-E484CE3D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A212-852B-3EDA-38EC-62A35CFD6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EC1F95-3DB8-0BCE-24F0-FFEA34651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941739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5" name="Picture 4" descr="A graph with red and green dots&#10;&#10;Description automatically generated">
            <a:extLst>
              <a:ext uri="{FF2B5EF4-FFF2-40B4-BE49-F238E27FC236}">
                <a16:creationId xmlns:a16="http://schemas.microsoft.com/office/drawing/2014/main" id="{918FBC5E-D1A8-AA9F-2E16-CB8345DAB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996" y="3200400"/>
            <a:ext cx="5486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08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B032-250A-9230-E80F-B3F9F225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AECE-9148-4D9C-FBD9-43A4A2B07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50BD2A-07E3-3382-50DD-D354E886D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036117"/>
              </p:ext>
            </p:extLst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A53B5B4E-4928-3354-F740-2D13BB9AD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759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1EB5-111E-0926-2BC3-0DDC44D3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7123-2838-2B61-267B-2145D453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AC7ABB-0D52-A20B-076B-F6A7550209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7057" y="1781092"/>
          <a:ext cx="7784327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2447">
                  <a:extLst>
                    <a:ext uri="{9D8B030D-6E8A-4147-A177-3AD203B41FA5}">
                      <a16:colId xmlns:a16="http://schemas.microsoft.com/office/drawing/2014/main" val="2207369774"/>
                    </a:ext>
                  </a:extLst>
                </a:gridCol>
                <a:gridCol w="3618357">
                  <a:extLst>
                    <a:ext uri="{9D8B030D-6E8A-4147-A177-3AD203B41FA5}">
                      <a16:colId xmlns:a16="http://schemas.microsoft.com/office/drawing/2014/main" val="3453499676"/>
                    </a:ext>
                  </a:extLst>
                </a:gridCol>
                <a:gridCol w="3343523">
                  <a:extLst>
                    <a:ext uri="{9D8B030D-6E8A-4147-A177-3AD203B41FA5}">
                      <a16:colId xmlns:a16="http://schemas.microsoft.com/office/drawing/2014/main" val="3021010827"/>
                    </a:ext>
                  </a:extLst>
                </a:gridCol>
              </a:tblGrid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Year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Hare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Lynx Population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601449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60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70276524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63</a:t>
                      </a:r>
                      <a:endParaRPr lang="en-IE" sz="1800" u="none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30.6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5398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IE" sz="1800" u="none" kern="100" dirty="0">
                          <a:solidFill>
                            <a:schemeClr val="tx1"/>
                          </a:solidFill>
                          <a:effectLst/>
                        </a:rPr>
                        <a:t>65.9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31.3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9268068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algn="r"/>
                      <a:r>
                        <a:rPr lang="en-IE" sz="1800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IE" sz="1800" kern="1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68.8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E" sz="1800" kern="100" dirty="0">
                          <a:solidFill>
                            <a:schemeClr val="tx1"/>
                          </a:solidFill>
                          <a:effectLst/>
                        </a:rPr>
                        <a:t> 32.4</a:t>
                      </a:r>
                      <a:endParaRPr lang="en-IE" sz="1800" kern="1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789269"/>
                  </a:ext>
                </a:extLst>
              </a:tr>
            </a:tbl>
          </a:graphicData>
        </a:graphic>
      </p:graphicFrame>
      <p:pic>
        <p:nvPicPr>
          <p:cNvPr id="6" name="Picture 5" descr="A graph of a number of animals&#10;&#10;Description automatically generated">
            <a:extLst>
              <a:ext uri="{FF2B5EF4-FFF2-40B4-BE49-F238E27FC236}">
                <a16:creationId xmlns:a16="http://schemas.microsoft.com/office/drawing/2014/main" id="{65847769-4736-2C13-F4AD-DC018589C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200400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95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F8DBA-8F66-8909-9F28-9E8346F1A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98D7-BAA1-FCC8-91B9-6388ADA4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8" name="Content Placeholder 7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8AC8C6F6-58D0-E1CA-9D29-A50D998B4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59012"/>
            <a:ext cx="5486400" cy="3657600"/>
          </a:xfrm>
        </p:spPr>
      </p:pic>
    </p:spTree>
    <p:extLst>
      <p:ext uri="{BB962C8B-B14F-4D97-AF65-F5344CB8AC3E}">
        <p14:creationId xmlns:p14="http://schemas.microsoft.com/office/powerpoint/2010/main" val="30389401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8438-B29D-4604-8E4C-C97C06FB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5" name="Content Placeholder 4" descr="A graph of a number of dots&#10;&#10;Description automatically generated">
            <a:extLst>
              <a:ext uri="{FF2B5EF4-FFF2-40B4-BE49-F238E27FC236}">
                <a16:creationId xmlns:a16="http://schemas.microsoft.com/office/drawing/2014/main" id="{539B5F7F-F65D-F547-7D51-4D4A91079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259012"/>
            <a:ext cx="3657600" cy="3657600"/>
          </a:xfrm>
        </p:spPr>
      </p:pic>
    </p:spTree>
    <p:extLst>
      <p:ext uri="{BB962C8B-B14F-4D97-AF65-F5344CB8AC3E}">
        <p14:creationId xmlns:p14="http://schemas.microsoft.com/office/powerpoint/2010/main" val="3030444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0EDE-7E46-85AF-30B0-2F437BC9D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0E5D-D955-BCDB-15E1-98F76068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</a:p>
        </p:txBody>
      </p:sp>
      <p:pic>
        <p:nvPicPr>
          <p:cNvPr id="5" name="Content Placeholder 4" descr="A group of white papers with yellow dots&#10;&#10;Description automatically generated">
            <a:extLst>
              <a:ext uri="{FF2B5EF4-FFF2-40B4-BE49-F238E27FC236}">
                <a16:creationId xmlns:a16="http://schemas.microsoft.com/office/drawing/2014/main" id="{2B3F86A0-27A9-94B8-70F5-0562E7004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624"/>
          <a:stretch/>
        </p:blipFill>
        <p:spPr>
          <a:xfrm>
            <a:off x="8459" y="2210463"/>
            <a:ext cx="9130331" cy="1979171"/>
          </a:xfrm>
        </p:spPr>
      </p:pic>
    </p:spTree>
    <p:extLst>
      <p:ext uri="{BB962C8B-B14F-4D97-AF65-F5344CB8AC3E}">
        <p14:creationId xmlns:p14="http://schemas.microsoft.com/office/powerpoint/2010/main" val="12554852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CEE7-0DF6-40B9-9E27-AD3711C1D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and Prey</a:t>
            </a:r>
            <a:endParaRPr lang="en-US" dirty="0"/>
          </a:p>
        </p:txBody>
      </p:sp>
      <p:pic>
        <p:nvPicPr>
          <p:cNvPr id="4" name="Hare_Lynx_oribt">
            <a:hlinkClick r:id="" action="ppaction://media"/>
            <a:extLst>
              <a:ext uri="{FF2B5EF4-FFF2-40B4-BE49-F238E27FC236}">
                <a16:creationId xmlns:a16="http://schemas.microsoft.com/office/drawing/2014/main" id="{AF2ACB25-19DE-4B93-87FB-B0EDA80A8D1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1725" y="1774825"/>
            <a:ext cx="6938963" cy="4625975"/>
          </a:xfrm>
        </p:spPr>
      </p:pic>
    </p:spTree>
    <p:extLst>
      <p:ext uri="{BB962C8B-B14F-4D97-AF65-F5344CB8AC3E}">
        <p14:creationId xmlns:p14="http://schemas.microsoft.com/office/powerpoint/2010/main" val="105043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2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D65D-01A6-5FB7-3624-3B95E911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DE602-305F-8DCE-561D-68FA9E64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Predator Prey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57B90-1031-0BAF-7975-3B1D81974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Deer, Plants and Wolves</a:t>
            </a:r>
          </a:p>
        </p:txBody>
      </p:sp>
      <p:pic>
        <p:nvPicPr>
          <p:cNvPr id="4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533DE9D0-F38E-8AF3-60E0-EF338FC40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3690" r="18587" b="3690"/>
          <a:stretch/>
        </p:blipFill>
        <p:spPr bwMode="auto">
          <a:xfrm>
            <a:off x="6189334" y="3727727"/>
            <a:ext cx="2520000" cy="2520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deer with antlers walking in grass&#10;&#10;Description automatically generated">
            <a:extLst>
              <a:ext uri="{FF2B5EF4-FFF2-40B4-BE49-F238E27FC236}">
                <a16:creationId xmlns:a16="http://schemas.microsoft.com/office/drawing/2014/main" id="{61199400-44FD-B14B-690E-F1806350B42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6" t="10150" r="38067" b="30382"/>
          <a:stretch/>
        </p:blipFill>
        <p:spPr>
          <a:xfrm>
            <a:off x="294267" y="3727727"/>
            <a:ext cx="2520000" cy="2520000"/>
          </a:xfrm>
          <a:prstGeom prst="ellipse">
            <a:avLst/>
          </a:prstGeom>
        </p:spPr>
      </p:pic>
      <p:pic>
        <p:nvPicPr>
          <p:cNvPr id="8" name="Picture 7" descr="A deer standing in the woods&#10;&#10;Description automatically generated">
            <a:extLst>
              <a:ext uri="{FF2B5EF4-FFF2-40B4-BE49-F238E27FC236}">
                <a16:creationId xmlns:a16="http://schemas.microsoft.com/office/drawing/2014/main" id="{A5BC6B5D-5EED-858F-641A-3D8558349B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33" r="12833"/>
          <a:stretch/>
        </p:blipFill>
        <p:spPr>
          <a:xfrm>
            <a:off x="3225524" y="3727727"/>
            <a:ext cx="2520000" cy="2520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425387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2F9E5-171C-40CA-8D46-A18DDBED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A2B71DA9-A03E-44CE-7081-3F4876A97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1910993" y="1662441"/>
            <a:ext cx="5630238" cy="45989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38549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8053-688D-E442-AAD4-95B2E02F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1F59C5-348D-7867-D05E-2DE6153C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570FE722-DA1C-F7BE-9DA6-1E189712B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1910993" y="1662441"/>
            <a:ext cx="5630238" cy="45989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 Box 47">
            <a:extLst>
              <a:ext uri="{FF2B5EF4-FFF2-40B4-BE49-F238E27FC236}">
                <a16:creationId xmlns:a16="http://schemas.microsoft.com/office/drawing/2014/main" id="{F032811D-329C-8C91-D699-F52E574B9B0E}"/>
              </a:ext>
            </a:extLst>
          </p:cNvPr>
          <p:cNvSpPr txBox="1"/>
          <p:nvPr/>
        </p:nvSpPr>
        <p:spPr>
          <a:xfrm>
            <a:off x="5045069" y="1809914"/>
            <a:ext cx="16859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Death rate Wolves</a:t>
            </a:r>
            <a:endParaRPr lang="en-US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 Box 47">
            <a:extLst>
              <a:ext uri="{FF2B5EF4-FFF2-40B4-BE49-F238E27FC236}">
                <a16:creationId xmlns:a16="http://schemas.microsoft.com/office/drawing/2014/main" id="{C4E2AAF5-8016-F5C5-2555-293F763AF0D7}"/>
              </a:ext>
            </a:extLst>
          </p:cNvPr>
          <p:cNvSpPr txBox="1"/>
          <p:nvPr/>
        </p:nvSpPr>
        <p:spPr>
          <a:xfrm>
            <a:off x="5555893" y="3657128"/>
            <a:ext cx="16859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Wolves eat Deer</a:t>
            </a:r>
            <a:endParaRPr lang="en-US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Box 47">
            <a:extLst>
              <a:ext uri="{FF2B5EF4-FFF2-40B4-BE49-F238E27FC236}">
                <a16:creationId xmlns:a16="http://schemas.microsoft.com/office/drawing/2014/main" id="{9FD34B66-CC3B-40E9-F4C6-22D63C5C95FB}"/>
              </a:ext>
            </a:extLst>
          </p:cNvPr>
          <p:cNvSpPr txBox="1"/>
          <p:nvPr/>
        </p:nvSpPr>
        <p:spPr>
          <a:xfrm>
            <a:off x="7458075" y="5221351"/>
            <a:ext cx="16859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Deer Born</a:t>
            </a:r>
            <a:endParaRPr lang="en-US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Box 47">
            <a:extLst>
              <a:ext uri="{FF2B5EF4-FFF2-40B4-BE49-F238E27FC236}">
                <a16:creationId xmlns:a16="http://schemas.microsoft.com/office/drawing/2014/main" id="{947668CE-AAB0-CB88-E0B0-FBBBAD858C5E}"/>
              </a:ext>
            </a:extLst>
          </p:cNvPr>
          <p:cNvSpPr txBox="1"/>
          <p:nvPr/>
        </p:nvSpPr>
        <p:spPr>
          <a:xfrm>
            <a:off x="491768" y="4976483"/>
            <a:ext cx="14192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More Plants Grow</a:t>
            </a:r>
            <a:endParaRPr lang="en-US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 Box 47">
            <a:extLst>
              <a:ext uri="{FF2B5EF4-FFF2-40B4-BE49-F238E27FC236}">
                <a16:creationId xmlns:a16="http://schemas.microsoft.com/office/drawing/2014/main" id="{DCB97035-C6FB-FD1C-5706-5FAFF5A99265}"/>
              </a:ext>
            </a:extLst>
          </p:cNvPr>
          <p:cNvSpPr txBox="1"/>
          <p:nvPr/>
        </p:nvSpPr>
        <p:spPr>
          <a:xfrm>
            <a:off x="2267199" y="3726868"/>
            <a:ext cx="1685925" cy="30480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buNone/>
            </a:pPr>
            <a:r>
              <a:rPr lang="en-IE" sz="12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Wolves project plants</a:t>
            </a:r>
            <a:endParaRPr lang="en-US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Box 47">
            <a:extLst>
              <a:ext uri="{FF2B5EF4-FFF2-40B4-BE49-F238E27FC236}">
                <a16:creationId xmlns:a16="http://schemas.microsoft.com/office/drawing/2014/main" id="{8EE23ACF-A765-A658-C530-AAE6BEFE82AD}"/>
              </a:ext>
            </a:extLst>
          </p:cNvPr>
          <p:cNvSpPr txBox="1"/>
          <p:nvPr/>
        </p:nvSpPr>
        <p:spPr>
          <a:xfrm>
            <a:off x="4270018" y="4216193"/>
            <a:ext cx="1285875" cy="27622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IE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Food for wolves</a:t>
            </a:r>
            <a:endParaRPr lang="en-US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 Box 47">
            <a:extLst>
              <a:ext uri="{FF2B5EF4-FFF2-40B4-BE49-F238E27FC236}">
                <a16:creationId xmlns:a16="http://schemas.microsoft.com/office/drawing/2014/main" id="{17D18E03-8D27-A87D-E33C-6ADF8970381F}"/>
              </a:ext>
            </a:extLst>
          </p:cNvPr>
          <p:cNvSpPr txBox="1"/>
          <p:nvPr/>
        </p:nvSpPr>
        <p:spPr>
          <a:xfrm>
            <a:off x="4083174" y="5676004"/>
            <a:ext cx="1285875" cy="27622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IE" sz="10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Deer eat plants</a:t>
            </a:r>
            <a:endParaRPr lang="en-US" sz="12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 Box 47">
            <a:extLst>
              <a:ext uri="{FF2B5EF4-FFF2-40B4-BE49-F238E27FC236}">
                <a16:creationId xmlns:a16="http://schemas.microsoft.com/office/drawing/2014/main" id="{C38E83A5-A3FA-C1EB-9C50-5F21D6C28C9D}"/>
              </a:ext>
            </a:extLst>
          </p:cNvPr>
          <p:cNvSpPr txBox="1"/>
          <p:nvPr/>
        </p:nvSpPr>
        <p:spPr>
          <a:xfrm>
            <a:off x="4083174" y="4838370"/>
            <a:ext cx="1285875" cy="276225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None/>
            </a:pPr>
            <a:r>
              <a:rPr lang="en-IE" sz="1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Food for Deer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8114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56170-43E2-C15C-66C7-20C716D5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8FF646-D3A9-18E0-CD88-41381127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0466E304-596F-E225-303A-E3869AFB5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7402536" y="1527446"/>
            <a:ext cx="1741464" cy="1422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Online Media 2" descr="How Wolves Change Rivers">
            <a:hlinkClick r:id="" action="ppaction://media"/>
            <a:extLst>
              <a:ext uri="{FF2B5EF4-FFF2-40B4-BE49-F238E27FC236}">
                <a16:creationId xmlns:a16="http://schemas.microsoft.com/office/drawing/2014/main" id="{F4AB3517-744C-283B-D0CF-7132FDDFD26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53588" y="1932167"/>
            <a:ext cx="6867674" cy="388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2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AFE37-B5FE-D581-6A76-277EB23B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B6DB50-2BA1-A315-B5A1-29BE5E462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8176584D-6770-415F-90C3-7B3F1C5D2D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3040453" y="1483370"/>
            <a:ext cx="3063094" cy="25020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71B332-038B-31E7-4227-EA3945343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737" y="3921252"/>
            <a:ext cx="5724525" cy="2781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85149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09F8-69F8-65B4-4DB3-5D4024EE7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698973-CDE4-A72E-D357-A5C8E300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Three Animals</a:t>
            </a:r>
          </a:p>
        </p:txBody>
      </p:sp>
      <p:pic>
        <p:nvPicPr>
          <p:cNvPr id="2" name="Content Placeholder 1" descr="A screenshot of a diagram&#10;&#10;Description automatically generated">
            <a:extLst>
              <a:ext uri="{FF2B5EF4-FFF2-40B4-BE49-F238E27FC236}">
                <a16:creationId xmlns:a16="http://schemas.microsoft.com/office/drawing/2014/main" id="{EA346839-84A3-11A7-55AA-05B316B41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2" t="16642" r="28894" b="54529"/>
          <a:stretch/>
        </p:blipFill>
        <p:spPr bwMode="auto">
          <a:xfrm>
            <a:off x="7095486" y="0"/>
            <a:ext cx="2048514" cy="167329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6DA8B5-B9BC-CAEF-3B01-B403229FB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33" y="2688799"/>
            <a:ext cx="5724525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diagram of a circle&#10;&#10;Description automatically generated">
            <a:extLst>
              <a:ext uri="{FF2B5EF4-FFF2-40B4-BE49-F238E27FC236}">
                <a16:creationId xmlns:a16="http://schemas.microsoft.com/office/drawing/2014/main" id="{452C5541-D631-FAF8-7B7D-395196652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321" y="2643079"/>
            <a:ext cx="3116679" cy="311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68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Thank you for Listening</a:t>
            </a:r>
            <a:endParaRPr dirty="0"/>
          </a:p>
        </p:txBody>
      </p:sp>
      <p:pic>
        <p:nvPicPr>
          <p:cNvPr id="411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950775"/>
            <a:ext cx="2914650" cy="1914527"/>
          </a:xfrm>
          <a:prstGeom prst="rect">
            <a:avLst/>
          </a:prstGeom>
          <a:ln w="12700">
            <a:miter lim="400000"/>
          </a:ln>
        </p:spPr>
      </p:pic>
      <p:pic>
        <p:nvPicPr>
          <p:cNvPr id="41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3" y="1950773"/>
            <a:ext cx="3003799" cy="1960814"/>
          </a:xfrm>
          <a:prstGeom prst="rect">
            <a:avLst/>
          </a:prstGeom>
          <a:ln w="12700">
            <a:miter lim="400000"/>
          </a:ln>
        </p:spPr>
      </p:pic>
      <p:pic>
        <p:nvPicPr>
          <p:cNvPr id="413" name="Picture 6" descr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075" y="3943350"/>
            <a:ext cx="2743200" cy="2057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 descr="Central Quad Grangegorman Campus / Feilden Clegg Bradley Studios | ArchDaily">
            <a:extLst>
              <a:ext uri="{FF2B5EF4-FFF2-40B4-BE49-F238E27FC236}">
                <a16:creationId xmlns:a16="http://schemas.microsoft.com/office/drawing/2014/main" id="{C4997F36-7E6B-344E-94A1-DFB7CE106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2" y="4014451"/>
            <a:ext cx="2941221" cy="196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D11653-09CF-479A-B5E6-DA1C8A2A2894}"/>
              </a:ext>
            </a:extLst>
          </p:cNvPr>
          <p:cNvSpPr/>
          <p:nvPr/>
        </p:nvSpPr>
        <p:spPr>
          <a:xfrm>
            <a:off x="1084668" y="1899699"/>
            <a:ext cx="53412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TCD</a:t>
            </a: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8D2E5-C8BA-4061-8B86-54193F42DFA6}"/>
              </a:ext>
            </a:extLst>
          </p:cNvPr>
          <p:cNvSpPr/>
          <p:nvPr/>
        </p:nvSpPr>
        <p:spPr>
          <a:xfrm>
            <a:off x="1123739" y="3962661"/>
            <a:ext cx="93166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TU Dublin</a:t>
            </a:r>
            <a:endParaRPr lang="en-US" sz="13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6D1713-5D9A-4878-A200-0B59DC3E763D}"/>
              </a:ext>
            </a:extLst>
          </p:cNvPr>
          <p:cNvSpPr/>
          <p:nvPr/>
        </p:nvSpPr>
        <p:spPr>
          <a:xfrm>
            <a:off x="5113477" y="3911587"/>
            <a:ext cx="229524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Max Planck Institute Germany</a:t>
            </a:r>
            <a:endParaRPr lang="en-US" sz="13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4F6C52-2B8B-4C4D-8FCE-12AEF01D7D10}"/>
              </a:ext>
            </a:extLst>
          </p:cNvPr>
          <p:cNvSpPr/>
          <p:nvPr/>
        </p:nvSpPr>
        <p:spPr>
          <a:xfrm>
            <a:off x="5113477" y="1950406"/>
            <a:ext cx="264970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350" dirty="0"/>
              <a:t>Albert Einstein College of Medicine</a:t>
            </a:r>
            <a:endParaRPr lang="en-US" sz="1350" dirty="0"/>
          </a:p>
        </p:txBody>
      </p:sp>
      <p:pic>
        <p:nvPicPr>
          <p:cNvPr id="3" name="Picture 2" descr="1,000+ Best Wolf Photos · 100% Free Download · Pexels Stock Photos">
            <a:extLst>
              <a:ext uri="{FF2B5EF4-FFF2-40B4-BE49-F238E27FC236}">
                <a16:creationId xmlns:a16="http://schemas.microsoft.com/office/drawing/2014/main" id="{0E96C6CA-9D74-FAC7-C754-2BCF589D4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1" t="23951" r="18587" b="23951"/>
          <a:stretch/>
        </p:blipFill>
        <p:spPr bwMode="auto">
          <a:xfrm>
            <a:off x="92000" y="1494451"/>
            <a:ext cx="8960000" cy="50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662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1_Modul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Latex lik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17004</TotalTime>
  <Words>466</Words>
  <Application>Microsoft Office PowerPoint</Application>
  <PresentationFormat>On-screen Show (4:3)</PresentationFormat>
  <Paragraphs>199</Paragraphs>
  <Slides>40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Arial</vt:lpstr>
      <vt:lpstr>Calibri</vt:lpstr>
      <vt:lpstr>Garamond</vt:lpstr>
      <vt:lpstr>Helvetica</vt:lpstr>
      <vt:lpstr>Helvetica Light</vt:lpstr>
      <vt:lpstr>Wingdings 2</vt:lpstr>
      <vt:lpstr>1_Module</vt:lpstr>
      <vt:lpstr>The Maths of Predators  and Preys Don’t get Eaten by the Wolf</vt:lpstr>
      <vt:lpstr>PowerPoint Presentation</vt:lpstr>
      <vt:lpstr>Predator Prey</vt:lpstr>
      <vt:lpstr>Prey Hares</vt:lpstr>
      <vt:lpstr>Predator</vt:lpstr>
      <vt:lpstr>Predator and Prey</vt:lpstr>
      <vt:lpstr>Mathematics</vt:lpstr>
      <vt:lpstr>Hares</vt:lpstr>
      <vt:lpstr>Hares</vt:lpstr>
      <vt:lpstr>Hares</vt:lpstr>
      <vt:lpstr>Hares</vt:lpstr>
      <vt:lpstr>Hares</vt:lpstr>
      <vt:lpstr>Hare Population</vt:lpstr>
      <vt:lpstr>Lynx</vt:lpstr>
      <vt:lpstr>Lynx</vt:lpstr>
      <vt:lpstr>Lynx</vt:lpstr>
      <vt:lpstr>Lynx</vt:lpstr>
      <vt:lpstr>Lynx</vt:lpstr>
      <vt:lpstr>Lynx</vt:lpstr>
      <vt:lpstr>Lynx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and Prey</vt:lpstr>
      <vt:lpstr>Predator Prey</vt:lpstr>
      <vt:lpstr>Three Animals</vt:lpstr>
      <vt:lpstr>Three Animals</vt:lpstr>
      <vt:lpstr>Three Animals</vt:lpstr>
      <vt:lpstr>Three Animals</vt:lpstr>
      <vt:lpstr>Three Animals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Study Walking</dc:title>
  <dc:creator>John Butler</dc:creator>
  <cp:lastModifiedBy>John Butler</cp:lastModifiedBy>
  <cp:revision>45</cp:revision>
  <dcterms:created xsi:type="dcterms:W3CDTF">2023-05-03T09:30:47Z</dcterms:created>
  <dcterms:modified xsi:type="dcterms:W3CDTF">2025-09-29T13:29:59Z</dcterms:modified>
</cp:coreProperties>
</file>