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5" r:id="rId1"/>
  </p:sldMasterIdLst>
  <p:notesMasterIdLst>
    <p:notesMasterId r:id="rId52"/>
  </p:notesMasterIdLst>
  <p:sldIdLst>
    <p:sldId id="279" r:id="rId2"/>
    <p:sldId id="791" r:id="rId3"/>
    <p:sldId id="766" r:id="rId4"/>
    <p:sldId id="753" r:id="rId5"/>
    <p:sldId id="768" r:id="rId6"/>
    <p:sldId id="789" r:id="rId7"/>
    <p:sldId id="798" r:id="rId8"/>
    <p:sldId id="773" r:id="rId9"/>
    <p:sldId id="795" r:id="rId10"/>
    <p:sldId id="757" r:id="rId11"/>
    <p:sldId id="774" r:id="rId12"/>
    <p:sldId id="775" r:id="rId13"/>
    <p:sldId id="799" r:id="rId14"/>
    <p:sldId id="800" r:id="rId15"/>
    <p:sldId id="776" r:id="rId16"/>
    <p:sldId id="801" r:id="rId17"/>
    <p:sldId id="770" r:id="rId18"/>
    <p:sldId id="796" r:id="rId19"/>
    <p:sldId id="777" r:id="rId20"/>
    <p:sldId id="778" r:id="rId21"/>
    <p:sldId id="792" r:id="rId22"/>
    <p:sldId id="802" r:id="rId23"/>
    <p:sldId id="803" r:id="rId24"/>
    <p:sldId id="804" r:id="rId25"/>
    <p:sldId id="780" r:id="rId26"/>
    <p:sldId id="805" r:id="rId27"/>
    <p:sldId id="760" r:id="rId28"/>
    <p:sldId id="781" r:id="rId29"/>
    <p:sldId id="782" r:id="rId30"/>
    <p:sldId id="808" r:id="rId31"/>
    <p:sldId id="756" r:id="rId32"/>
    <p:sldId id="797" r:id="rId33"/>
    <p:sldId id="769" r:id="rId34"/>
    <p:sldId id="783" r:id="rId35"/>
    <p:sldId id="806" r:id="rId36"/>
    <p:sldId id="807" r:id="rId37"/>
    <p:sldId id="784" r:id="rId38"/>
    <p:sldId id="787" r:id="rId39"/>
    <p:sldId id="786" r:id="rId40"/>
    <p:sldId id="785" r:id="rId41"/>
    <p:sldId id="751" r:id="rId42"/>
    <p:sldId id="761" r:id="rId43"/>
    <p:sldId id="752" r:id="rId44"/>
    <p:sldId id="767" r:id="rId45"/>
    <p:sldId id="772" r:id="rId46"/>
    <p:sldId id="809" r:id="rId47"/>
    <p:sldId id="794" r:id="rId48"/>
    <p:sldId id="788" r:id="rId49"/>
    <p:sldId id="790" r:id="rId50"/>
    <p:sldId id="625" r:id="rId5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7070"/>
    <a:srgbClr val="E9E9E9"/>
    <a:srgbClr val="0BBBA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869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191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2T09:41:14.452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33 24575,'4'3'0,"1"-2"0,-1 0 0,0-2 0,0 0 0,-2-2 0,0-2 0,-1-1 0,1-1 0,-1 5 0,1 5 0,-1 4 0,-1 0 0,0-3 0,0-4 0,1-1 0,2-1 0,0 3 0,0 0 0,-2-1 0,0 1 0,2-2 0,1-2 0,0 1 0,-1 5 0,-3 4 0,0 2 0,-1-2 0,-1-8 0,2-9 0,1-3 0,0 1 0,1 11 0,-1 10 0,-2 6 0,-1-4 0,0-8 0,1-6 0,0-3 0,-2 3 0,-2 1 0,-1 1 0,2-2 0,1-4 0,1 0 0,0 0 0,-1 7 0,-1 3 0,0 2 0,0-1 0,3-4 0,1-1 0,1 4 0,0 5 0,1 1 0,0-2 0,2-5 0,0-5 0,0-1 0,0 1 0,-2 3 0,0 3 0,-1 1 0,3-1 0,1-2 0,-1-6 0,-2-8 0,-2 0 0,1-2 0,0 7 0,0 6 0,1 4 0,-1 6 0,-1 2 0,-1-2 0,-1-1 0,0 0 0,-1-1 0,-1 1 0,0-1 0,0-3 0,-1-1 0,1-4 0,2-6 0,0-3 0,2 1 0,0 8 0,0 8 0,0 5 0,0 2 0,0-4 0,0-9 0,0-4 0,1-9 0,2 1 0,1 4 0,0 5 0,-1 3 0,-1 1 0,-2-2 0,0 0 0,0-2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2T09:41:14.452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33 24575,'4'3'0,"1"-2"0,-1 0 0,0-2 0,0 0 0,-2-2 0,0-2 0,-1-1 0,1-1 0,-1 5 0,1 5 0,-1 4 0,-1 0 0,0-3 0,0-4 0,1-1 0,2-1 0,0 3 0,0 0 0,-2-1 0,0 1 0,2-2 0,1-2 0,0 1 0,-1 5 0,-3 4 0,0 2 0,-1-2 0,-1-8 0,2-9 0,1-3 0,0 1 0,1 11 0,-1 10 0,-2 6 0,-1-4 0,0-8 0,1-6 0,0-3 0,-2 3 0,-2 1 0,-1 1 0,2-2 0,1-4 0,1 0 0,0 0 0,-1 7 0,-1 3 0,0 2 0,0-1 0,3-4 0,1-1 0,1 4 0,0 5 0,1 1 0,0-2 0,2-5 0,0-5 0,0-1 0,0 1 0,-2 3 0,0 3 0,-1 1 0,3-1 0,1-2 0,-1-6 0,-2-8 0,-2 0 0,1-2 0,0 7 0,0 6 0,1 4 0,-1 6 0,-1 2 0,-1-2 0,-1-1 0,0 0 0,-1-1 0,-1 1 0,0-1 0,0-3 0,-1-1 0,1-4 0,2-6 0,0-3 0,2 1 0,0 8 0,0 8 0,0 5 0,0 2 0,0-4 0,0-9 0,0-4 0,1-9 0,2 1 0,1 4 0,0 5 0,-1 3 0,-1 1 0,-2-2 0,0 0 0,0-2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2T09:41:39.298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0 24575,'0'0'0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2T09:42:29.529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126 80 24575,'4'0'0,"-7"0"0,-1 0 0,-4 0 0,2 0 0,1-1 0,2-1 0,1-2 0,3 0 0,2 1 0,2 1 0,0 2 0,-1 2 0,-1 1 0,0 1 0,2 0 0,-3-2 0,-3 2 0,-4 1 0,-2 2 0,1 2 0,3-4 0,2-1 0,1-2 0,2-10 0,1 1 0,1-3 0,1 5 0,-1 3 0,0 2 0,0 2 0,-3 3 0,0 2 0,-1-3 0,1-6 0,4-7 0,0-1 0,1 5 0,-2 12 0,-7 7 0,-2 2 0,-4-2 0,2-9 0,4-13 0,3-13 0,5-4 0,4 2 0,1 13 0,-3 15 0,-4 14 0,-6 8 0,-3 0 0,-2-5 0,3-10 0,3-10 0,2-8 0,0-7 0,0-3 0,0 3 0,0 7 0,0 10 0,0 2 0,0 3 0,0-5 0,1-9 0,2-7 0,2-4 0,0 6 0,-2 10 0,-3 8 0,-3 2 0,-2-4 0,0-4 0,3-6 0,1-3 0,2 4 0,1 2 0,-1-2 0,0-3 0,0-5 0,-1-5 0,0 2 0,0 5 0,0 6 0,0 14 0,-3 5 0,-3 1 0,-1-4 0,1-12 0,3-8 0,4-7 0,2-1 0,3 5 0,1 3 0,0 6 0,-3 5 0,-2 4 0,-2 3 0,0 1 0,0-2 0,1-2 0,1-5 0,1 0 0,0 0 0,-2 1 0,0 2 0,-1-2 0,0 1 0,0 0 0,-2 2 0,-4 1 0,-4 1 0,-2-1 0,-2-3 0,-1-2 0,-3-2 0,-3-1 0,-1-2 0,2-7 0,6-9 0,7-5 0,8-3 0,12 2 0,13 2 0,11 3 0,2 7 0,-8 6 0,-15 4 0,-8 2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2T09:42:34.778"/>
    </inkml:context>
    <inkml:brush xml:id="br0">
      <inkml:brushProperty name="width" value="0.2" units="cm"/>
      <inkml:brushProperty name="height" value="0.2" units="cm"/>
      <inkml:brushProperty name="color" value="#66CC00"/>
    </inkml:brush>
  </inkml:definitions>
  <inkml:trace contextRef="#ctx0" brushRef="#br0">1 1 24575,'0'0'0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2T09:41:14.452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33 24575,'4'3'0,"1"-2"0,-1 0 0,0-2 0,0 0 0,-2-2 0,0-2 0,-1-1 0,1-1 0,-1 5 0,1 5 0,-1 4 0,-1 0 0,0-3 0,0-4 0,1-1 0,2-1 0,0 3 0,0 0 0,-2-1 0,0 1 0,2-2 0,1-2 0,0 1 0,-1 5 0,-3 4 0,0 2 0,-1-2 0,-1-8 0,2-9 0,1-3 0,0 1 0,1 11 0,-1 10 0,-2 6 0,-1-4 0,0-8 0,1-6 0,0-3 0,-2 3 0,-2 1 0,-1 1 0,2-2 0,1-4 0,1 0 0,0 0 0,-1 7 0,-1 3 0,0 2 0,0-1 0,3-4 0,1-1 0,1 4 0,0 5 0,1 1 0,0-2 0,2-5 0,0-5 0,0-1 0,0 1 0,-2 3 0,0 3 0,-1 1 0,3-1 0,1-2 0,-1-6 0,-2-8 0,-2 0 0,1-2 0,0 7 0,0 6 0,1 4 0,-1 6 0,-1 2 0,-1-2 0,-1-1 0,0 0 0,-1-1 0,-1 1 0,0-1 0,0-3 0,-1-1 0,1-4 0,2-6 0,0-3 0,2 1 0,0 8 0,0 8 0,0 5 0,0 2 0,0-4 0,0-9 0,0-4 0,1-9 0,2 1 0,1 4 0,0 5 0,-1 3 0,-1 1 0,-2-2 0,0 0 0,0-2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2T09:41:39.298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0 24575,'0'0'0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2T09:42:29.529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126 80 24575,'4'0'0,"-7"0"0,-1 0 0,-4 0 0,2 0 0,1-1 0,2-1 0,1-2 0,3 0 0,2 1 0,2 1 0,0 2 0,-1 2 0,-1 1 0,0 1 0,2 0 0,-3-2 0,-3 2 0,-4 1 0,-2 2 0,1 2 0,3-4 0,2-1 0,1-2 0,2-10 0,1 1 0,1-3 0,1 5 0,-1 3 0,0 2 0,0 2 0,-3 3 0,0 2 0,-1-3 0,1-6 0,4-7 0,0-1 0,1 5 0,-2 12 0,-7 7 0,-2 2 0,-4-2 0,2-9 0,4-13 0,3-13 0,5-4 0,4 2 0,1 13 0,-3 15 0,-4 14 0,-6 8 0,-3 0 0,-2-5 0,3-10 0,3-10 0,2-8 0,0-7 0,0-3 0,0 3 0,0 7 0,0 10 0,0 2 0,0 3 0,0-5 0,1-9 0,2-7 0,2-4 0,0 6 0,-2 10 0,-3 8 0,-3 2 0,-2-4 0,0-4 0,3-6 0,1-3 0,2 4 0,1 2 0,-1-2 0,0-3 0,0-5 0,-1-5 0,0 2 0,0 5 0,0 6 0,0 14 0,-3 5 0,-3 1 0,-1-4 0,1-12 0,3-8 0,4-7 0,2-1 0,3 5 0,1 3 0,0 6 0,-3 5 0,-2 4 0,-2 3 0,0 1 0,0-2 0,1-2 0,1-5 0,1 0 0,0 0 0,-2 1 0,0 2 0,-1-2 0,0 1 0,0 0 0,-2 2 0,-4 1 0,-4 1 0,-2-1 0,-2-3 0,-1-2 0,-3-2 0,-3-1 0,-1-2 0,2-7 0,6-9 0,7-5 0,8-3 0,12 2 0,13 2 0,11 3 0,2 7 0,-8 6 0,-15 4 0,-8 2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2T09:42:34.778"/>
    </inkml:context>
    <inkml:brush xml:id="br0">
      <inkml:brushProperty name="width" value="0.2" units="cm"/>
      <inkml:brushProperty name="height" value="0.2" units="cm"/>
      <inkml:brushProperty name="color" value="#66CC00"/>
    </inkml:brush>
  </inkml:definitions>
  <inkml:trace contextRef="#ctx0" brushRef="#br0">1 1 24575,'0'0'0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2T09:48:54.391"/>
    </inkml:context>
    <inkml:brush xml:id="br0">
      <inkml:brushProperty name="width" value="0.2" units="cm"/>
      <inkml:brushProperty name="height" value="0.2" units="cm"/>
      <inkml:brushProperty name="color" value="#E71225"/>
    </inkml:brush>
  </inkml:definitions>
  <inkml:trace contextRef="#ctx0" brushRef="#br0">1 1 24575,'0'0'0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2T09:48:54.391"/>
    </inkml:context>
    <inkml:brush xml:id="br0">
      <inkml:brushProperty name="width" value="0.2" units="cm"/>
      <inkml:brushProperty name="height" value="0.2" units="cm"/>
      <inkml:brushProperty name="color" value="#E71225"/>
    </inkml:brush>
  </inkml:definitions>
  <inkml:trace contextRef="#ctx0" brushRef="#br0">1 1 24575,'0'0'0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2T09:49:03.682"/>
    </inkml:context>
    <inkml:brush xml:id="br0">
      <inkml:brushProperty name="width" value="0.2" units="cm"/>
      <inkml:brushProperty name="height" value="0.2" units="cm"/>
      <inkml:brushProperty name="color" value="#E71225"/>
    </inkml:brush>
  </inkml:definitions>
  <inkml:trace contextRef="#ctx0" brushRef="#br0">0 0 24575,'0'0'0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2T09:48:54.391"/>
    </inkml:context>
    <inkml:brush xml:id="br0">
      <inkml:brushProperty name="width" value="0.2" units="cm"/>
      <inkml:brushProperty name="height" value="0.2" units="cm"/>
      <inkml:brushProperty name="color" value="#E71225"/>
    </inkml:brush>
  </inkml:definitions>
  <inkml:trace contextRef="#ctx0" brushRef="#br0">1 1 24575,'0'0'0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2T09:49:03.682"/>
    </inkml:context>
    <inkml:brush xml:id="br0">
      <inkml:brushProperty name="width" value="0.2" units="cm"/>
      <inkml:brushProperty name="height" value="0.2" units="cm"/>
      <inkml:brushProperty name="color" value="#E71225"/>
    </inkml:brush>
  </inkml:definitions>
  <inkml:trace contextRef="#ctx0" brushRef="#br0">0 0 24575,'0'0'0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2T09:50:17.294"/>
    </inkml:context>
    <inkml:brush xml:id="br0">
      <inkml:brushProperty name="width" value="0.2" units="cm"/>
      <inkml:brushProperty name="height" value="0.2" units="cm"/>
      <inkml:brushProperty name="color" value="#E71225"/>
    </inkml:brush>
  </inkml:definitions>
  <inkml:trace contextRef="#ctx0" brushRef="#br0">0 0 24575,'0'0'0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BB2F38-1ED5-4244-B688-1F27C5C01D9D}" type="datetimeFigureOut">
              <a:rPr lang="en-US" smtClean="0"/>
              <a:t>10/15/25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65EBBE-B1F3-854A-A13B-B4DE1AE429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18850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 bwMode="ltGray">
          <a:xfrm>
            <a:off x="0" y="4"/>
            <a:ext cx="9144000" cy="5135563"/>
          </a:xfrm>
          <a:prstGeom prst="rect">
            <a:avLst/>
          </a:prstGeom>
          <a:solidFill>
            <a:srgbClr val="000000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1350"/>
          </a:p>
        </p:txBody>
      </p:sp>
      <p:sp>
        <p:nvSpPr>
          <p:cNvPr id="5" name="Rectangle 4"/>
          <p:cNvSpPr/>
          <p:nvPr/>
        </p:nvSpPr>
        <p:spPr bwMode="invGray">
          <a:xfrm>
            <a:off x="0" y="5127625"/>
            <a:ext cx="9144000" cy="46038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  <a:effectLst>
            <a:outerShdw blurRad="31750" dist="10160" dir="5400000" algn="tl" rotWithShape="0">
              <a:srgbClr val="000000">
                <a:alpha val="60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135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3355848"/>
            <a:ext cx="8077200" cy="1673352"/>
          </a:xfrm>
        </p:spPr>
        <p:txBody>
          <a:bodyPr tIns="0" bIns="0" anchor="t"/>
          <a:lstStyle>
            <a:lvl1pPr algn="l">
              <a:defRPr sz="3525" b="0"/>
            </a:lvl1pPr>
            <a:extLst/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5800" y="1828800"/>
            <a:ext cx="8077200" cy="1499616"/>
          </a:xfrm>
        </p:spPr>
        <p:txBody>
          <a:bodyPr lIns="118872" tIns="0" rIns="45720" bIns="0" anchor="b"/>
          <a:lstStyle>
            <a:lvl1pPr marL="0" indent="0" algn="l">
              <a:buNone/>
              <a:defRPr sz="1500">
                <a:solidFill>
                  <a:srgbClr val="FFFFFF"/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  <a:extLst/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6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11639CF-DE20-4518-8A99-847C9DE3081F}" type="datetimeFigureOut">
              <a:rPr lang="en-US"/>
              <a:pPr>
                <a:defRPr/>
              </a:pPr>
              <a:t>10/15/25</a:t>
            </a:fld>
            <a:endParaRPr lang="en-US"/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3E095A03-FA64-438A-9B3E-B4710C61F5A0}" type="slidenum">
              <a:rPr lang="en-US"/>
              <a:pPr/>
              <a:t>‹#›</a:t>
            </a:fld>
            <a:endParaRPr lang="en-US"/>
          </a:p>
        </p:txBody>
      </p:sp>
      <p:pic>
        <p:nvPicPr>
          <p:cNvPr id="9" name="Object 3" descr="Object 3">
            <a:extLst>
              <a:ext uri="{FF2B5EF4-FFF2-40B4-BE49-F238E27FC236}">
                <a16:creationId xmlns:a16="http://schemas.microsoft.com/office/drawing/2014/main" id="{86D202F8-C26E-6146-9111-1652ECB6694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5401" y="38100"/>
            <a:ext cx="1524001" cy="960220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216807203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55448"/>
            <a:ext cx="8229600" cy="1252728"/>
          </a:xfrm>
        </p:spPr>
        <p:txBody>
          <a:bodyPr/>
          <a:lstStyle>
            <a:lvl1pPr>
              <a:defRPr>
                <a:latin typeface="Helvetica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328613" indent="-239316">
              <a:buClr>
                <a:schemeClr val="tx1"/>
              </a:buClr>
              <a:buFont typeface="Arial" panose="020B0604020202020204" pitchFamily="34" charset="0"/>
              <a:buChar char="•"/>
              <a:defRPr b="0" i="0">
                <a:latin typeface="Helvetica Light" panose="020B0403020202020204" pitchFamily="34" charset="0"/>
              </a:defRPr>
            </a:lvl1pPr>
            <a:lvl2pPr marL="547688" indent="-204788">
              <a:buClr>
                <a:schemeClr val="tx1"/>
              </a:buClr>
              <a:buFont typeface="Arial" panose="020B0604020202020204" pitchFamily="34" charset="0"/>
              <a:buChar char="•"/>
              <a:defRPr b="0" i="0">
                <a:latin typeface="Helvetica Light" panose="020B0403020202020204" pitchFamily="34" charset="0"/>
              </a:defRPr>
            </a:lvl2pPr>
            <a:lvl3pPr marL="746522" indent="-171450">
              <a:buClr>
                <a:schemeClr val="tx1"/>
              </a:buClr>
              <a:buFont typeface="Arial" panose="020B0604020202020204" pitchFamily="34" charset="0"/>
              <a:buChar char="•"/>
              <a:defRPr b="0" i="0">
                <a:latin typeface="Helvetica Light" panose="020B0403020202020204" pitchFamily="34" charset="0"/>
              </a:defRPr>
            </a:lvl3pPr>
            <a:lvl4pPr marL="912019" indent="-136922">
              <a:buClr>
                <a:schemeClr val="tx1"/>
              </a:buClr>
              <a:buFont typeface="Arial" panose="020B0604020202020204" pitchFamily="34" charset="0"/>
              <a:buChar char="•"/>
              <a:defRPr b="0" i="0">
                <a:latin typeface="Helvetica Light" panose="020B0403020202020204" pitchFamily="34" charset="0"/>
              </a:defRPr>
            </a:lvl4pPr>
            <a:lvl5pPr marL="1069181" indent="-136922">
              <a:buClr>
                <a:schemeClr val="tx1"/>
              </a:buClr>
              <a:buFont typeface="Arial" panose="020B0604020202020204" pitchFamily="34" charset="0"/>
              <a:buChar char="•"/>
              <a:defRPr b="0" i="0">
                <a:latin typeface="Helvetica Light" panose="020B0403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79CEE18-2F86-4815-AA4C-28B1810BE92C}" type="datetimeFigureOut">
              <a:rPr lang="en-US"/>
              <a:pPr>
                <a:defRPr/>
              </a:pPr>
              <a:t>10/15/25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BFC629-3DA3-475E-B422-0A5F778C0E48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47166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 bwMode="ltGray">
          <a:xfrm>
            <a:off x="0" y="4"/>
            <a:ext cx="9144000" cy="2601913"/>
          </a:xfrm>
          <a:prstGeom prst="rect">
            <a:avLst/>
          </a:prstGeom>
          <a:solidFill>
            <a:srgbClr val="000000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1350"/>
          </a:p>
        </p:txBody>
      </p:sp>
      <p:sp>
        <p:nvSpPr>
          <p:cNvPr id="5" name="Rectangle 4"/>
          <p:cNvSpPr/>
          <p:nvPr/>
        </p:nvSpPr>
        <p:spPr bwMode="invGray">
          <a:xfrm>
            <a:off x="0" y="2601917"/>
            <a:ext cx="9144000" cy="46037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  <a:effectLst>
            <a:outerShdw blurRad="31750" dist="10160" dir="5400000" algn="tl" rotWithShape="0">
              <a:srgbClr val="000000">
                <a:alpha val="60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135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9808" y="118872"/>
            <a:ext cx="8013192" cy="1636776"/>
          </a:xfrm>
        </p:spPr>
        <p:txBody>
          <a:bodyPr tIns="0" rIns="91440" bIns="0" anchor="b"/>
          <a:lstStyle>
            <a:lvl1pPr algn="l">
              <a:defRPr sz="3525" b="0" cap="none" baseline="0"/>
            </a:lvl1pPr>
            <a:extLst/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0664" y="1828800"/>
            <a:ext cx="8022336" cy="685800"/>
          </a:xfrm>
        </p:spPr>
        <p:txBody>
          <a:bodyPr lIns="146304" tIns="0" rIns="45720" bIns="0"/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  <a:extLst/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CD950E7-F59D-41FD-9C77-77B3EEF34172}" type="datetimeFigureOut">
              <a:rPr lang="en-US"/>
              <a:pPr>
                <a:defRPr/>
              </a:pPr>
              <a:t>10/15/25</a:t>
            </a:fld>
            <a:endParaRPr lang="en-US"/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46BA8E74-7F46-4E54-834F-5AD8A517EE9F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45471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773936"/>
            <a:ext cx="4038600" cy="4623816"/>
          </a:xfrm>
        </p:spPr>
        <p:txBody>
          <a:bodyPr lIns="91440"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  <a:extLst/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773936"/>
            <a:ext cx="4038600" cy="4623816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  <a:extLst/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AAEED0A-4507-4F25-BB04-A41183D340F9}" type="datetimeFigureOut">
              <a:rPr lang="en-US"/>
              <a:pPr>
                <a:defRPr/>
              </a:pPr>
              <a:t>10/15/25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CC4F5B8-DA3A-40A8-B45D-D218A722FDB4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69943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  <a:extLst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98990"/>
            <a:ext cx="4040188" cy="715355"/>
          </a:xfrm>
        </p:spPr>
        <p:txBody>
          <a:bodyPr lIns="146304" anchor="ctr"/>
          <a:lstStyle>
            <a:lvl1pPr marL="0" indent="0">
              <a:buNone/>
              <a:defRPr sz="1725" b="1" cap="all" baseline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  <a:extLst/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449512"/>
            <a:ext cx="4040188" cy="3951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  <a:extLst/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7" y="1698990"/>
            <a:ext cx="4041775" cy="715355"/>
          </a:xfrm>
        </p:spPr>
        <p:txBody>
          <a:bodyPr lIns="146304" anchor="ctr"/>
          <a:lstStyle>
            <a:lvl1pPr marL="0" indent="0">
              <a:buNone/>
              <a:defRPr sz="1725" b="1" cap="all" baseline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  <a:extLst/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7" y="2449512"/>
            <a:ext cx="4041775" cy="3951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  <a:extLst/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E4DEEF8-C16D-4C0A-9E75-01A0CEAC4EFB}" type="datetimeFigureOut">
              <a:rPr lang="en-US"/>
              <a:pPr>
                <a:defRPr/>
              </a:pPr>
              <a:t>10/15/25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DE9D9F7-0101-4300-9393-E641A85FCDB3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87710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6444240-E3BE-458E-ABDC-A00C9B3E1378}" type="datetimeFigureOut">
              <a:rPr lang="en-US"/>
              <a:pPr>
                <a:defRPr/>
              </a:pPr>
              <a:t>10/15/25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70842C-DBE2-4E48-A1B4-D69335A401F6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15130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34E4417-5758-421B-9142-970B40155EC6}" type="datetimeFigureOut">
              <a:rPr lang="en-US"/>
              <a:pPr>
                <a:defRPr/>
              </a:pPr>
              <a:t>10/15/25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1207BA0-B3BC-4585-B1DE-CB662C282A9D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217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 bwMode="invGray">
          <a:xfrm>
            <a:off x="2855915" y="0"/>
            <a:ext cx="46037" cy="1454150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1350"/>
          </a:p>
        </p:txBody>
      </p:sp>
      <p:sp>
        <p:nvSpPr>
          <p:cNvPr id="6" name="Rectangle 5"/>
          <p:cNvSpPr/>
          <p:nvPr/>
        </p:nvSpPr>
        <p:spPr bwMode="invGray">
          <a:xfrm>
            <a:off x="2855915" y="0"/>
            <a:ext cx="46037" cy="1454150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135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7838" y="152400"/>
            <a:ext cx="2523744" cy="978408"/>
          </a:xfrm>
        </p:spPr>
        <p:txBody>
          <a:bodyPr lIns="73152" bIns="0" anchor="b">
            <a:sp3d prstMaterial="matte"/>
          </a:bodyPr>
          <a:lstStyle>
            <a:lvl1pPr algn="l">
              <a:defRPr sz="1500" b="0"/>
            </a:lvl1pPr>
            <a:extLst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19379" y="1743134"/>
            <a:ext cx="5920641" cy="455888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  <a:extLst/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7838" y="1730018"/>
            <a:ext cx="2468880" cy="4572000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  <a:extLst/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4829A34-0849-491B-94BF-57C5E21AB71A}" type="datetimeFigureOut">
              <a:rPr lang="en-US"/>
              <a:pPr>
                <a:defRPr/>
              </a:pPr>
              <a:t>10/15/25</a:t>
            </a:fld>
            <a:endParaRPr lang="en-US"/>
          </a:p>
        </p:txBody>
      </p:sp>
      <p:sp>
        <p:nvSpPr>
          <p:cNvPr id="8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4AA4D00-15C5-4A4E-B632-DCE5D54E1DA3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72815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855915" y="0"/>
            <a:ext cx="46037" cy="6858000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1350"/>
          </a:p>
        </p:txBody>
      </p:sp>
      <p:sp>
        <p:nvSpPr>
          <p:cNvPr id="6" name="Rectangle 5"/>
          <p:cNvSpPr/>
          <p:nvPr/>
        </p:nvSpPr>
        <p:spPr bwMode="invGray">
          <a:xfrm>
            <a:off x="2855915" y="0"/>
            <a:ext cx="46037" cy="6858000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135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4593" y="155448"/>
            <a:ext cx="2525150" cy="978408"/>
          </a:xfrm>
        </p:spPr>
        <p:txBody>
          <a:bodyPr lIns="73152" bIns="0" anchor="b">
            <a:sp3d prstMaterial="matte"/>
          </a:bodyPr>
          <a:lstStyle>
            <a:lvl1pPr algn="l">
              <a:defRPr sz="1500" b="0"/>
            </a:lvl1pPr>
            <a:extLst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903807" y="1484808"/>
            <a:ext cx="6247397" cy="5373192"/>
          </a:xfrm>
          <a:solidFill>
            <a:schemeClr val="bg2">
              <a:shade val="75000"/>
            </a:schemeClr>
          </a:solidFill>
        </p:spPr>
        <p:txBody>
          <a:bodyPr rtlCol="0">
            <a:normAutofit/>
          </a:bodyPr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  <a:extLst/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4592" y="1728216"/>
            <a:ext cx="2468880" cy="4572000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  <a:extLst/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>
          <a:xfrm>
            <a:off x="165100" y="1169988"/>
            <a:ext cx="2522538" cy="201612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C95DD43-4D9F-4959-92A0-B733AD070C20}" type="datetimeFigureOut">
              <a:rPr lang="en-US"/>
              <a:pPr>
                <a:defRPr/>
              </a:pPr>
              <a:t>10/15/25</a:t>
            </a:fld>
            <a:endParaRPr lang="en-US"/>
          </a:p>
        </p:txBody>
      </p:sp>
      <p:sp>
        <p:nvSpPr>
          <p:cNvPr id="8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35301" y="1169988"/>
            <a:ext cx="5194300" cy="201612"/>
          </a:xfrm>
        </p:spPr>
        <p:txBody>
          <a:bodyPr/>
          <a:lstStyle>
            <a:lvl1pPr>
              <a:defRPr>
                <a:solidFill>
                  <a:schemeClr val="bg1">
                    <a:shade val="50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339138" y="1169988"/>
            <a:ext cx="733425" cy="201612"/>
          </a:xfrm>
        </p:spPr>
        <p:txBody>
          <a:bodyPr/>
          <a:lstStyle>
            <a:lvl1pPr>
              <a:defRPr/>
            </a:lvl1pPr>
          </a:lstStyle>
          <a:p>
            <a:fld id="{276ED41C-B129-425F-9ED4-6D4C3D3130D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1148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1701619-D700-4C71-8868-C5E78449190E}" type="datetimeFigureOut">
              <a:rPr lang="en-US"/>
              <a:pPr>
                <a:defRPr/>
              </a:pPr>
              <a:t>10/15/25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DC76A59-2CEB-4E46-ACDC-456609F431E3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15671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 bwMode="invGray">
          <a:xfrm>
            <a:off x="6599240" y="0"/>
            <a:ext cx="46037" cy="6858000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  <a:effectLst>
            <a:outerShdw blurRad="31750" dist="10160" dir="10800000" algn="tl" rotWithShape="0">
              <a:srgbClr val="000000">
                <a:alpha val="60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1350"/>
          </a:p>
        </p:txBody>
      </p:sp>
      <p:sp>
        <p:nvSpPr>
          <p:cNvPr id="5" name="Rectangle 4"/>
          <p:cNvSpPr/>
          <p:nvPr/>
        </p:nvSpPr>
        <p:spPr bwMode="ltGray">
          <a:xfrm>
            <a:off x="6648450" y="0"/>
            <a:ext cx="2514600" cy="6858000"/>
          </a:xfrm>
          <a:prstGeom prst="rect">
            <a:avLst/>
          </a:prstGeom>
          <a:solidFill>
            <a:srgbClr val="000000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1350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81800" y="274644"/>
            <a:ext cx="19050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304804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6A680D3-2722-408D-B66D-B6CE8EC46D2F}" type="datetimeFigureOut">
              <a:rPr lang="en-US"/>
              <a:pPr>
                <a:defRPr/>
              </a:pPr>
              <a:t>10/15/25</a:t>
            </a:fld>
            <a:endParaRPr lang="en-US"/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40015" y="6376992"/>
            <a:ext cx="3836987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2A45D71-EED7-4F0B-940C-FDD304D93123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83528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Title Text"/>
          <p:cNvSpPr txBox="1">
            <a:spLocks noGrp="1"/>
          </p:cNvSpPr>
          <p:nvPr>
            <p:ph type="title"/>
          </p:nvPr>
        </p:nvSpPr>
        <p:spPr>
          <a:xfrm>
            <a:off x="468313" y="547690"/>
            <a:ext cx="8496301" cy="1081088"/>
          </a:xfrm>
          <a:prstGeom prst="rect">
            <a:avLst/>
          </a:prstGeom>
        </p:spPr>
        <p:txBody>
          <a:bodyPr/>
          <a:lstStyle>
            <a:lvl1pPr>
              <a:defRPr sz="3600"/>
            </a:lvl1pPr>
          </a:lstStyle>
          <a:p>
            <a:r>
              <a:t>Title Text</a:t>
            </a:r>
          </a:p>
        </p:txBody>
      </p:sp>
      <p:sp>
        <p:nvSpPr>
          <p:cNvPr id="103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468313" y="1700215"/>
            <a:ext cx="4038601" cy="4105276"/>
          </a:xfrm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0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782686" y="6586220"/>
            <a:ext cx="155576" cy="16510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10415677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Title Text"/>
          <p:cNvSpPr txBox="1">
            <a:spLocks noGrp="1"/>
          </p:cNvSpPr>
          <p:nvPr>
            <p:ph type="title"/>
          </p:nvPr>
        </p:nvSpPr>
        <p:spPr>
          <a:xfrm>
            <a:off x="457200" y="152400"/>
            <a:ext cx="8229600" cy="1250950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54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457200" y="1698990"/>
            <a:ext cx="4040188" cy="715356"/>
          </a:xfrm>
          <a:prstGeom prst="rect">
            <a:avLst/>
          </a:prstGeom>
        </p:spPr>
        <p:txBody>
          <a:bodyPr anchor="ctr"/>
          <a:lstStyle>
            <a:lvl1pPr marL="0" indent="0">
              <a:buClrTx/>
              <a:buSzTx/>
              <a:buNone/>
              <a:defRPr sz="2300" b="1" cap="all"/>
            </a:lvl1pPr>
            <a:lvl2pPr marL="0" indent="457200">
              <a:buClrTx/>
              <a:buSzTx/>
              <a:buNone/>
              <a:defRPr sz="2300" b="1" cap="all"/>
            </a:lvl2pPr>
            <a:lvl3pPr marL="0" indent="914400">
              <a:buClrTx/>
              <a:buSzTx/>
              <a:buNone/>
              <a:defRPr sz="2300" b="1" cap="all"/>
            </a:lvl3pPr>
            <a:lvl4pPr marL="0" indent="1371600">
              <a:buClrTx/>
              <a:buSzTx/>
              <a:buNone/>
              <a:defRPr sz="2300" b="1" cap="all"/>
            </a:lvl4pPr>
            <a:lvl5pPr marL="0" indent="1828800">
              <a:buClrTx/>
              <a:buSzTx/>
              <a:buNone/>
              <a:defRPr sz="2300" b="1" cap="all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4645029" y="1698990"/>
            <a:ext cx="4041776" cy="715356"/>
          </a:xfrm>
          <a:prstGeom prst="rect">
            <a:avLst/>
          </a:prstGeom>
        </p:spPr>
        <p:txBody>
          <a:bodyPr anchor="ctr"/>
          <a:lstStyle>
            <a:lvl1pPr marL="0" indent="0">
              <a:buClrTx/>
              <a:buSzTx/>
              <a:buNone/>
              <a:defRPr sz="2300" b="1" cap="all"/>
            </a:lvl1pPr>
          </a:lstStyle>
          <a:p>
            <a:pPr marL="0" indent="0">
              <a:buClrTx/>
              <a:buSzTx/>
              <a:buNone/>
              <a:defRPr sz="2300" b="1" cap="all"/>
            </a:pPr>
            <a:endParaRPr/>
          </a:p>
        </p:txBody>
      </p:sp>
      <p:sp>
        <p:nvSpPr>
          <p:cNvPr id="5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67404641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1_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313" y="547690"/>
            <a:ext cx="8496300" cy="1081087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468313" y="1700215"/>
            <a:ext cx="4038600" cy="410527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659313" y="1700215"/>
            <a:ext cx="4038600" cy="19764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659313" y="3829050"/>
            <a:ext cx="4038600" cy="19764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Rectangle 3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8204397" y="6476999"/>
            <a:ext cx="733864" cy="27432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A4013AA-615C-4E61-8035-811E7FE68EAE}" type="slidenum">
              <a:rPr lang="de-DE"/>
              <a:pPr>
                <a:defRPr/>
              </a:pPr>
              <a:t>‹#›</a:t>
            </a:fld>
            <a:endParaRPr lang="de-DE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2640597" y="6476999"/>
            <a:ext cx="5507719" cy="27432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667538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 bwMode="invGray">
          <a:xfrm>
            <a:off x="0" y="1436688"/>
            <a:ext cx="9144000" cy="44450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  <a:effectLst>
            <a:outerShdw blurRad="31750" dist="10160" dir="5400000" algn="tl" rotWithShape="0">
              <a:srgbClr val="000000">
                <a:alpha val="60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1350"/>
          </a:p>
        </p:txBody>
      </p:sp>
      <p:sp>
        <p:nvSpPr>
          <p:cNvPr id="7" name="Rectangle 6"/>
          <p:cNvSpPr/>
          <p:nvPr/>
        </p:nvSpPr>
        <p:spPr bwMode="ltGray">
          <a:xfrm>
            <a:off x="0" y="4"/>
            <a:ext cx="9144000" cy="1433513"/>
          </a:xfrm>
          <a:prstGeom prst="rect">
            <a:avLst/>
          </a:prstGeom>
          <a:solidFill>
            <a:srgbClr val="000000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135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1250950"/>
          </a:xfrm>
          <a:prstGeom prst="rect">
            <a:avLst/>
          </a:prstGeom>
        </p:spPr>
        <p:txBody>
          <a:bodyPr vert="horz" lIns="91440" rIns="45720" rtlCol="0" anchor="ctr">
            <a:normAutofit/>
            <a:scene3d>
              <a:camera prst="orthographicFront"/>
              <a:lightRig rig="threePt" dir="t">
                <a:rot lat="0" lon="0" rev="4800000"/>
              </a:lightRig>
            </a:scene3d>
            <a:sp3d prstMaterial="matte">
              <a:bevelT w="50800" h="10160"/>
            </a:sp3d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2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774825"/>
            <a:ext cx="8229600" cy="4625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54864" tIns="9144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477000"/>
            <a:ext cx="2133600" cy="274638"/>
          </a:xfrm>
          <a:prstGeom prst="rect">
            <a:avLst/>
          </a:prstGeom>
        </p:spPr>
        <p:txBody>
          <a:bodyPr vert="horz" lIns="109728" rIns="45720" bIns="0" rtlCol="0" anchor="b"/>
          <a:lstStyle>
            <a:lvl1pPr algn="l" eaLnBrk="1" fontAlgn="auto" latinLnBrk="0" hangingPunct="1">
              <a:spcBef>
                <a:spcPts val="0"/>
              </a:spcBef>
              <a:spcAft>
                <a:spcPts val="0"/>
              </a:spcAft>
              <a:defRPr kumimoji="0" sz="900">
                <a:solidFill>
                  <a:schemeClr val="tx1">
                    <a:tint val="95000"/>
                  </a:schemeClr>
                </a:solidFill>
                <a:latin typeface="+mn-lt"/>
                <a:cs typeface="+mn-cs"/>
              </a:defRPr>
            </a:lvl1pPr>
            <a:extLst/>
          </a:lstStyle>
          <a:p>
            <a:pPr>
              <a:defRPr/>
            </a:pPr>
            <a:fld id="{E640C10F-0C3D-41AE-AFAF-A738F58C9068}" type="datetimeFigureOut">
              <a:rPr lang="en-US"/>
              <a:pPr>
                <a:defRPr/>
              </a:pPr>
              <a:t>10/15/25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640015" y="6477000"/>
            <a:ext cx="5508625" cy="274638"/>
          </a:xfrm>
          <a:prstGeom prst="rect">
            <a:avLst/>
          </a:prstGeom>
        </p:spPr>
        <p:txBody>
          <a:bodyPr vert="horz" lIns="45720" rIns="45720" bIns="0" rtlCol="0" anchor="b"/>
          <a:lstStyle>
            <a:lvl1pPr algn="l" eaLnBrk="1" fontAlgn="auto" latinLnBrk="0" hangingPunct="1">
              <a:spcBef>
                <a:spcPts val="0"/>
              </a:spcBef>
              <a:spcAft>
                <a:spcPts val="0"/>
              </a:spcAft>
              <a:defRPr kumimoji="0" sz="900">
                <a:solidFill>
                  <a:schemeClr val="tx1">
                    <a:tint val="95000"/>
                  </a:schemeClr>
                </a:solidFill>
                <a:latin typeface="+mn-lt"/>
                <a:cs typeface="+mn-cs"/>
              </a:defRPr>
            </a:lvl1pPr>
            <a:extLst/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204201" y="6477000"/>
            <a:ext cx="733425" cy="274638"/>
          </a:xfrm>
          <a:prstGeom prst="rect">
            <a:avLst/>
          </a:prstGeom>
        </p:spPr>
        <p:txBody>
          <a:bodyPr vert="horz" wrap="square" lIns="91440" tIns="45720" rIns="91440" bIns="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900">
                <a:solidFill>
                  <a:srgbClr val="3F3F3F"/>
                </a:solidFill>
                <a:latin typeface="Garamond" panose="02020404030301010803" pitchFamily="18" charset="0"/>
              </a:defRPr>
            </a:lvl1pPr>
          </a:lstStyle>
          <a:p>
            <a:fld id="{256C581C-F1CE-4791-99FB-EA92AFBA400F}" type="slidenum">
              <a:rPr lang="en-US"/>
              <a:pPr/>
              <a:t>‹#›</a:t>
            </a:fld>
            <a:endParaRPr lang="en-US"/>
          </a:p>
        </p:txBody>
      </p:sp>
      <p:pic>
        <p:nvPicPr>
          <p:cNvPr id="9" name="Object 3" descr="Object 3">
            <a:extLst>
              <a:ext uri="{FF2B5EF4-FFF2-40B4-BE49-F238E27FC236}">
                <a16:creationId xmlns:a16="http://schemas.microsoft.com/office/drawing/2014/main" id="{4DEEEED9-23A5-D54C-AD54-286D29959C6E}"/>
              </a:ext>
            </a:extLst>
          </p:cNvPr>
          <p:cNvPicPr>
            <a:picLocks noChangeAspect="1"/>
          </p:cNvPicPr>
          <p:nvPr userDrawn="1"/>
        </p:nvPicPr>
        <p:blipFill>
          <a:blip r:embed="rId16"/>
          <a:stretch>
            <a:fillRect/>
          </a:stretch>
        </p:blipFill>
        <p:spPr>
          <a:xfrm>
            <a:off x="1" y="6125312"/>
            <a:ext cx="1162878" cy="732689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27747469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  <p:sldLayoutId id="2147483687" r:id="rId12"/>
    <p:sldLayoutId id="2147483688" r:id="rId13"/>
    <p:sldLayoutId id="2147483689" r:id="rId14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3375" b="0" kern="1200">
          <a:solidFill>
            <a:srgbClr val="DDDDDD"/>
          </a:solidFill>
          <a:latin typeface="Helvetica" pitchFamily="2" charset="0"/>
          <a:ea typeface="+mj-ea"/>
          <a:cs typeface="Arial" panose="020B0604020202020204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375" b="1">
          <a:solidFill>
            <a:srgbClr val="DDDDDD"/>
          </a:solidFill>
          <a:latin typeface="Garamond" panose="02020404030301010803" pitchFamily="18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375" b="1">
          <a:solidFill>
            <a:srgbClr val="DDDDDD"/>
          </a:solidFill>
          <a:latin typeface="Garamond" panose="02020404030301010803" pitchFamily="18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375" b="1">
          <a:solidFill>
            <a:srgbClr val="DDDDDD"/>
          </a:solidFill>
          <a:latin typeface="Garamond" panose="02020404030301010803" pitchFamily="18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375" b="1">
          <a:solidFill>
            <a:srgbClr val="DDDDDD"/>
          </a:solidFill>
          <a:latin typeface="Garamond" panose="02020404030301010803" pitchFamily="18" charset="0"/>
        </a:defRPr>
      </a:lvl5pPr>
      <a:lvl6pPr marL="342900" algn="l" rtl="0" fontAlgn="base">
        <a:spcBef>
          <a:spcPct val="0"/>
        </a:spcBef>
        <a:spcAft>
          <a:spcPct val="0"/>
        </a:spcAft>
        <a:defRPr sz="3375" b="1">
          <a:solidFill>
            <a:srgbClr val="DDDDDD"/>
          </a:solidFill>
          <a:latin typeface="Garamond" panose="02020404030301010803" pitchFamily="18" charset="0"/>
        </a:defRPr>
      </a:lvl6pPr>
      <a:lvl7pPr marL="685800" algn="l" rtl="0" fontAlgn="base">
        <a:spcBef>
          <a:spcPct val="0"/>
        </a:spcBef>
        <a:spcAft>
          <a:spcPct val="0"/>
        </a:spcAft>
        <a:defRPr sz="3375" b="1">
          <a:solidFill>
            <a:srgbClr val="DDDDDD"/>
          </a:solidFill>
          <a:latin typeface="Garamond" panose="02020404030301010803" pitchFamily="18" charset="0"/>
        </a:defRPr>
      </a:lvl7pPr>
      <a:lvl8pPr marL="1028700" algn="l" rtl="0" fontAlgn="base">
        <a:spcBef>
          <a:spcPct val="0"/>
        </a:spcBef>
        <a:spcAft>
          <a:spcPct val="0"/>
        </a:spcAft>
        <a:defRPr sz="3375" b="1">
          <a:solidFill>
            <a:srgbClr val="DDDDDD"/>
          </a:solidFill>
          <a:latin typeface="Garamond" panose="02020404030301010803" pitchFamily="18" charset="0"/>
        </a:defRPr>
      </a:lvl8pPr>
      <a:lvl9pPr marL="1371600" algn="l" rtl="0" fontAlgn="base">
        <a:spcBef>
          <a:spcPct val="0"/>
        </a:spcBef>
        <a:spcAft>
          <a:spcPct val="0"/>
        </a:spcAft>
        <a:defRPr sz="3375" b="1">
          <a:solidFill>
            <a:srgbClr val="DDDDDD"/>
          </a:solidFill>
          <a:latin typeface="Garamond" panose="02020404030301010803" pitchFamily="18" charset="0"/>
        </a:defRPr>
      </a:lvl9pPr>
      <a:extLst/>
    </p:titleStyle>
    <p:bodyStyle>
      <a:lvl1pPr marL="328613" indent="-239316" algn="l" rtl="0" eaLnBrk="0" fontAlgn="base" hangingPunct="0">
        <a:spcBef>
          <a:spcPct val="0"/>
        </a:spcBef>
        <a:spcAft>
          <a:spcPct val="0"/>
        </a:spcAft>
        <a:buClr>
          <a:schemeClr val="tx1"/>
        </a:buClr>
        <a:buSzPct val="80000"/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Helvetica Light" panose="020B0403020202020204" pitchFamily="34" charset="0"/>
          <a:ea typeface="+mn-ea"/>
          <a:cs typeface="Arial" panose="020B0604020202020204" pitchFamily="34" charset="0"/>
        </a:defRPr>
      </a:lvl1pPr>
      <a:lvl2pPr marL="547688" indent="-2047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90000"/>
        <a:buFont typeface="Arial" panose="020B0604020202020204" pitchFamily="34" charset="0"/>
        <a:buChar char="•"/>
        <a:defRPr sz="2100" b="0" i="0" kern="1200">
          <a:solidFill>
            <a:schemeClr val="tx1"/>
          </a:solidFill>
          <a:latin typeface="Helvetica Light" panose="020B0403020202020204" pitchFamily="34" charset="0"/>
          <a:ea typeface="+mn-ea"/>
          <a:cs typeface="Arial" panose="020B0604020202020204" pitchFamily="34" charset="0"/>
        </a:defRPr>
      </a:lvl2pPr>
      <a:lvl3pPr marL="746522" indent="-17145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Helvetica Light" panose="020B0403020202020204" pitchFamily="34" charset="0"/>
          <a:ea typeface="+mn-ea"/>
          <a:cs typeface="Arial" panose="020B0604020202020204" pitchFamily="34" charset="0"/>
        </a:defRPr>
      </a:lvl3pPr>
      <a:lvl4pPr marL="912019" indent="-136922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Arial" panose="020B0604020202020204" pitchFamily="34" charset="0"/>
        <a:buChar char="•"/>
        <a:defRPr sz="1500" b="0" i="0" kern="1200">
          <a:solidFill>
            <a:schemeClr val="tx1"/>
          </a:solidFill>
          <a:latin typeface="Helvetica Light" panose="020B0403020202020204" pitchFamily="34" charset="0"/>
          <a:ea typeface="+mn-ea"/>
          <a:cs typeface="Arial" panose="020B0604020202020204" pitchFamily="34" charset="0"/>
        </a:defRPr>
      </a:lvl4pPr>
      <a:lvl5pPr marL="1069181" indent="-136922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Arial" panose="020B0604020202020204" pitchFamily="34" charset="0"/>
        <a:buChar char="•"/>
        <a:defRPr lang="en-US" sz="1500" b="0" i="0" kern="1200">
          <a:solidFill>
            <a:schemeClr val="tx1"/>
          </a:solidFill>
          <a:latin typeface="Helvetica Light" panose="020B0403020202020204" pitchFamily="34" charset="0"/>
          <a:ea typeface="+mn-ea"/>
          <a:cs typeface="Arial" panose="020B0604020202020204" pitchFamily="34" charset="0"/>
        </a:defRPr>
      </a:lvl5pPr>
      <a:lvl6pPr marL="1220724" indent="-137160" algn="l" rtl="0" eaLnBrk="1" latinLnBrk="0" hangingPunct="1">
        <a:spcBef>
          <a:spcPct val="20000"/>
        </a:spcBef>
        <a:buClr>
          <a:schemeClr val="accent6"/>
        </a:buClr>
        <a:buSzPct val="100000"/>
        <a:buFont typeface="Wingdings 2"/>
        <a:buChar char=""/>
        <a:defRPr kumimoji="0"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1371600" indent="-137160" algn="l" rtl="0" eaLnBrk="1" latinLnBrk="0" hangingPunct="1">
        <a:spcBef>
          <a:spcPct val="20000"/>
        </a:spcBef>
        <a:buClr>
          <a:schemeClr val="accent1"/>
        </a:buClr>
        <a:buSzPct val="100000"/>
        <a:buFont typeface="Wingdings 2"/>
        <a:buChar char=""/>
        <a:defRPr kumimoji="0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1522476" indent="-137160" algn="l" rtl="0" eaLnBrk="1" latinLnBrk="0" hangingPunct="1">
        <a:spcBef>
          <a:spcPct val="20000"/>
        </a:spcBef>
        <a:buClr>
          <a:schemeClr val="accent2"/>
        </a:buClr>
        <a:buFont typeface="Wingdings 2" pitchFamily="18" charset="2"/>
        <a:buChar char=""/>
        <a:defRPr kumimoji="0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1673352" indent="-137160" algn="l" rtl="0" eaLnBrk="1" latinLnBrk="0" hangingPunct="1">
        <a:spcBef>
          <a:spcPct val="20000"/>
        </a:spcBef>
        <a:buClr>
          <a:schemeClr val="accent3"/>
        </a:buClr>
        <a:buFont typeface="Wingdings 2" pitchFamily="18" charset="2"/>
        <a:buChar char=""/>
        <a:defRPr kumimoji="0" sz="1350" kern="1200" baseline="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customXml" Target="../ink/ink1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customXml" Target="../ink/ink3.xml"/><Relationship Id="rId12" Type="http://schemas.openxmlformats.org/officeDocument/2006/relationships/image" Target="../media/image13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11" Type="http://schemas.openxmlformats.org/officeDocument/2006/relationships/customXml" Target="../ink/ink5.xml"/><Relationship Id="rId5" Type="http://schemas.openxmlformats.org/officeDocument/2006/relationships/customXml" Target="../ink/ink2.xml"/><Relationship Id="rId10" Type="http://schemas.openxmlformats.org/officeDocument/2006/relationships/image" Target="../media/image12.png"/><Relationship Id="rId4" Type="http://schemas.openxmlformats.org/officeDocument/2006/relationships/image" Target="../media/image7.png"/><Relationship Id="rId9" Type="http://schemas.openxmlformats.org/officeDocument/2006/relationships/customXml" Target="../ink/ink4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customXml" Target="../ink/ink7.xml"/><Relationship Id="rId12" Type="http://schemas.openxmlformats.org/officeDocument/2006/relationships/image" Target="../media/image13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11" Type="http://schemas.openxmlformats.org/officeDocument/2006/relationships/customXml" Target="../ink/ink9.xml"/><Relationship Id="rId5" Type="http://schemas.openxmlformats.org/officeDocument/2006/relationships/customXml" Target="../ink/ink6.xml"/><Relationship Id="rId10" Type="http://schemas.openxmlformats.org/officeDocument/2006/relationships/image" Target="../media/image12.png"/><Relationship Id="rId4" Type="http://schemas.openxmlformats.org/officeDocument/2006/relationships/image" Target="../media/image7.png"/><Relationship Id="rId9" Type="http://schemas.openxmlformats.org/officeDocument/2006/relationships/customXml" Target="../ink/ink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customXml" Target="../ink/ink10.xml"/><Relationship Id="rId4" Type="http://schemas.openxmlformats.org/officeDocument/2006/relationships/image" Target="../media/image1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customXml" Target="../ink/ink12.xm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customXml" Target="../ink/ink11.xml"/><Relationship Id="rId4" Type="http://schemas.openxmlformats.org/officeDocument/2006/relationships/image" Target="../media/image17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customXml" Target="../ink/ink15.xml"/><Relationship Id="rId3" Type="http://schemas.openxmlformats.org/officeDocument/2006/relationships/image" Target="../media/image19.png"/><Relationship Id="rId7" Type="http://schemas.openxmlformats.org/officeDocument/2006/relationships/customXml" Target="../ink/ink14.xm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customXml" Target="../ink/ink13.xml"/><Relationship Id="rId4" Type="http://schemas.openxmlformats.org/officeDocument/2006/relationships/image" Target="../media/image1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1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4" Type="http://schemas.openxmlformats.org/officeDocument/2006/relationships/image" Target="../media/image29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g"/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2.jp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ysa5OBhXz-Q?feature=oembed" TargetMode="External"/><Relationship Id="rId4" Type="http://schemas.openxmlformats.org/officeDocument/2006/relationships/image" Target="../media/image34.jpe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eg"/><Relationship Id="rId2" Type="http://schemas.openxmlformats.org/officeDocument/2006/relationships/image" Target="../media/image37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jpeg"/><Relationship Id="rId5" Type="http://schemas.openxmlformats.org/officeDocument/2006/relationships/image" Target="../media/image40.jpeg"/><Relationship Id="rId4" Type="http://schemas.openxmlformats.org/officeDocument/2006/relationships/image" Target="../media/image39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AFE18-F19C-1D49-BB16-F0C4CB59FE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220132" y="3429000"/>
            <a:ext cx="9728200" cy="477843"/>
          </a:xfrm>
        </p:spPr>
        <p:txBody>
          <a:bodyPr vert="horz" lIns="68580" tIns="34290" rIns="68580" bIns="34290" rtlCol="0" anchor="ctr">
            <a:noAutofit/>
            <a:scene3d>
              <a:camera prst="orthographicFront"/>
              <a:lightRig rig="threePt" dir="t">
                <a:rot lat="0" lon="0" rev="4800000"/>
              </a:lightRig>
            </a:scene3d>
            <a:sp3d prstMaterial="matte">
              <a:bevelT w="50800" h="10160"/>
            </a:sp3d>
          </a:bodyPr>
          <a:lstStyle/>
          <a:p>
            <a:pPr algn="ctr"/>
            <a:r>
              <a:rPr lang="en-US" sz="4800" dirty="0">
                <a:solidFill>
                  <a:srgbClr val="FFFFFF"/>
                </a:solidFill>
              </a:rPr>
              <a:t>The Maths of Predators </a:t>
            </a:r>
            <a:br>
              <a:rPr lang="en-US" sz="4800" dirty="0">
                <a:solidFill>
                  <a:srgbClr val="FFFFFF"/>
                </a:solidFill>
              </a:rPr>
            </a:br>
            <a:r>
              <a:rPr lang="en-US" sz="4800" dirty="0">
                <a:solidFill>
                  <a:srgbClr val="FFFFFF"/>
                </a:solidFill>
              </a:rPr>
              <a:t>and Preys</a:t>
            </a:r>
            <a:br>
              <a:rPr lang="en-US" sz="4800" dirty="0">
                <a:solidFill>
                  <a:srgbClr val="FFFFFF"/>
                </a:solidFill>
              </a:rPr>
            </a:br>
            <a:r>
              <a:rPr lang="en-US" sz="3600" dirty="0">
                <a:solidFill>
                  <a:srgbClr val="FFFFFF"/>
                </a:solidFill>
              </a:rPr>
              <a:t>Don’t get Eaten by the Wolf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9C43F27-89E2-C645-B0AC-D3A85B9A9F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8531" y="5341215"/>
            <a:ext cx="7006939" cy="1319049"/>
          </a:xfrm>
        </p:spPr>
        <p:txBody>
          <a:bodyPr vert="horz" wrap="square" lIns="68580" tIns="34290" rIns="68580" bIns="34290" numCol="1" rtlCol="0" anchor="b" anchorCtr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800" b="1" dirty="0"/>
              <a:t>Dr John Butler</a:t>
            </a:r>
            <a:br>
              <a:rPr lang="en-US" sz="1800" dirty="0"/>
            </a:br>
            <a:r>
              <a:rPr lang="en-US" sz="1800" dirty="0"/>
              <a:t>TU Dublin (Lecturer in Mathematics and Statistics)</a:t>
            </a:r>
          </a:p>
        </p:txBody>
      </p:sp>
      <p:pic>
        <p:nvPicPr>
          <p:cNvPr id="4" name="badges Maths in the Wild-5">
            <a:hlinkClick r:id="" action="ppaction://media"/>
            <a:extLst>
              <a:ext uri="{FF2B5EF4-FFF2-40B4-BE49-F238E27FC236}">
                <a16:creationId xmlns:a16="http://schemas.microsoft.com/office/drawing/2014/main" id="{726E7F68-8AAD-2036-7EDD-C1E4B1A6F734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 rotWithShape="1">
          <a:blip r:embed="rId4"/>
          <a:srcRect l="14202" t="13167" r="14207" b="15242"/>
          <a:stretch>
            <a:fillRect/>
          </a:stretch>
        </p:blipFill>
        <p:spPr>
          <a:xfrm>
            <a:off x="3241589" y="65928"/>
            <a:ext cx="2660823" cy="2660823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142839542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3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B7AA9F-142D-B6C1-0D5D-0FB58A1AA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4E9E8C-A333-0BFD-9E11-49302257AF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/>
          </a:p>
        </p:txBody>
      </p:sp>
      <p:pic>
        <p:nvPicPr>
          <p:cNvPr id="5" name="Picture 4" descr="A cartoon of a child pointing at a window&#10;&#10;Description automatically generated">
            <a:extLst>
              <a:ext uri="{FF2B5EF4-FFF2-40B4-BE49-F238E27FC236}">
                <a16:creationId xmlns:a16="http://schemas.microsoft.com/office/drawing/2014/main" id="{2079A022-8852-B596-972B-300B8FAC46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1913"/>
          <a:stretch/>
        </p:blipFill>
        <p:spPr>
          <a:xfrm>
            <a:off x="390053" y="0"/>
            <a:ext cx="8332532" cy="6841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57546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CF6759-B149-0788-D612-205D38BA07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Predator Prey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146425-DD43-6EF1-4A49-48080C2C22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 dirty="0"/>
              <a:t>Hares and Lynx</a:t>
            </a:r>
          </a:p>
        </p:txBody>
      </p:sp>
      <p:pic>
        <p:nvPicPr>
          <p:cNvPr id="4" name="Content Placeholder 7" descr="A collage of graphs and diagrams&#10;&#10;Description automatically generated">
            <a:extLst>
              <a:ext uri="{FF2B5EF4-FFF2-40B4-BE49-F238E27FC236}">
                <a16:creationId xmlns:a16="http://schemas.microsoft.com/office/drawing/2014/main" id="{3D292AEE-27F0-D072-5DE2-E2DDB6E1264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187" t="39961" b="2047"/>
          <a:stretch/>
        </p:blipFill>
        <p:spPr bwMode="auto">
          <a:xfrm flipH="1">
            <a:off x="5267745" y="3252924"/>
            <a:ext cx="2880000" cy="2880000"/>
          </a:xfrm>
          <a:prstGeom prst="ellipse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Content Placeholder 7" descr="A collage of graphs and diagrams&#10;&#10;Description automatically generated">
            <a:extLst>
              <a:ext uri="{FF2B5EF4-FFF2-40B4-BE49-F238E27FC236}">
                <a16:creationId xmlns:a16="http://schemas.microsoft.com/office/drawing/2014/main" id="{C28B1D49-E754-8FAC-66EB-BBA4C6EB519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310" t="3656" r="1669" b="50000"/>
          <a:stretch/>
        </p:blipFill>
        <p:spPr bwMode="auto">
          <a:xfrm>
            <a:off x="995908" y="3252924"/>
            <a:ext cx="2880000" cy="2880000"/>
          </a:xfrm>
          <a:prstGeom prst="ellipse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2511213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9257F8-4A03-ED75-7A24-56D02CA213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Prey Hares</a:t>
            </a:r>
          </a:p>
        </p:txBody>
      </p:sp>
      <p:pic>
        <p:nvPicPr>
          <p:cNvPr id="8" name="Content Placeholder 7" descr="A collage of graphs and diagrams&#10;&#10;Description automatically generated">
            <a:extLst>
              <a:ext uri="{FF2B5EF4-FFF2-40B4-BE49-F238E27FC236}">
                <a16:creationId xmlns:a16="http://schemas.microsoft.com/office/drawing/2014/main" id="{D365144F-FB40-5B89-35D5-96C5BFD176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8532"/>
          <a:stretch/>
        </p:blipFill>
        <p:spPr>
          <a:xfrm>
            <a:off x="782430" y="2901829"/>
            <a:ext cx="7797800" cy="2340045"/>
          </a:xfrm>
        </p:spPr>
      </p:pic>
    </p:spTree>
    <p:extLst>
      <p:ext uri="{BB962C8B-B14F-4D97-AF65-F5344CB8AC3E}">
        <p14:creationId xmlns:p14="http://schemas.microsoft.com/office/powerpoint/2010/main" val="36779856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0DE13-1922-4A46-A515-0EFE4AF6FA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846BBF-8F2C-52D9-987E-CCE90333E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Predator</a:t>
            </a:r>
          </a:p>
        </p:txBody>
      </p:sp>
      <p:pic>
        <p:nvPicPr>
          <p:cNvPr id="8" name="Content Placeholder 7" descr="A collage of graphs and diagrams&#10;&#10;Description automatically generated">
            <a:extLst>
              <a:ext uri="{FF2B5EF4-FFF2-40B4-BE49-F238E27FC236}">
                <a16:creationId xmlns:a16="http://schemas.microsoft.com/office/drawing/2014/main" id="{E433C73E-0EFD-2F56-A34F-30E7EDB61CA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1031"/>
          <a:stretch/>
        </p:blipFill>
        <p:spPr>
          <a:xfrm>
            <a:off x="673100" y="2484783"/>
            <a:ext cx="7797800" cy="2226434"/>
          </a:xfrm>
        </p:spPr>
      </p:pic>
    </p:spTree>
    <p:extLst>
      <p:ext uri="{BB962C8B-B14F-4D97-AF65-F5344CB8AC3E}">
        <p14:creationId xmlns:p14="http://schemas.microsoft.com/office/powerpoint/2010/main" val="5096031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6D800D-44C3-2C9B-B483-F536BCEEEA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1AAA71-7A48-09C6-7494-4078DF23B3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Predator and Prey</a:t>
            </a:r>
          </a:p>
        </p:txBody>
      </p:sp>
      <p:pic>
        <p:nvPicPr>
          <p:cNvPr id="8" name="Content Placeholder 7" descr="A collage of graphs and diagrams&#10;&#10;Description automatically generated">
            <a:extLst>
              <a:ext uri="{FF2B5EF4-FFF2-40B4-BE49-F238E27FC236}">
                <a16:creationId xmlns:a16="http://schemas.microsoft.com/office/drawing/2014/main" id="{2BDAD3E4-E7FA-48F0-38CB-8CB2D198530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76"/>
          <a:stretch/>
        </p:blipFill>
        <p:spPr>
          <a:xfrm>
            <a:off x="673100" y="1709531"/>
            <a:ext cx="7797800" cy="4424970"/>
          </a:xfrm>
        </p:spPr>
      </p:pic>
    </p:spTree>
    <p:extLst>
      <p:ext uri="{BB962C8B-B14F-4D97-AF65-F5344CB8AC3E}">
        <p14:creationId xmlns:p14="http://schemas.microsoft.com/office/powerpoint/2010/main" val="33797447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FB371-02A6-4690-9463-AE7301BB80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8910BC-B3BB-2259-F799-CDB336E696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Predator and Prey</a:t>
            </a:r>
          </a:p>
        </p:txBody>
      </p:sp>
      <p:pic>
        <p:nvPicPr>
          <p:cNvPr id="5" name="Content Placeholder 4" descr="A graph with green and red lines&#10;&#10;AI-generated content may be incorrect.">
            <a:extLst>
              <a:ext uri="{FF2B5EF4-FFF2-40B4-BE49-F238E27FC236}">
                <a16:creationId xmlns:a16="http://schemas.microsoft.com/office/drawing/2014/main" id="{D9C747BB-0F47-FFD1-6C88-8625D45BB6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6000" y="2341562"/>
            <a:ext cx="7112000" cy="3492500"/>
          </a:xfrm>
        </p:spPr>
      </p:pic>
    </p:spTree>
    <p:extLst>
      <p:ext uri="{BB962C8B-B14F-4D97-AF65-F5344CB8AC3E}">
        <p14:creationId xmlns:p14="http://schemas.microsoft.com/office/powerpoint/2010/main" val="12360510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C3B45-47C3-C12B-9C95-EA60B5DD64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Mathematics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63D882-0A59-D117-483F-AE26EF84CA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7600689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B6666-C2A5-CE9A-7148-A4E40E1860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B71C6C-C005-E03F-3F82-86559D5715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 dirty="0"/>
              <a:t>How to we make a model for a Hare population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4641B23-26DF-B9F8-84FF-AE875949E5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Hares</a:t>
            </a:r>
          </a:p>
        </p:txBody>
      </p:sp>
      <p:pic>
        <p:nvPicPr>
          <p:cNvPr id="3" name="Picture 2" descr="A diagram of a circle with a circle and a circle with a circle with a circle with a circle with a circle with a circle with a circle with a circle with a circle with a circle with&#10;&#10;Description automatically generated">
            <a:extLst>
              <a:ext uri="{FF2B5EF4-FFF2-40B4-BE49-F238E27FC236}">
                <a16:creationId xmlns:a16="http://schemas.microsoft.com/office/drawing/2014/main" id="{BB997160-1C5F-619B-8C22-94DAB7F6BB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0493" y="2719060"/>
            <a:ext cx="2569306" cy="1419880"/>
          </a:xfrm>
          <a:prstGeom prst="rect">
            <a:avLst/>
          </a:prstGeom>
        </p:spPr>
      </p:pic>
      <p:pic>
        <p:nvPicPr>
          <p:cNvPr id="4" name="Picture 3" descr="A black and white image of a cat&#10;&#10;Description automatically generated">
            <a:extLst>
              <a:ext uri="{FF2B5EF4-FFF2-40B4-BE49-F238E27FC236}">
                <a16:creationId xmlns:a16="http://schemas.microsoft.com/office/drawing/2014/main" id="{EBD15D62-E5AC-565C-5A2E-9DA19CEAC1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9337" y="4555991"/>
            <a:ext cx="2051458" cy="1145094"/>
          </a:xfrm>
          <a:prstGeom prst="rect">
            <a:avLst/>
          </a:prstGeom>
          <a:solidFill>
            <a:schemeClr val="bg1"/>
          </a:solidFill>
          <a:ln w="88900" cap="sq">
            <a:noFill/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7" name="Content Placeholder 7" descr="A collage of graphs and diagrams&#10;&#10;Description automatically generated">
            <a:extLst>
              <a:ext uri="{FF2B5EF4-FFF2-40B4-BE49-F238E27FC236}">
                <a16:creationId xmlns:a16="http://schemas.microsoft.com/office/drawing/2014/main" id="{494AFF25-3640-2D4A-05AC-0712EAC3AF21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310" t="3656" r="1669" b="50000"/>
          <a:stretch/>
        </p:blipFill>
        <p:spPr bwMode="auto">
          <a:xfrm>
            <a:off x="530308" y="4176239"/>
            <a:ext cx="1923576" cy="1923576"/>
          </a:xfrm>
          <a:prstGeom prst="ellipse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6797500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3BB8F-D270-8B57-B3A8-C1D9D8E151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Hares</a:t>
            </a:r>
          </a:p>
        </p:txBody>
      </p:sp>
      <p:pic>
        <p:nvPicPr>
          <p:cNvPr id="5" name="Content Placeholder 4" descr="A screenshot of a diagram&#10;&#10;Description automatically generated">
            <a:extLst>
              <a:ext uri="{FF2B5EF4-FFF2-40B4-BE49-F238E27FC236}">
                <a16:creationId xmlns:a16="http://schemas.microsoft.com/office/drawing/2014/main" id="{D975A9BD-564D-2434-3919-C05A10F7AB3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993" t="14675" b="59628"/>
          <a:stretch/>
        </p:blipFill>
        <p:spPr>
          <a:xfrm>
            <a:off x="801364" y="2250549"/>
            <a:ext cx="7541272" cy="3299460"/>
          </a:xfrm>
        </p:spPr>
      </p:pic>
      <p:pic>
        <p:nvPicPr>
          <p:cNvPr id="3" name="Picture 2" descr="A diagram of a circle with a circle and a circle with a circle with a circle with a circle with a circle with a circle with a circle with a circle with a circle with a circle with&#10;&#10;Description automatically generated">
            <a:extLst>
              <a:ext uri="{FF2B5EF4-FFF2-40B4-BE49-F238E27FC236}">
                <a16:creationId xmlns:a16="http://schemas.microsoft.com/office/drawing/2014/main" id="{DD2C7DCA-61C5-2987-F972-BD74D097760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3710" y="1498248"/>
            <a:ext cx="1820290" cy="1005950"/>
          </a:xfrm>
          <a:prstGeom prst="rect">
            <a:avLst/>
          </a:prstGeom>
        </p:spPr>
      </p:pic>
      <p:pic>
        <p:nvPicPr>
          <p:cNvPr id="4" name="Picture 3" descr="A black and white image of a cat&#10;&#10;Description automatically generated">
            <a:extLst>
              <a:ext uri="{FF2B5EF4-FFF2-40B4-BE49-F238E27FC236}">
                <a16:creationId xmlns:a16="http://schemas.microsoft.com/office/drawing/2014/main" id="{FE326D00-A86F-F97F-254E-FF3D514FAE8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6230" y="232632"/>
            <a:ext cx="1512811" cy="844429"/>
          </a:xfrm>
          <a:prstGeom prst="rect">
            <a:avLst/>
          </a:prstGeom>
          <a:solidFill>
            <a:schemeClr val="bg1"/>
          </a:solidFill>
          <a:ln w="88900" cap="sq">
            <a:noFill/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63E8718-E7CA-62A6-6DD7-7F6BA1E0A18B}"/>
              </a:ext>
            </a:extLst>
          </p:cNvPr>
          <p:cNvSpPr txBox="1"/>
          <p:nvPr/>
        </p:nvSpPr>
        <p:spPr>
          <a:xfrm>
            <a:off x="2126974" y="5226843"/>
            <a:ext cx="461175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E" sz="3600" b="1" kern="100" dirty="0" err="1">
                <a:latin typeface="Helvetica" pitchFamily="2" charset="0"/>
              </a:rPr>
              <a:t>H</a:t>
            </a:r>
            <a:r>
              <a:rPr lang="en-IE" sz="3600" b="1" kern="100" baseline="-25000" dirty="0" err="1">
                <a:latin typeface="Helvetica" pitchFamily="2" charset="0"/>
              </a:rPr>
              <a:t>Future</a:t>
            </a:r>
            <a:r>
              <a:rPr lang="en-IE" sz="3600" kern="100" dirty="0">
                <a:latin typeface="Helvetica" pitchFamily="2" charset="0"/>
              </a:rPr>
              <a:t>=</a:t>
            </a:r>
            <a:r>
              <a:rPr lang="en-IE" sz="3600" kern="100" dirty="0">
                <a:solidFill>
                  <a:srgbClr val="92D050"/>
                </a:solidFill>
                <a:effectLst/>
                <a:latin typeface="Helvetica" pitchFamily="2" charset="0"/>
              </a:rPr>
              <a:t>H</a:t>
            </a:r>
            <a:r>
              <a:rPr lang="en-IE" sz="3600" kern="100" dirty="0">
                <a:solidFill>
                  <a:schemeClr val="tx1"/>
                </a:solidFill>
                <a:effectLst/>
                <a:latin typeface="Helvetica" pitchFamily="2" charset="0"/>
              </a:rPr>
              <a:t>+</a:t>
            </a:r>
            <a:r>
              <a:rPr lang="en-IE" sz="3600" kern="100" dirty="0">
                <a:solidFill>
                  <a:srgbClr val="00B0F0"/>
                </a:solidFill>
                <a:effectLst/>
                <a:latin typeface="Helvetica" pitchFamily="2" charset="0"/>
              </a:rPr>
              <a:t>0.2</a:t>
            </a:r>
            <a:r>
              <a:rPr lang="en-IE" sz="3600" kern="100" dirty="0">
                <a:solidFill>
                  <a:schemeClr val="tx1"/>
                </a:solidFill>
                <a:effectLst/>
                <a:latin typeface="Helvetica" pitchFamily="2" charset="0"/>
              </a:rPr>
              <a:t>(</a:t>
            </a:r>
            <a:r>
              <a:rPr lang="en-IE" sz="3600" kern="100" dirty="0">
                <a:solidFill>
                  <a:srgbClr val="92D050"/>
                </a:solidFill>
                <a:effectLst/>
                <a:latin typeface="Helvetica" pitchFamily="2" charset="0"/>
              </a:rPr>
              <a:t>H</a:t>
            </a:r>
            <a:r>
              <a:rPr lang="en-IE" sz="3600" u="none" kern="100" dirty="0">
                <a:solidFill>
                  <a:schemeClr val="tx1"/>
                </a:solidFill>
                <a:effectLst/>
                <a:latin typeface="Helvetica" pitchFamily="2" charset="0"/>
              </a:rPr>
              <a:t>)</a:t>
            </a:r>
            <a:endParaRPr lang="en-IE" sz="3600" dirty="0"/>
          </a:p>
        </p:txBody>
      </p:sp>
    </p:spTree>
    <p:extLst>
      <p:ext uri="{BB962C8B-B14F-4D97-AF65-F5344CB8AC3E}">
        <p14:creationId xmlns:p14="http://schemas.microsoft.com/office/powerpoint/2010/main" val="34032156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2AD0D-8FDD-E790-C32C-0BA469758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Hares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89653DB-747D-88AC-2856-15E0B80291C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63285447"/>
              </p:ext>
            </p:extLst>
          </p:nvPr>
        </p:nvGraphicFramePr>
        <p:xfrm>
          <a:off x="1569595" y="4609021"/>
          <a:ext cx="5762625" cy="12192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810528">
                  <a:extLst>
                    <a:ext uri="{9D8B030D-6E8A-4147-A177-3AD203B41FA5}">
                      <a16:colId xmlns:a16="http://schemas.microsoft.com/office/drawing/2014/main" val="2507504743"/>
                    </a:ext>
                  </a:extLst>
                </a:gridCol>
                <a:gridCol w="4952097">
                  <a:extLst>
                    <a:ext uri="{9D8B030D-6E8A-4147-A177-3AD203B41FA5}">
                      <a16:colId xmlns:a16="http://schemas.microsoft.com/office/drawing/2014/main" val="23082133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Year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Hare Population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5534421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0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60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5971243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1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343083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2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312008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3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47557978"/>
                  </a:ext>
                </a:extLst>
              </a:tr>
            </a:tbl>
          </a:graphicData>
        </a:graphic>
      </p:graphicFrame>
      <p:pic>
        <p:nvPicPr>
          <p:cNvPr id="5" name="Content Placeholder 4" descr="A screenshot of a diagram&#10;&#10;Description automatically generated">
            <a:extLst>
              <a:ext uri="{FF2B5EF4-FFF2-40B4-BE49-F238E27FC236}">
                <a16:creationId xmlns:a16="http://schemas.microsoft.com/office/drawing/2014/main" id="{F424497C-A2E3-CB4B-5798-CC0C27BBF7D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993" t="14675" b="59628"/>
          <a:stretch/>
        </p:blipFill>
        <p:spPr bwMode="auto">
          <a:xfrm>
            <a:off x="1476001" y="1526982"/>
            <a:ext cx="6068563" cy="26551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5" descr="A diagram of a circle with a circle and a circle with a circle with a circle with a circle with a circle with a circle with a circle with a circle with a circle with a circle with&#10;&#10;Description automatically generated">
            <a:extLst>
              <a:ext uri="{FF2B5EF4-FFF2-40B4-BE49-F238E27FC236}">
                <a16:creationId xmlns:a16="http://schemas.microsoft.com/office/drawing/2014/main" id="{5424CEED-CCC5-5117-BAE1-CE5E7BB055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3710" y="1498248"/>
            <a:ext cx="1820290" cy="1005950"/>
          </a:xfrm>
          <a:prstGeom prst="rect">
            <a:avLst/>
          </a:prstGeom>
        </p:spPr>
      </p:pic>
      <p:pic>
        <p:nvPicPr>
          <p:cNvPr id="7" name="Picture 6" descr="A black and white image of a cat&#10;&#10;Description automatically generated">
            <a:extLst>
              <a:ext uri="{FF2B5EF4-FFF2-40B4-BE49-F238E27FC236}">
                <a16:creationId xmlns:a16="http://schemas.microsoft.com/office/drawing/2014/main" id="{BD2D8C29-FD43-6A4B-E9C9-482974DE9C5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6230" y="232632"/>
            <a:ext cx="1512811" cy="844429"/>
          </a:xfrm>
          <a:prstGeom prst="rect">
            <a:avLst/>
          </a:prstGeom>
          <a:solidFill>
            <a:schemeClr val="bg1"/>
          </a:solidFill>
          <a:ln w="88900" cap="sq">
            <a:noFill/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52A51C4-4339-9B45-40B9-A3B26497C030}"/>
              </a:ext>
            </a:extLst>
          </p:cNvPr>
          <p:cNvSpPr txBox="1"/>
          <p:nvPr/>
        </p:nvSpPr>
        <p:spPr>
          <a:xfrm>
            <a:off x="2087218" y="3887670"/>
            <a:ext cx="461175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E" sz="3600" b="1" kern="100" dirty="0" err="1">
                <a:latin typeface="Helvetica" pitchFamily="2" charset="0"/>
              </a:rPr>
              <a:t>H</a:t>
            </a:r>
            <a:r>
              <a:rPr lang="en-IE" sz="3600" b="1" kern="100" baseline="-25000" dirty="0" err="1">
                <a:latin typeface="Helvetica" pitchFamily="2" charset="0"/>
              </a:rPr>
              <a:t>Future</a:t>
            </a:r>
            <a:r>
              <a:rPr lang="en-IE" sz="3600" kern="100" dirty="0">
                <a:latin typeface="Helvetica" pitchFamily="2" charset="0"/>
              </a:rPr>
              <a:t>=</a:t>
            </a:r>
            <a:r>
              <a:rPr lang="en-IE" sz="3600" kern="100" dirty="0">
                <a:solidFill>
                  <a:srgbClr val="92D050"/>
                </a:solidFill>
                <a:effectLst/>
                <a:latin typeface="Helvetica" pitchFamily="2" charset="0"/>
              </a:rPr>
              <a:t>H</a:t>
            </a:r>
            <a:r>
              <a:rPr lang="en-IE" sz="3600" kern="100" dirty="0">
                <a:solidFill>
                  <a:schemeClr val="tx1"/>
                </a:solidFill>
                <a:effectLst/>
                <a:latin typeface="Helvetica" pitchFamily="2" charset="0"/>
              </a:rPr>
              <a:t>+</a:t>
            </a:r>
            <a:r>
              <a:rPr lang="en-IE" sz="3600" kern="100" dirty="0">
                <a:solidFill>
                  <a:srgbClr val="00B0F0"/>
                </a:solidFill>
                <a:effectLst/>
                <a:latin typeface="Helvetica" pitchFamily="2" charset="0"/>
              </a:rPr>
              <a:t>0.2</a:t>
            </a:r>
            <a:r>
              <a:rPr lang="en-IE" sz="3600" kern="100" dirty="0">
                <a:solidFill>
                  <a:schemeClr val="tx1"/>
                </a:solidFill>
                <a:effectLst/>
                <a:latin typeface="Helvetica" pitchFamily="2" charset="0"/>
              </a:rPr>
              <a:t>(</a:t>
            </a:r>
            <a:r>
              <a:rPr lang="en-IE" sz="3600" kern="100" dirty="0">
                <a:solidFill>
                  <a:srgbClr val="92D050"/>
                </a:solidFill>
                <a:effectLst/>
                <a:latin typeface="Helvetica" pitchFamily="2" charset="0"/>
              </a:rPr>
              <a:t>H</a:t>
            </a:r>
            <a:r>
              <a:rPr lang="en-IE" sz="3600" u="none" kern="100" dirty="0">
                <a:solidFill>
                  <a:schemeClr val="tx1"/>
                </a:solidFill>
                <a:effectLst/>
                <a:latin typeface="Helvetica" pitchFamily="2" charset="0"/>
              </a:rPr>
              <a:t>)</a:t>
            </a:r>
            <a:endParaRPr lang="en-IE" sz="3600" dirty="0"/>
          </a:p>
        </p:txBody>
      </p:sp>
    </p:spTree>
    <p:extLst>
      <p:ext uri="{BB962C8B-B14F-4D97-AF65-F5344CB8AC3E}">
        <p14:creationId xmlns:p14="http://schemas.microsoft.com/office/powerpoint/2010/main" val="16891822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FD8856-7D97-2D84-F320-36546E05B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381EFA-8204-21E9-1A63-43DD4BFC7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Hares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414CFD1-242F-DCFB-BE1F-CF18F9B9200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07744705"/>
              </p:ext>
            </p:extLst>
          </p:nvPr>
        </p:nvGraphicFramePr>
        <p:xfrm>
          <a:off x="1690685" y="2164387"/>
          <a:ext cx="5762625" cy="12192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810528">
                  <a:extLst>
                    <a:ext uri="{9D8B030D-6E8A-4147-A177-3AD203B41FA5}">
                      <a16:colId xmlns:a16="http://schemas.microsoft.com/office/drawing/2014/main" val="2507504743"/>
                    </a:ext>
                  </a:extLst>
                </a:gridCol>
                <a:gridCol w="4952097">
                  <a:extLst>
                    <a:ext uri="{9D8B030D-6E8A-4147-A177-3AD203B41FA5}">
                      <a16:colId xmlns:a16="http://schemas.microsoft.com/office/drawing/2014/main" val="23082133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Year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Hare Population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5534421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0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60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5971243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1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60+0.2(60)=72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343083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2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312008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3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47557978"/>
                  </a:ext>
                </a:extLst>
              </a:tr>
            </a:tbl>
          </a:graphicData>
        </a:graphic>
      </p:graphicFrame>
      <p:pic>
        <p:nvPicPr>
          <p:cNvPr id="6" name="Picture 5" descr="A graph with green dot&#10;&#10;Description automatically generated">
            <a:extLst>
              <a:ext uri="{FF2B5EF4-FFF2-40B4-BE49-F238E27FC236}">
                <a16:creationId xmlns:a16="http://schemas.microsoft.com/office/drawing/2014/main" id="{03209209-76F6-3E06-10AB-B93CACBEC8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8798" y="3508513"/>
            <a:ext cx="5486400" cy="3657600"/>
          </a:xfrm>
          <a:prstGeom prst="rect">
            <a:avLst/>
          </a:prstGeom>
        </p:spPr>
      </p:pic>
      <p:pic>
        <p:nvPicPr>
          <p:cNvPr id="7" name="Picture 6" descr="A diagram of a circle with a circle and a circle with a circle with a circle with a circle with a circle with a circle with a circle with a circle with a circle with a circle with&#10;&#10;Description automatically generated">
            <a:extLst>
              <a:ext uri="{FF2B5EF4-FFF2-40B4-BE49-F238E27FC236}">
                <a16:creationId xmlns:a16="http://schemas.microsoft.com/office/drawing/2014/main" id="{285785F9-98B3-A81B-AF43-BDD5F6759D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3710" y="1498248"/>
            <a:ext cx="1820290" cy="1005950"/>
          </a:xfrm>
          <a:prstGeom prst="rect">
            <a:avLst/>
          </a:prstGeom>
        </p:spPr>
      </p:pic>
      <p:pic>
        <p:nvPicPr>
          <p:cNvPr id="8" name="Picture 7" descr="A black and white image of a cat&#10;&#10;Description automatically generated">
            <a:extLst>
              <a:ext uri="{FF2B5EF4-FFF2-40B4-BE49-F238E27FC236}">
                <a16:creationId xmlns:a16="http://schemas.microsoft.com/office/drawing/2014/main" id="{F957E470-6EAA-272F-E6F3-778D13E8108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6230" y="232632"/>
            <a:ext cx="1512811" cy="844429"/>
          </a:xfrm>
          <a:prstGeom prst="rect">
            <a:avLst/>
          </a:prstGeom>
          <a:solidFill>
            <a:schemeClr val="bg1"/>
          </a:solidFill>
          <a:ln w="88900" cap="sq">
            <a:noFill/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C62BF6DA-D325-E87D-AA91-59D157D5E2C3}"/>
                  </a:ext>
                </a:extLst>
              </p14:cNvPr>
              <p14:cNvContentPartPr/>
              <p14:nvPr/>
            </p14:nvContentPartPr>
            <p14:xfrm>
              <a:off x="3670865" y="4462810"/>
              <a:ext cx="21960" cy="2628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C62BF6DA-D325-E87D-AA91-59D157D5E2C3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664745" y="4456690"/>
                <a:ext cx="34200" cy="38520"/>
              </a:xfrm>
              <a:prstGeom prst="rect">
                <a:avLst/>
              </a:prstGeom>
            </p:spPr>
          </p:pic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40E5BC75-CE75-A508-14B6-1671C921490B}"/>
              </a:ext>
            </a:extLst>
          </p:cNvPr>
          <p:cNvSpPr txBox="1"/>
          <p:nvPr/>
        </p:nvSpPr>
        <p:spPr>
          <a:xfrm>
            <a:off x="2266122" y="1393131"/>
            <a:ext cx="461175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E" sz="3600" b="1" kern="100" dirty="0" err="1">
                <a:latin typeface="Helvetica" pitchFamily="2" charset="0"/>
              </a:rPr>
              <a:t>H</a:t>
            </a:r>
            <a:r>
              <a:rPr lang="en-IE" sz="3600" b="1" kern="100" baseline="-25000" dirty="0" err="1">
                <a:latin typeface="Helvetica" pitchFamily="2" charset="0"/>
              </a:rPr>
              <a:t>Future</a:t>
            </a:r>
            <a:r>
              <a:rPr lang="en-IE" sz="3600" kern="100" dirty="0">
                <a:latin typeface="Helvetica" pitchFamily="2" charset="0"/>
              </a:rPr>
              <a:t>=</a:t>
            </a:r>
            <a:r>
              <a:rPr lang="en-IE" sz="3600" kern="100" dirty="0">
                <a:solidFill>
                  <a:srgbClr val="92D050"/>
                </a:solidFill>
                <a:effectLst/>
                <a:latin typeface="Helvetica" pitchFamily="2" charset="0"/>
              </a:rPr>
              <a:t>H</a:t>
            </a:r>
            <a:r>
              <a:rPr lang="en-IE" sz="3600" kern="100" dirty="0">
                <a:solidFill>
                  <a:schemeClr val="tx1"/>
                </a:solidFill>
                <a:effectLst/>
                <a:latin typeface="Helvetica" pitchFamily="2" charset="0"/>
              </a:rPr>
              <a:t>+</a:t>
            </a:r>
            <a:r>
              <a:rPr lang="en-IE" sz="3600" kern="100" dirty="0">
                <a:solidFill>
                  <a:srgbClr val="00B0F0"/>
                </a:solidFill>
                <a:effectLst/>
                <a:latin typeface="Helvetica" pitchFamily="2" charset="0"/>
              </a:rPr>
              <a:t>0.2</a:t>
            </a:r>
            <a:r>
              <a:rPr lang="en-IE" sz="3600" kern="100" dirty="0">
                <a:solidFill>
                  <a:schemeClr val="tx1"/>
                </a:solidFill>
                <a:effectLst/>
                <a:latin typeface="Helvetica" pitchFamily="2" charset="0"/>
              </a:rPr>
              <a:t>(</a:t>
            </a:r>
            <a:r>
              <a:rPr lang="en-IE" sz="3600" kern="100" dirty="0">
                <a:solidFill>
                  <a:srgbClr val="92D050"/>
                </a:solidFill>
                <a:effectLst/>
                <a:latin typeface="Helvetica" pitchFamily="2" charset="0"/>
              </a:rPr>
              <a:t>H</a:t>
            </a:r>
            <a:r>
              <a:rPr lang="en-IE" sz="3600" u="none" kern="100" dirty="0">
                <a:solidFill>
                  <a:schemeClr val="tx1"/>
                </a:solidFill>
                <a:effectLst/>
                <a:latin typeface="Helvetica" pitchFamily="2" charset="0"/>
              </a:rPr>
              <a:t>)</a:t>
            </a:r>
            <a:endParaRPr lang="en-IE" sz="3600" dirty="0"/>
          </a:p>
        </p:txBody>
      </p:sp>
    </p:spTree>
    <p:extLst>
      <p:ext uri="{BB962C8B-B14F-4D97-AF65-F5344CB8AC3E}">
        <p14:creationId xmlns:p14="http://schemas.microsoft.com/office/powerpoint/2010/main" val="41847453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FAA81D-F8B2-A7C6-67A1-DB972D3FB8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4EB3D0-5440-E1C8-CFB6-E5B088387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Hares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2FC3B02-DDCF-C000-6DB2-3E479381889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86632452"/>
              </p:ext>
            </p:extLst>
          </p:nvPr>
        </p:nvGraphicFramePr>
        <p:xfrm>
          <a:off x="1690686" y="2082672"/>
          <a:ext cx="5762625" cy="12192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810528">
                  <a:extLst>
                    <a:ext uri="{9D8B030D-6E8A-4147-A177-3AD203B41FA5}">
                      <a16:colId xmlns:a16="http://schemas.microsoft.com/office/drawing/2014/main" val="2507504743"/>
                    </a:ext>
                  </a:extLst>
                </a:gridCol>
                <a:gridCol w="4952097">
                  <a:extLst>
                    <a:ext uri="{9D8B030D-6E8A-4147-A177-3AD203B41FA5}">
                      <a16:colId xmlns:a16="http://schemas.microsoft.com/office/drawing/2014/main" val="23082133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Year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Hare Population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5534421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0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60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5971243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1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60+0.2(60)=72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343083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2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72+0.2(72)=86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312008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3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47557978"/>
                  </a:ext>
                </a:extLst>
              </a:tr>
            </a:tbl>
          </a:graphicData>
        </a:graphic>
      </p:graphicFrame>
      <p:pic>
        <p:nvPicPr>
          <p:cNvPr id="6" name="Picture 5" descr="A graph with green dot&#10;&#10;Description automatically generated">
            <a:extLst>
              <a:ext uri="{FF2B5EF4-FFF2-40B4-BE49-F238E27FC236}">
                <a16:creationId xmlns:a16="http://schemas.microsoft.com/office/drawing/2014/main" id="{B7EDC86D-E2EE-D8C7-20EC-8365EDBD03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8799" y="3329607"/>
            <a:ext cx="5486400" cy="3657600"/>
          </a:xfrm>
          <a:prstGeom prst="rect">
            <a:avLst/>
          </a:prstGeom>
        </p:spPr>
      </p:pic>
      <p:pic>
        <p:nvPicPr>
          <p:cNvPr id="7" name="Picture 6" descr="A diagram of a circle with a circle and a circle with a circle with a circle with a circle with a circle with a circle with a circle with a circle with a circle with a circle with&#10;&#10;Description automatically generated">
            <a:extLst>
              <a:ext uri="{FF2B5EF4-FFF2-40B4-BE49-F238E27FC236}">
                <a16:creationId xmlns:a16="http://schemas.microsoft.com/office/drawing/2014/main" id="{65FDD029-63B3-D459-0E56-989B2AC8BB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3710" y="1498248"/>
            <a:ext cx="1820290" cy="1005950"/>
          </a:xfrm>
          <a:prstGeom prst="rect">
            <a:avLst/>
          </a:prstGeom>
        </p:spPr>
      </p:pic>
      <p:pic>
        <p:nvPicPr>
          <p:cNvPr id="8" name="Picture 7" descr="A black and white image of a cat&#10;&#10;Description automatically generated">
            <a:extLst>
              <a:ext uri="{FF2B5EF4-FFF2-40B4-BE49-F238E27FC236}">
                <a16:creationId xmlns:a16="http://schemas.microsoft.com/office/drawing/2014/main" id="{9CD1C752-54DC-8210-1AE9-0C712ABEBCB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6230" y="232632"/>
            <a:ext cx="1512811" cy="844429"/>
          </a:xfrm>
          <a:prstGeom prst="rect">
            <a:avLst/>
          </a:prstGeom>
          <a:solidFill>
            <a:schemeClr val="bg1"/>
          </a:solidFill>
          <a:ln w="88900" cap="sq">
            <a:noFill/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9C5737C8-8C35-CC5E-D7CF-65A1EFEDF4F7}"/>
                  </a:ext>
                </a:extLst>
              </p14:cNvPr>
              <p14:cNvContentPartPr/>
              <p14:nvPr/>
            </p14:nvContentPartPr>
            <p14:xfrm>
              <a:off x="3670865" y="4462810"/>
              <a:ext cx="21960" cy="2628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9C5737C8-8C35-CC5E-D7CF-65A1EFEDF4F7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664745" y="4456690"/>
                <a:ext cx="34200" cy="3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A2EB9258-E48D-C029-800C-E626FB64C684}"/>
                  </a:ext>
                </a:extLst>
              </p14:cNvPr>
              <p14:cNvContentPartPr/>
              <p14:nvPr/>
            </p14:nvContentPartPr>
            <p14:xfrm>
              <a:off x="2924585" y="2740570"/>
              <a:ext cx="360" cy="3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A2EB9258-E48D-C029-800C-E626FB64C684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918465" y="2734450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C71CDC19-61A6-E840-1F7B-FF861A0513E5}"/>
                  </a:ext>
                </a:extLst>
              </p14:cNvPr>
              <p14:cNvContentPartPr/>
              <p14:nvPr/>
            </p14:nvContentPartPr>
            <p14:xfrm>
              <a:off x="4480145" y="4203610"/>
              <a:ext cx="61920" cy="5940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C71CDC19-61A6-E840-1F7B-FF861A0513E5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4474025" y="4197490"/>
                <a:ext cx="74160" cy="71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04D7C2F5-40FD-4683-2588-BE26A5A01ADE}"/>
                  </a:ext>
                </a:extLst>
              </p14:cNvPr>
              <p14:cNvContentPartPr/>
              <p14:nvPr/>
            </p14:nvContentPartPr>
            <p14:xfrm>
              <a:off x="4511105" y="4237810"/>
              <a:ext cx="360" cy="36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04D7C2F5-40FD-4683-2588-BE26A5A01ADE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4475465" y="4202170"/>
                <a:ext cx="72000" cy="72000"/>
              </a:xfrm>
              <a:prstGeom prst="rect">
                <a:avLst/>
              </a:prstGeom>
            </p:spPr>
          </p:pic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139496C6-A508-9A0D-0EBC-504A5B8E299B}"/>
              </a:ext>
            </a:extLst>
          </p:cNvPr>
          <p:cNvSpPr txBox="1"/>
          <p:nvPr/>
        </p:nvSpPr>
        <p:spPr>
          <a:xfrm>
            <a:off x="2266122" y="1393131"/>
            <a:ext cx="461175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E" sz="3600" b="1" kern="100" dirty="0" err="1">
                <a:latin typeface="Helvetica" pitchFamily="2" charset="0"/>
              </a:rPr>
              <a:t>H</a:t>
            </a:r>
            <a:r>
              <a:rPr lang="en-IE" sz="3600" b="1" kern="100" baseline="-25000" dirty="0" err="1">
                <a:latin typeface="Helvetica" pitchFamily="2" charset="0"/>
              </a:rPr>
              <a:t>Future</a:t>
            </a:r>
            <a:r>
              <a:rPr lang="en-IE" sz="3600" kern="100" dirty="0">
                <a:latin typeface="Helvetica" pitchFamily="2" charset="0"/>
              </a:rPr>
              <a:t>=</a:t>
            </a:r>
            <a:r>
              <a:rPr lang="en-IE" sz="3600" kern="100" dirty="0">
                <a:solidFill>
                  <a:srgbClr val="92D050"/>
                </a:solidFill>
                <a:effectLst/>
                <a:latin typeface="Helvetica" pitchFamily="2" charset="0"/>
              </a:rPr>
              <a:t>H</a:t>
            </a:r>
            <a:r>
              <a:rPr lang="en-IE" sz="3600" kern="100" dirty="0">
                <a:solidFill>
                  <a:schemeClr val="tx1"/>
                </a:solidFill>
                <a:effectLst/>
                <a:latin typeface="Helvetica" pitchFamily="2" charset="0"/>
              </a:rPr>
              <a:t>+</a:t>
            </a:r>
            <a:r>
              <a:rPr lang="en-IE" sz="3600" kern="100" dirty="0">
                <a:solidFill>
                  <a:srgbClr val="00B0F0"/>
                </a:solidFill>
                <a:effectLst/>
                <a:latin typeface="Helvetica" pitchFamily="2" charset="0"/>
              </a:rPr>
              <a:t>0.2</a:t>
            </a:r>
            <a:r>
              <a:rPr lang="en-IE" sz="3600" kern="100" dirty="0">
                <a:solidFill>
                  <a:schemeClr val="tx1"/>
                </a:solidFill>
                <a:effectLst/>
                <a:latin typeface="Helvetica" pitchFamily="2" charset="0"/>
              </a:rPr>
              <a:t>(</a:t>
            </a:r>
            <a:r>
              <a:rPr lang="en-IE" sz="3600" kern="100" dirty="0">
                <a:solidFill>
                  <a:srgbClr val="92D050"/>
                </a:solidFill>
                <a:effectLst/>
                <a:latin typeface="Helvetica" pitchFamily="2" charset="0"/>
              </a:rPr>
              <a:t>H</a:t>
            </a:r>
            <a:r>
              <a:rPr lang="en-IE" sz="3600" u="none" kern="100" dirty="0">
                <a:solidFill>
                  <a:schemeClr val="tx1"/>
                </a:solidFill>
                <a:effectLst/>
                <a:latin typeface="Helvetica" pitchFamily="2" charset="0"/>
              </a:rPr>
              <a:t>)</a:t>
            </a:r>
            <a:endParaRPr lang="en-IE" sz="3600" dirty="0"/>
          </a:p>
        </p:txBody>
      </p:sp>
    </p:spTree>
    <p:extLst>
      <p:ext uri="{BB962C8B-B14F-4D97-AF65-F5344CB8AC3E}">
        <p14:creationId xmlns:p14="http://schemas.microsoft.com/office/powerpoint/2010/main" val="38670305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0837F-E414-B6B5-330E-96D6C32501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CA3788-BC52-C756-7AE7-6C2869FC40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Hares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2810E41-B2E4-1861-3C67-D66BEC3B25C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94687782"/>
              </p:ext>
            </p:extLst>
          </p:nvPr>
        </p:nvGraphicFramePr>
        <p:xfrm>
          <a:off x="1690686" y="1983031"/>
          <a:ext cx="5762625" cy="12192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810528">
                  <a:extLst>
                    <a:ext uri="{9D8B030D-6E8A-4147-A177-3AD203B41FA5}">
                      <a16:colId xmlns:a16="http://schemas.microsoft.com/office/drawing/2014/main" val="2507504743"/>
                    </a:ext>
                  </a:extLst>
                </a:gridCol>
                <a:gridCol w="4952097">
                  <a:extLst>
                    <a:ext uri="{9D8B030D-6E8A-4147-A177-3AD203B41FA5}">
                      <a16:colId xmlns:a16="http://schemas.microsoft.com/office/drawing/2014/main" val="23082133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Year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Hare Population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5534421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0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60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5971243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1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60+0.2(60)=72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343083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2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72+0.2(72)=86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312008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3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86+0.2(86)=103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47557978"/>
                  </a:ext>
                </a:extLst>
              </a:tr>
            </a:tbl>
          </a:graphicData>
        </a:graphic>
      </p:graphicFrame>
      <p:pic>
        <p:nvPicPr>
          <p:cNvPr id="6" name="Picture 5" descr="A graph with green dot&#10;&#10;Description automatically generated">
            <a:extLst>
              <a:ext uri="{FF2B5EF4-FFF2-40B4-BE49-F238E27FC236}">
                <a16:creationId xmlns:a16="http://schemas.microsoft.com/office/drawing/2014/main" id="{83E3CAC9-DD02-4349-FA50-749C4CE18C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8799" y="3200400"/>
            <a:ext cx="5486400" cy="3657600"/>
          </a:xfrm>
          <a:prstGeom prst="rect">
            <a:avLst/>
          </a:prstGeom>
        </p:spPr>
      </p:pic>
      <p:pic>
        <p:nvPicPr>
          <p:cNvPr id="7" name="Picture 6" descr="A diagram of a circle with a circle and a circle with a circle with a circle with a circle with a circle with a circle with a circle with a circle with a circle with a circle with&#10;&#10;Description automatically generated">
            <a:extLst>
              <a:ext uri="{FF2B5EF4-FFF2-40B4-BE49-F238E27FC236}">
                <a16:creationId xmlns:a16="http://schemas.microsoft.com/office/drawing/2014/main" id="{E578692C-7084-F7D4-DB5F-13372F9CBB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3710" y="1498248"/>
            <a:ext cx="1820290" cy="1005950"/>
          </a:xfrm>
          <a:prstGeom prst="rect">
            <a:avLst/>
          </a:prstGeom>
        </p:spPr>
      </p:pic>
      <p:pic>
        <p:nvPicPr>
          <p:cNvPr id="8" name="Picture 7" descr="A black and white image of a cat&#10;&#10;Description automatically generated">
            <a:extLst>
              <a:ext uri="{FF2B5EF4-FFF2-40B4-BE49-F238E27FC236}">
                <a16:creationId xmlns:a16="http://schemas.microsoft.com/office/drawing/2014/main" id="{00F55FD8-09DD-4A56-9AFD-4EBD0F93BA7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6230" y="232632"/>
            <a:ext cx="1512811" cy="844429"/>
          </a:xfrm>
          <a:prstGeom prst="rect">
            <a:avLst/>
          </a:prstGeom>
          <a:solidFill>
            <a:schemeClr val="bg1"/>
          </a:solidFill>
          <a:ln w="88900" cap="sq">
            <a:noFill/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03EB4F8A-6678-1A39-ECCB-83DF66A45AC0}"/>
                  </a:ext>
                </a:extLst>
              </p14:cNvPr>
              <p14:cNvContentPartPr/>
              <p14:nvPr/>
            </p14:nvContentPartPr>
            <p14:xfrm>
              <a:off x="3670865" y="4462810"/>
              <a:ext cx="21960" cy="2628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03EB4F8A-6678-1A39-ECCB-83DF66A45AC0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664745" y="4456690"/>
                <a:ext cx="34200" cy="3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23C15F47-50BA-6799-D230-412CA456BA99}"/>
                  </a:ext>
                </a:extLst>
              </p14:cNvPr>
              <p14:cNvContentPartPr/>
              <p14:nvPr/>
            </p14:nvContentPartPr>
            <p14:xfrm>
              <a:off x="2924585" y="2740570"/>
              <a:ext cx="360" cy="3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23C15F47-50BA-6799-D230-412CA456BA99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918465" y="2734450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715E6211-D9D8-8BB7-5CEF-B7BEA0936740}"/>
                  </a:ext>
                </a:extLst>
              </p14:cNvPr>
              <p14:cNvContentPartPr/>
              <p14:nvPr/>
            </p14:nvContentPartPr>
            <p14:xfrm>
              <a:off x="4480145" y="4203610"/>
              <a:ext cx="61920" cy="5940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715E6211-D9D8-8BB7-5CEF-B7BEA0936740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4474025" y="4197490"/>
                <a:ext cx="74160" cy="71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74876E4A-3BEB-7831-07E9-483AA5F8127F}"/>
                  </a:ext>
                </a:extLst>
              </p14:cNvPr>
              <p14:cNvContentPartPr/>
              <p14:nvPr/>
            </p14:nvContentPartPr>
            <p14:xfrm>
              <a:off x="4511105" y="4237810"/>
              <a:ext cx="360" cy="36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74876E4A-3BEB-7831-07E9-483AA5F8127F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4475465" y="4202170"/>
                <a:ext cx="72000" cy="72000"/>
              </a:xfrm>
              <a:prstGeom prst="rect">
                <a:avLst/>
              </a:prstGeom>
            </p:spPr>
          </p:pic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C16B3B95-C991-0E21-F407-2A2934CEFDA5}"/>
              </a:ext>
            </a:extLst>
          </p:cNvPr>
          <p:cNvSpPr txBox="1"/>
          <p:nvPr/>
        </p:nvSpPr>
        <p:spPr>
          <a:xfrm>
            <a:off x="2266122" y="1393131"/>
            <a:ext cx="461175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E" sz="3600" b="1" kern="100" dirty="0" err="1">
                <a:latin typeface="Helvetica" pitchFamily="2" charset="0"/>
              </a:rPr>
              <a:t>H</a:t>
            </a:r>
            <a:r>
              <a:rPr lang="en-IE" sz="3600" b="1" kern="100" baseline="-25000" dirty="0" err="1">
                <a:latin typeface="Helvetica" pitchFamily="2" charset="0"/>
              </a:rPr>
              <a:t>Future</a:t>
            </a:r>
            <a:r>
              <a:rPr lang="en-IE" sz="3600" kern="100" dirty="0">
                <a:latin typeface="Helvetica" pitchFamily="2" charset="0"/>
              </a:rPr>
              <a:t>=</a:t>
            </a:r>
            <a:r>
              <a:rPr lang="en-IE" sz="3600" kern="100" dirty="0">
                <a:solidFill>
                  <a:srgbClr val="92D050"/>
                </a:solidFill>
                <a:effectLst/>
                <a:latin typeface="Helvetica" pitchFamily="2" charset="0"/>
              </a:rPr>
              <a:t>H</a:t>
            </a:r>
            <a:r>
              <a:rPr lang="en-IE" sz="3600" kern="100" dirty="0">
                <a:solidFill>
                  <a:schemeClr val="tx1"/>
                </a:solidFill>
                <a:effectLst/>
                <a:latin typeface="Helvetica" pitchFamily="2" charset="0"/>
              </a:rPr>
              <a:t>+</a:t>
            </a:r>
            <a:r>
              <a:rPr lang="en-IE" sz="3600" kern="100" dirty="0">
                <a:solidFill>
                  <a:srgbClr val="00B0F0"/>
                </a:solidFill>
                <a:effectLst/>
                <a:latin typeface="Helvetica" pitchFamily="2" charset="0"/>
              </a:rPr>
              <a:t>0.2</a:t>
            </a:r>
            <a:r>
              <a:rPr lang="en-IE" sz="3600" kern="100" dirty="0">
                <a:solidFill>
                  <a:schemeClr val="tx1"/>
                </a:solidFill>
                <a:effectLst/>
                <a:latin typeface="Helvetica" pitchFamily="2" charset="0"/>
              </a:rPr>
              <a:t>(</a:t>
            </a:r>
            <a:r>
              <a:rPr lang="en-IE" sz="3600" kern="100" dirty="0">
                <a:solidFill>
                  <a:srgbClr val="92D050"/>
                </a:solidFill>
                <a:effectLst/>
                <a:latin typeface="Helvetica" pitchFamily="2" charset="0"/>
              </a:rPr>
              <a:t>H</a:t>
            </a:r>
            <a:r>
              <a:rPr lang="en-IE" sz="3600" u="none" kern="100" dirty="0">
                <a:solidFill>
                  <a:schemeClr val="tx1"/>
                </a:solidFill>
                <a:effectLst/>
                <a:latin typeface="Helvetica" pitchFamily="2" charset="0"/>
              </a:rPr>
              <a:t>)</a:t>
            </a:r>
            <a:endParaRPr lang="en-IE" sz="3600" dirty="0"/>
          </a:p>
        </p:txBody>
      </p:sp>
    </p:spTree>
    <p:extLst>
      <p:ext uri="{BB962C8B-B14F-4D97-AF65-F5344CB8AC3E}">
        <p14:creationId xmlns:p14="http://schemas.microsoft.com/office/powerpoint/2010/main" val="39792785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D03424-5BD2-344B-0C4C-80BC7735B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ABC934-2A36-D80C-B585-31C84F8365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Hares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91F9CE1-EBFA-DF9A-1172-C7661E73194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19850093"/>
              </p:ext>
            </p:extLst>
          </p:nvPr>
        </p:nvGraphicFramePr>
        <p:xfrm>
          <a:off x="1690687" y="1804198"/>
          <a:ext cx="5762625" cy="12192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810528">
                  <a:extLst>
                    <a:ext uri="{9D8B030D-6E8A-4147-A177-3AD203B41FA5}">
                      <a16:colId xmlns:a16="http://schemas.microsoft.com/office/drawing/2014/main" val="2507504743"/>
                    </a:ext>
                  </a:extLst>
                </a:gridCol>
                <a:gridCol w="4952097">
                  <a:extLst>
                    <a:ext uri="{9D8B030D-6E8A-4147-A177-3AD203B41FA5}">
                      <a16:colId xmlns:a16="http://schemas.microsoft.com/office/drawing/2014/main" val="23082133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Year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Hare Population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5534421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0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60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5971243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1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72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343083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2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86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312008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3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103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47557978"/>
                  </a:ext>
                </a:extLst>
              </a:tr>
            </a:tbl>
          </a:graphicData>
        </a:graphic>
      </p:graphicFrame>
      <p:pic>
        <p:nvPicPr>
          <p:cNvPr id="5" name="Picture 4" descr="A graph with green dots&#10;&#10;Description automatically generated">
            <a:extLst>
              <a:ext uri="{FF2B5EF4-FFF2-40B4-BE49-F238E27FC236}">
                <a16:creationId xmlns:a16="http://schemas.microsoft.com/office/drawing/2014/main" id="{BAB4FAEC-873F-7C2B-F70A-9B05BB91F6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8799" y="3200400"/>
            <a:ext cx="5486400" cy="3657600"/>
          </a:xfrm>
          <a:prstGeom prst="rect">
            <a:avLst/>
          </a:prstGeom>
        </p:spPr>
      </p:pic>
      <p:pic>
        <p:nvPicPr>
          <p:cNvPr id="7" name="Picture 6" descr="A diagram of a circle with a circle and a circle with a circle with a circle with a circle with a circle with a circle with a circle with a circle with a circle with a circle with&#10;&#10;Description automatically generated">
            <a:extLst>
              <a:ext uri="{FF2B5EF4-FFF2-40B4-BE49-F238E27FC236}">
                <a16:creationId xmlns:a16="http://schemas.microsoft.com/office/drawing/2014/main" id="{86B386FE-AF6C-A9DE-476D-E551E2717A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3710" y="1498248"/>
            <a:ext cx="1820290" cy="1005950"/>
          </a:xfrm>
          <a:prstGeom prst="rect">
            <a:avLst/>
          </a:prstGeom>
        </p:spPr>
      </p:pic>
      <p:pic>
        <p:nvPicPr>
          <p:cNvPr id="8" name="Picture 7" descr="A black and white image of a cat&#10;&#10;Description automatically generated">
            <a:extLst>
              <a:ext uri="{FF2B5EF4-FFF2-40B4-BE49-F238E27FC236}">
                <a16:creationId xmlns:a16="http://schemas.microsoft.com/office/drawing/2014/main" id="{F24BBE17-C319-AD9D-5886-002EE841D1F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6230" y="232632"/>
            <a:ext cx="1512811" cy="844429"/>
          </a:xfrm>
          <a:prstGeom prst="rect">
            <a:avLst/>
          </a:prstGeom>
          <a:solidFill>
            <a:schemeClr val="bg1"/>
          </a:solidFill>
          <a:ln w="88900" cap="sq">
            <a:noFill/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C1F28D8A-2E60-1801-B350-68713EE7D046}"/>
              </a:ext>
            </a:extLst>
          </p:cNvPr>
          <p:cNvSpPr/>
          <p:nvPr/>
        </p:nvSpPr>
        <p:spPr>
          <a:xfrm>
            <a:off x="6112565" y="3488634"/>
            <a:ext cx="765313" cy="3379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953241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C3F1C-8382-B6FB-4CE7-A78028AC5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EA3633-D252-5715-D9EE-AD750661A4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Hares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807B706-0C4C-2CDA-1643-DAA65C4E3BAC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690687" y="1804198"/>
          <a:ext cx="5762625" cy="12192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810528">
                  <a:extLst>
                    <a:ext uri="{9D8B030D-6E8A-4147-A177-3AD203B41FA5}">
                      <a16:colId xmlns:a16="http://schemas.microsoft.com/office/drawing/2014/main" val="2507504743"/>
                    </a:ext>
                  </a:extLst>
                </a:gridCol>
                <a:gridCol w="4952097">
                  <a:extLst>
                    <a:ext uri="{9D8B030D-6E8A-4147-A177-3AD203B41FA5}">
                      <a16:colId xmlns:a16="http://schemas.microsoft.com/office/drawing/2014/main" val="23082133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Year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Hare Population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5534421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0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60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5971243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1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72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343083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2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86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312008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3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103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47557978"/>
                  </a:ext>
                </a:extLst>
              </a:tr>
            </a:tbl>
          </a:graphicData>
        </a:graphic>
      </p:graphicFrame>
      <p:pic>
        <p:nvPicPr>
          <p:cNvPr id="5" name="Picture 4" descr="A graph with green dots&#10;&#10;Description automatically generated">
            <a:extLst>
              <a:ext uri="{FF2B5EF4-FFF2-40B4-BE49-F238E27FC236}">
                <a16:creationId xmlns:a16="http://schemas.microsoft.com/office/drawing/2014/main" id="{844F5AD2-7446-86C5-F8C2-E644F65EE5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8799" y="3200400"/>
            <a:ext cx="5486400" cy="3657600"/>
          </a:xfrm>
          <a:prstGeom prst="rect">
            <a:avLst/>
          </a:prstGeom>
        </p:spPr>
      </p:pic>
      <p:pic>
        <p:nvPicPr>
          <p:cNvPr id="7" name="Picture 6" descr="A diagram of a circle with a circle and a circle with a circle with a circle with a circle with a circle with a circle with a circle with a circle with a circle with a circle with&#10;&#10;Description automatically generated">
            <a:extLst>
              <a:ext uri="{FF2B5EF4-FFF2-40B4-BE49-F238E27FC236}">
                <a16:creationId xmlns:a16="http://schemas.microsoft.com/office/drawing/2014/main" id="{C0D4139A-81D0-2732-1733-67E199C537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3710" y="1498248"/>
            <a:ext cx="1820290" cy="1005950"/>
          </a:xfrm>
          <a:prstGeom prst="rect">
            <a:avLst/>
          </a:prstGeom>
        </p:spPr>
      </p:pic>
      <p:pic>
        <p:nvPicPr>
          <p:cNvPr id="8" name="Picture 7" descr="A black and white image of a cat&#10;&#10;Description automatically generated">
            <a:extLst>
              <a:ext uri="{FF2B5EF4-FFF2-40B4-BE49-F238E27FC236}">
                <a16:creationId xmlns:a16="http://schemas.microsoft.com/office/drawing/2014/main" id="{D981B8AD-090B-04E8-4A05-231C76ACFDF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6230" y="232632"/>
            <a:ext cx="1512811" cy="844429"/>
          </a:xfrm>
          <a:prstGeom prst="rect">
            <a:avLst/>
          </a:prstGeom>
          <a:solidFill>
            <a:schemeClr val="bg1"/>
          </a:solidFill>
          <a:ln w="88900" cap="sq">
            <a:noFill/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37465650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49B85-B352-00C0-F20D-F5AC324A91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F829D7-7FA5-51BD-3D82-E8835E1B7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Hare Population</a:t>
            </a:r>
          </a:p>
        </p:txBody>
      </p:sp>
      <p:pic>
        <p:nvPicPr>
          <p:cNvPr id="5" name="Content Placeholder 4" descr="A group of white papers with yellow dots&#10;&#10;Description automatically generated">
            <a:extLst>
              <a:ext uri="{FF2B5EF4-FFF2-40B4-BE49-F238E27FC236}">
                <a16:creationId xmlns:a16="http://schemas.microsoft.com/office/drawing/2014/main" id="{C4F8E45B-877D-F513-61AF-2889A53BC07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664" b="47890"/>
          <a:stretch/>
        </p:blipFill>
        <p:spPr>
          <a:xfrm>
            <a:off x="1113209" y="2118356"/>
            <a:ext cx="7086574" cy="3656280"/>
          </a:xfrm>
        </p:spPr>
      </p:pic>
      <p:pic>
        <p:nvPicPr>
          <p:cNvPr id="3" name="Picture 2" descr="A black and white image of a cat&#10;&#10;Description automatically generated">
            <a:extLst>
              <a:ext uri="{FF2B5EF4-FFF2-40B4-BE49-F238E27FC236}">
                <a16:creationId xmlns:a16="http://schemas.microsoft.com/office/drawing/2014/main" id="{8FAF8B86-DCC9-0843-36CC-FA3A8944D65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6230" y="232632"/>
            <a:ext cx="1512811" cy="844429"/>
          </a:xfrm>
          <a:prstGeom prst="rect">
            <a:avLst/>
          </a:prstGeom>
          <a:solidFill>
            <a:schemeClr val="bg1"/>
          </a:solidFill>
          <a:ln w="88900" cap="sq">
            <a:noFill/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4667957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1D0BF2-096C-6BAF-32AC-2666F1FC81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83C155B-4ACD-D1DB-DC4E-56FA8EDF10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 dirty="0"/>
              <a:t>How to we make a model for a Lynx population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658CE3C-8DC7-B7FF-1A8F-82AE0B4D44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Lynx</a:t>
            </a:r>
          </a:p>
        </p:txBody>
      </p:sp>
      <p:pic>
        <p:nvPicPr>
          <p:cNvPr id="5" name="Picture 4" descr="A screenshot of a diagram&#10;&#10;Description automatically generated">
            <a:extLst>
              <a:ext uri="{FF2B5EF4-FFF2-40B4-BE49-F238E27FC236}">
                <a16:creationId xmlns:a16="http://schemas.microsoft.com/office/drawing/2014/main" id="{E4E1FB37-6B86-31DC-CA55-18CB4312FFF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020" t="51216" r="50614" b="37028"/>
          <a:stretch/>
        </p:blipFill>
        <p:spPr bwMode="auto">
          <a:xfrm>
            <a:off x="3316679" y="2268104"/>
            <a:ext cx="2242694" cy="129408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8" name="Picture 7" descr="A line drawing of a cat&#10;&#10;Description automatically generated">
            <a:extLst>
              <a:ext uri="{FF2B5EF4-FFF2-40B4-BE49-F238E27FC236}">
                <a16:creationId xmlns:a16="http://schemas.microsoft.com/office/drawing/2014/main" id="{888D793E-5E66-FE86-1DC0-3F893D477528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51" t="24076" r="9787" b="18710"/>
          <a:stretch/>
        </p:blipFill>
        <p:spPr bwMode="auto">
          <a:xfrm flipH="1">
            <a:off x="5636670" y="4300853"/>
            <a:ext cx="1901167" cy="1268086"/>
          </a:xfrm>
          <a:prstGeom prst="rect">
            <a:avLst/>
          </a:prstGeom>
          <a:solidFill>
            <a:schemeClr val="bg1"/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9" name="Content Placeholder 7" descr="A collage of graphs and diagrams&#10;&#10;Description automatically generated">
            <a:extLst>
              <a:ext uri="{FF2B5EF4-FFF2-40B4-BE49-F238E27FC236}">
                <a16:creationId xmlns:a16="http://schemas.microsoft.com/office/drawing/2014/main" id="{76C326CB-FADF-B1D6-C9EF-B8551ADA99E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187" t="39961" b="2047"/>
          <a:stretch/>
        </p:blipFill>
        <p:spPr bwMode="auto">
          <a:xfrm flipH="1">
            <a:off x="1228222" y="3707352"/>
            <a:ext cx="2242694" cy="2242694"/>
          </a:xfrm>
          <a:prstGeom prst="ellipse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6709649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E8F054-A63E-41EA-E40F-73B8E4B91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E6127-A2DA-E3DB-7F27-BB7FDDCD31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Lynx</a:t>
            </a:r>
          </a:p>
        </p:txBody>
      </p:sp>
      <p:pic>
        <p:nvPicPr>
          <p:cNvPr id="4" name="Picture 3" descr="A screenshot of a diagram&#10;&#10;Description automatically generated">
            <a:extLst>
              <a:ext uri="{FF2B5EF4-FFF2-40B4-BE49-F238E27FC236}">
                <a16:creationId xmlns:a16="http://schemas.microsoft.com/office/drawing/2014/main" id="{FF229B88-0215-C181-AE7E-43F03771C74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020" t="51216" r="50614" b="37028"/>
          <a:stretch/>
        </p:blipFill>
        <p:spPr bwMode="auto">
          <a:xfrm>
            <a:off x="7635240" y="1514765"/>
            <a:ext cx="1508760" cy="87058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BF5DD19-0574-ED3B-9CF4-91C9B4E41C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E"/>
          </a:p>
        </p:txBody>
      </p:sp>
      <p:pic>
        <p:nvPicPr>
          <p:cNvPr id="7" name="Content Placeholder 4" descr="A screenshot of a graph&#10;&#10;Description automatically generated">
            <a:extLst>
              <a:ext uri="{FF2B5EF4-FFF2-40B4-BE49-F238E27FC236}">
                <a16:creationId xmlns:a16="http://schemas.microsoft.com/office/drawing/2014/main" id="{6282FBC5-6BB6-A5F2-523A-D465FB34C1D1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618" t="15497" r="7152" b="61936"/>
          <a:stretch/>
        </p:blipFill>
        <p:spPr bwMode="auto">
          <a:xfrm>
            <a:off x="1494364" y="2051437"/>
            <a:ext cx="6234304" cy="2790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Picture 7" descr="A line drawing of a cat&#10;&#10;Description automatically generated">
            <a:extLst>
              <a:ext uri="{FF2B5EF4-FFF2-40B4-BE49-F238E27FC236}">
                <a16:creationId xmlns:a16="http://schemas.microsoft.com/office/drawing/2014/main" id="{C6ED3A7A-F1DE-2D1E-B787-6D4D712615B5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51" t="24076" r="9787" b="18710"/>
          <a:stretch/>
        </p:blipFill>
        <p:spPr bwMode="auto">
          <a:xfrm flipH="1">
            <a:off x="7575992" y="275390"/>
            <a:ext cx="1365250" cy="910627"/>
          </a:xfrm>
          <a:prstGeom prst="rect">
            <a:avLst/>
          </a:prstGeom>
          <a:solidFill>
            <a:schemeClr val="bg1"/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1AB547B-D499-6B99-62E9-21EAA53AD736}"/>
              </a:ext>
            </a:extLst>
          </p:cNvPr>
          <p:cNvSpPr txBox="1"/>
          <p:nvPr/>
        </p:nvSpPr>
        <p:spPr>
          <a:xfrm>
            <a:off x="2266122" y="5252037"/>
            <a:ext cx="461175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E" sz="3600" b="1" kern="100" dirty="0" err="1">
                <a:latin typeface="Helvetica" pitchFamily="2" charset="0"/>
              </a:rPr>
              <a:t>L</a:t>
            </a:r>
            <a:r>
              <a:rPr lang="en-IE" sz="3600" b="1" kern="100" baseline="-25000" dirty="0" err="1">
                <a:latin typeface="Helvetica" pitchFamily="2" charset="0"/>
              </a:rPr>
              <a:t>Future</a:t>
            </a:r>
            <a:r>
              <a:rPr lang="en-IE" sz="3600" kern="100" dirty="0">
                <a:latin typeface="Helvetica" pitchFamily="2" charset="0"/>
              </a:rPr>
              <a:t>= </a:t>
            </a:r>
            <a:r>
              <a:rPr lang="en-IE" sz="3600" kern="100" dirty="0">
                <a:solidFill>
                  <a:srgbClr val="FF0000"/>
                </a:solidFill>
                <a:effectLst/>
                <a:latin typeface="Helvetica" pitchFamily="2" charset="0"/>
              </a:rPr>
              <a:t>L</a:t>
            </a:r>
            <a:r>
              <a:rPr lang="en-IE" sz="3600" kern="100" dirty="0">
                <a:solidFill>
                  <a:schemeClr val="tx1"/>
                </a:solidFill>
                <a:effectLst/>
                <a:latin typeface="Helvetica" pitchFamily="2" charset="0"/>
              </a:rPr>
              <a:t>-</a:t>
            </a:r>
            <a:r>
              <a:rPr lang="en-IE" sz="3600" kern="100" dirty="0">
                <a:solidFill>
                  <a:srgbClr val="00B0F0"/>
                </a:solidFill>
                <a:effectLst/>
                <a:latin typeface="Helvetica" pitchFamily="2" charset="0"/>
              </a:rPr>
              <a:t>0.1</a:t>
            </a:r>
            <a:r>
              <a:rPr lang="en-IE" sz="3600" kern="100" dirty="0">
                <a:solidFill>
                  <a:schemeClr val="tx1"/>
                </a:solidFill>
                <a:effectLst/>
                <a:latin typeface="Helvetica" pitchFamily="2" charset="0"/>
              </a:rPr>
              <a:t>(</a:t>
            </a:r>
            <a:r>
              <a:rPr lang="en-IE" sz="3600" kern="100" dirty="0">
                <a:solidFill>
                  <a:srgbClr val="FF0000"/>
                </a:solidFill>
                <a:effectLst/>
                <a:latin typeface="Helvetica" pitchFamily="2" charset="0"/>
              </a:rPr>
              <a:t>L</a:t>
            </a:r>
            <a:r>
              <a:rPr lang="en-IE" sz="3600" kern="100" dirty="0">
                <a:solidFill>
                  <a:schemeClr val="tx1"/>
                </a:solidFill>
                <a:effectLst/>
                <a:latin typeface="Helvetica" pitchFamily="2" charset="0"/>
              </a:rPr>
              <a:t>)</a:t>
            </a:r>
            <a:endParaRPr lang="en-IE" sz="3600" dirty="0"/>
          </a:p>
        </p:txBody>
      </p:sp>
    </p:spTree>
    <p:extLst>
      <p:ext uri="{BB962C8B-B14F-4D97-AF65-F5344CB8AC3E}">
        <p14:creationId xmlns:p14="http://schemas.microsoft.com/office/powerpoint/2010/main" val="28529697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57EEE-EB17-314F-237C-417568E5A6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987284-16FA-71CB-3D3F-0CB52DEBB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Lynx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F48E5DC-B193-1C56-B73F-627B4006D51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04686468"/>
              </p:ext>
            </p:extLst>
          </p:nvPr>
        </p:nvGraphicFramePr>
        <p:xfrm>
          <a:off x="1690687" y="4300908"/>
          <a:ext cx="5762625" cy="12192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810528">
                  <a:extLst>
                    <a:ext uri="{9D8B030D-6E8A-4147-A177-3AD203B41FA5}">
                      <a16:colId xmlns:a16="http://schemas.microsoft.com/office/drawing/2014/main" val="2507504743"/>
                    </a:ext>
                  </a:extLst>
                </a:gridCol>
                <a:gridCol w="4952097">
                  <a:extLst>
                    <a:ext uri="{9D8B030D-6E8A-4147-A177-3AD203B41FA5}">
                      <a16:colId xmlns:a16="http://schemas.microsoft.com/office/drawing/2014/main" val="23082133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</a:rPr>
                        <a:t>Lynx Population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5534421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</a:rPr>
                        <a:t>0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30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5971243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</a:rPr>
                        <a:t>1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</a:rPr>
                        <a:t> 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343083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</a:rPr>
                        <a:t>2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</a:rPr>
                        <a:t> 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312008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</a:rPr>
                        <a:t>3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</a:rPr>
                        <a:t> 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47557978"/>
                  </a:ext>
                </a:extLst>
              </a:tr>
            </a:tbl>
          </a:graphicData>
        </a:graphic>
      </p:graphicFrame>
      <p:pic>
        <p:nvPicPr>
          <p:cNvPr id="3" name="Content Placeholder 4" descr="A screenshot of a graph&#10;&#10;Description automatically generated">
            <a:extLst>
              <a:ext uri="{FF2B5EF4-FFF2-40B4-BE49-F238E27FC236}">
                <a16:creationId xmlns:a16="http://schemas.microsoft.com/office/drawing/2014/main" id="{6282FBC5-6BB6-A5F2-523A-D465FB34C1D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618" t="15497" r="7152" b="61936"/>
          <a:stretch/>
        </p:blipFill>
        <p:spPr bwMode="auto">
          <a:xfrm>
            <a:off x="1529890" y="1645921"/>
            <a:ext cx="6037833" cy="270256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6" descr="A screenshot of a diagram&#10;&#10;Description automatically generated">
            <a:extLst>
              <a:ext uri="{FF2B5EF4-FFF2-40B4-BE49-F238E27FC236}">
                <a16:creationId xmlns:a16="http://schemas.microsoft.com/office/drawing/2014/main" id="{982B0169-FA30-4362-CFD9-770599E012C1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020" t="51216" r="50614" b="37028"/>
          <a:stretch/>
        </p:blipFill>
        <p:spPr bwMode="auto">
          <a:xfrm>
            <a:off x="7635240" y="1530667"/>
            <a:ext cx="1508760" cy="87058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8" name="Picture 7" descr="A line drawing of a cat&#10;&#10;Description automatically generated">
            <a:extLst>
              <a:ext uri="{FF2B5EF4-FFF2-40B4-BE49-F238E27FC236}">
                <a16:creationId xmlns:a16="http://schemas.microsoft.com/office/drawing/2014/main" id="{B81D0C9C-E5FE-44F4-5689-406DA6F1B08F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51" t="24076" r="9787" b="18710"/>
          <a:stretch/>
        </p:blipFill>
        <p:spPr bwMode="auto">
          <a:xfrm flipH="1">
            <a:off x="7575992" y="275390"/>
            <a:ext cx="1365250" cy="910627"/>
          </a:xfrm>
          <a:prstGeom prst="rect">
            <a:avLst/>
          </a:prstGeom>
          <a:solidFill>
            <a:schemeClr val="bg1"/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405404553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BA17B7-549D-9C62-4928-A5B012780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EDA876-66EA-3B4C-2059-F92AA78CD6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Lynx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97E7C2A-1117-DE36-09C7-96F02400DDF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66685908"/>
              </p:ext>
            </p:extLst>
          </p:nvPr>
        </p:nvGraphicFramePr>
        <p:xfrm>
          <a:off x="1690687" y="2067686"/>
          <a:ext cx="5762625" cy="12192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810528">
                  <a:extLst>
                    <a:ext uri="{9D8B030D-6E8A-4147-A177-3AD203B41FA5}">
                      <a16:colId xmlns:a16="http://schemas.microsoft.com/office/drawing/2014/main" val="2507504743"/>
                    </a:ext>
                  </a:extLst>
                </a:gridCol>
                <a:gridCol w="4952097">
                  <a:extLst>
                    <a:ext uri="{9D8B030D-6E8A-4147-A177-3AD203B41FA5}">
                      <a16:colId xmlns:a16="http://schemas.microsoft.com/office/drawing/2014/main" val="23082133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Year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Lynx Population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5534421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0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30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5971243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1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343083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2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312008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3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47557978"/>
                  </a:ext>
                </a:extLst>
              </a:tr>
            </a:tbl>
          </a:graphicData>
        </a:graphic>
      </p:graphicFrame>
      <p:pic>
        <p:nvPicPr>
          <p:cNvPr id="3" name="Picture 2" descr="A screenshot of a diagram&#10;&#10;Description automatically generated">
            <a:extLst>
              <a:ext uri="{FF2B5EF4-FFF2-40B4-BE49-F238E27FC236}">
                <a16:creationId xmlns:a16="http://schemas.microsoft.com/office/drawing/2014/main" id="{0A185FE9-55AA-1AB2-E020-3E5C6D3BFCE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020" t="51216" r="50614" b="37028"/>
          <a:stretch/>
        </p:blipFill>
        <p:spPr bwMode="auto">
          <a:xfrm>
            <a:off x="7635240" y="1610180"/>
            <a:ext cx="1508760" cy="87058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8" name="Picture 7" descr="A graph with numbers and a red dot&#10;&#10;Description automatically generated">
            <a:extLst>
              <a:ext uri="{FF2B5EF4-FFF2-40B4-BE49-F238E27FC236}">
                <a16:creationId xmlns:a16="http://schemas.microsoft.com/office/drawing/2014/main" id="{A779BC4D-F522-4C23-A500-7AA343DD92E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8800" y="3411108"/>
            <a:ext cx="5486400" cy="3657600"/>
          </a:xfrm>
          <a:prstGeom prst="rect">
            <a:avLst/>
          </a:prstGeom>
        </p:spPr>
      </p:pic>
      <p:pic>
        <p:nvPicPr>
          <p:cNvPr id="9" name="Picture 8" descr="A line drawing of a cat&#10;&#10;Description automatically generated">
            <a:extLst>
              <a:ext uri="{FF2B5EF4-FFF2-40B4-BE49-F238E27FC236}">
                <a16:creationId xmlns:a16="http://schemas.microsoft.com/office/drawing/2014/main" id="{473143CE-B89B-248D-B06B-49BB8B3810ED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51" t="24076" r="9787" b="18710"/>
          <a:stretch/>
        </p:blipFill>
        <p:spPr bwMode="auto">
          <a:xfrm flipH="1">
            <a:off x="7575992" y="275390"/>
            <a:ext cx="1365250" cy="910627"/>
          </a:xfrm>
          <a:prstGeom prst="rect">
            <a:avLst/>
          </a:prstGeom>
          <a:solidFill>
            <a:schemeClr val="bg1"/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90F18D0-834B-48EA-1859-32617A941D41}"/>
              </a:ext>
            </a:extLst>
          </p:cNvPr>
          <p:cNvSpPr txBox="1"/>
          <p:nvPr/>
        </p:nvSpPr>
        <p:spPr>
          <a:xfrm>
            <a:off x="2117035" y="1421355"/>
            <a:ext cx="461175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E" sz="3600" b="1" kern="100" dirty="0" err="1">
                <a:latin typeface="Helvetica" pitchFamily="2" charset="0"/>
              </a:rPr>
              <a:t>L</a:t>
            </a:r>
            <a:r>
              <a:rPr lang="en-IE" sz="3600" b="1" kern="100" baseline="-25000" dirty="0" err="1">
                <a:latin typeface="Helvetica" pitchFamily="2" charset="0"/>
              </a:rPr>
              <a:t>Future</a:t>
            </a:r>
            <a:r>
              <a:rPr lang="en-IE" sz="3600" kern="100" dirty="0">
                <a:latin typeface="Helvetica" pitchFamily="2" charset="0"/>
              </a:rPr>
              <a:t>= </a:t>
            </a:r>
            <a:r>
              <a:rPr lang="en-IE" sz="3600" kern="100" dirty="0">
                <a:solidFill>
                  <a:srgbClr val="FF0000"/>
                </a:solidFill>
                <a:effectLst/>
                <a:latin typeface="Helvetica" pitchFamily="2" charset="0"/>
              </a:rPr>
              <a:t>L</a:t>
            </a:r>
            <a:r>
              <a:rPr lang="en-IE" sz="3600" kern="100" dirty="0">
                <a:solidFill>
                  <a:schemeClr val="tx1"/>
                </a:solidFill>
                <a:effectLst/>
                <a:latin typeface="Helvetica" pitchFamily="2" charset="0"/>
              </a:rPr>
              <a:t>-</a:t>
            </a:r>
            <a:r>
              <a:rPr lang="en-IE" sz="3600" kern="100" dirty="0">
                <a:solidFill>
                  <a:srgbClr val="00B0F0"/>
                </a:solidFill>
                <a:effectLst/>
                <a:latin typeface="Helvetica" pitchFamily="2" charset="0"/>
              </a:rPr>
              <a:t>0.1</a:t>
            </a:r>
            <a:r>
              <a:rPr lang="en-IE" sz="3600" kern="100" dirty="0">
                <a:solidFill>
                  <a:schemeClr val="tx1"/>
                </a:solidFill>
                <a:effectLst/>
                <a:latin typeface="Helvetica" pitchFamily="2" charset="0"/>
              </a:rPr>
              <a:t>(</a:t>
            </a:r>
            <a:r>
              <a:rPr lang="en-IE" sz="3600" kern="100" dirty="0">
                <a:solidFill>
                  <a:srgbClr val="FF0000"/>
                </a:solidFill>
                <a:effectLst/>
                <a:latin typeface="Helvetica" pitchFamily="2" charset="0"/>
              </a:rPr>
              <a:t>L</a:t>
            </a:r>
            <a:r>
              <a:rPr lang="en-IE" sz="3600" kern="100" dirty="0">
                <a:solidFill>
                  <a:schemeClr val="tx1"/>
                </a:solidFill>
                <a:effectLst/>
                <a:latin typeface="Helvetica" pitchFamily="2" charset="0"/>
              </a:rPr>
              <a:t>)</a:t>
            </a:r>
            <a:endParaRPr lang="en-IE" sz="3600" dirty="0"/>
          </a:p>
        </p:txBody>
      </p:sp>
    </p:spTree>
    <p:extLst>
      <p:ext uri="{BB962C8B-B14F-4D97-AF65-F5344CB8AC3E}">
        <p14:creationId xmlns:p14="http://schemas.microsoft.com/office/powerpoint/2010/main" val="9695987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8E29C-C659-1C74-FF94-09BC556D2A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3BECA6-5E63-F799-165E-FD4282FA1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Lynx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8A07A3E-AD61-7E93-4BE4-EE034179041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70001727"/>
              </p:ext>
            </p:extLst>
          </p:nvPr>
        </p:nvGraphicFramePr>
        <p:xfrm>
          <a:off x="1690687" y="2067686"/>
          <a:ext cx="5762625" cy="12192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810528">
                  <a:extLst>
                    <a:ext uri="{9D8B030D-6E8A-4147-A177-3AD203B41FA5}">
                      <a16:colId xmlns:a16="http://schemas.microsoft.com/office/drawing/2014/main" val="2507504743"/>
                    </a:ext>
                  </a:extLst>
                </a:gridCol>
                <a:gridCol w="4952097">
                  <a:extLst>
                    <a:ext uri="{9D8B030D-6E8A-4147-A177-3AD203B41FA5}">
                      <a16:colId xmlns:a16="http://schemas.microsoft.com/office/drawing/2014/main" val="23082133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Year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Lynx Population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5534421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0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30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5971243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1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30-0.1(30)=27</a:t>
                      </a:r>
                      <a:endParaRPr lang="en-IE" sz="16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343083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2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312008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3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47557978"/>
                  </a:ext>
                </a:extLst>
              </a:tr>
            </a:tbl>
          </a:graphicData>
        </a:graphic>
      </p:graphicFrame>
      <p:pic>
        <p:nvPicPr>
          <p:cNvPr id="3" name="Picture 2" descr="A screenshot of a diagram&#10;&#10;Description automatically generated">
            <a:extLst>
              <a:ext uri="{FF2B5EF4-FFF2-40B4-BE49-F238E27FC236}">
                <a16:creationId xmlns:a16="http://schemas.microsoft.com/office/drawing/2014/main" id="{7E50C77F-D7E3-1326-5916-67B19369D54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020" t="51216" r="50614" b="37028"/>
          <a:stretch/>
        </p:blipFill>
        <p:spPr bwMode="auto">
          <a:xfrm>
            <a:off x="7635240" y="1610180"/>
            <a:ext cx="1508760" cy="87058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8" name="Picture 7" descr="A graph with numbers and a red dot&#10;&#10;Description automatically generated">
            <a:extLst>
              <a:ext uri="{FF2B5EF4-FFF2-40B4-BE49-F238E27FC236}">
                <a16:creationId xmlns:a16="http://schemas.microsoft.com/office/drawing/2014/main" id="{59F6A10A-1A82-B8D3-E7C0-A9930B684B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8800" y="3411108"/>
            <a:ext cx="5486400" cy="3657600"/>
          </a:xfrm>
          <a:prstGeom prst="rect">
            <a:avLst/>
          </a:prstGeom>
        </p:spPr>
      </p:pic>
      <p:pic>
        <p:nvPicPr>
          <p:cNvPr id="9" name="Picture 8" descr="A line drawing of a cat&#10;&#10;Description automatically generated">
            <a:extLst>
              <a:ext uri="{FF2B5EF4-FFF2-40B4-BE49-F238E27FC236}">
                <a16:creationId xmlns:a16="http://schemas.microsoft.com/office/drawing/2014/main" id="{399C48F8-5581-12F3-6C35-B72B8155926C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51" t="24076" r="9787" b="18710"/>
          <a:stretch/>
        </p:blipFill>
        <p:spPr bwMode="auto">
          <a:xfrm flipH="1">
            <a:off x="7575992" y="275390"/>
            <a:ext cx="1365250" cy="910627"/>
          </a:xfrm>
          <a:prstGeom prst="rect">
            <a:avLst/>
          </a:prstGeom>
          <a:solidFill>
            <a:schemeClr val="bg1"/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B35CECB-11FC-7FE4-DFF9-64FB49DBF6A4}"/>
              </a:ext>
            </a:extLst>
          </p:cNvPr>
          <p:cNvSpPr txBox="1"/>
          <p:nvPr/>
        </p:nvSpPr>
        <p:spPr>
          <a:xfrm>
            <a:off x="2117035" y="1421355"/>
            <a:ext cx="461175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E" sz="3600" b="1" kern="100" dirty="0" err="1">
                <a:latin typeface="Helvetica" pitchFamily="2" charset="0"/>
              </a:rPr>
              <a:t>L</a:t>
            </a:r>
            <a:r>
              <a:rPr lang="en-IE" sz="3600" b="1" kern="100" baseline="-25000" dirty="0" err="1">
                <a:latin typeface="Helvetica" pitchFamily="2" charset="0"/>
              </a:rPr>
              <a:t>Future</a:t>
            </a:r>
            <a:r>
              <a:rPr lang="en-IE" sz="3600" kern="100" dirty="0">
                <a:latin typeface="Helvetica" pitchFamily="2" charset="0"/>
              </a:rPr>
              <a:t>= </a:t>
            </a:r>
            <a:r>
              <a:rPr lang="en-IE" sz="3600" kern="100" dirty="0">
                <a:solidFill>
                  <a:srgbClr val="FF0000"/>
                </a:solidFill>
                <a:effectLst/>
                <a:latin typeface="Helvetica" pitchFamily="2" charset="0"/>
              </a:rPr>
              <a:t>L</a:t>
            </a:r>
            <a:r>
              <a:rPr lang="en-IE" sz="3600" kern="100" dirty="0">
                <a:solidFill>
                  <a:schemeClr val="tx1"/>
                </a:solidFill>
                <a:effectLst/>
                <a:latin typeface="Helvetica" pitchFamily="2" charset="0"/>
              </a:rPr>
              <a:t>-</a:t>
            </a:r>
            <a:r>
              <a:rPr lang="en-IE" sz="3600" kern="100" dirty="0">
                <a:solidFill>
                  <a:srgbClr val="00B0F0"/>
                </a:solidFill>
                <a:effectLst/>
                <a:latin typeface="Helvetica" pitchFamily="2" charset="0"/>
              </a:rPr>
              <a:t>0.1</a:t>
            </a:r>
            <a:r>
              <a:rPr lang="en-IE" sz="3600" kern="100" dirty="0">
                <a:solidFill>
                  <a:schemeClr val="tx1"/>
                </a:solidFill>
                <a:effectLst/>
                <a:latin typeface="Helvetica" pitchFamily="2" charset="0"/>
              </a:rPr>
              <a:t>(</a:t>
            </a:r>
            <a:r>
              <a:rPr lang="en-IE" sz="3600" kern="100" dirty="0">
                <a:solidFill>
                  <a:srgbClr val="FF0000"/>
                </a:solidFill>
                <a:effectLst/>
                <a:latin typeface="Helvetica" pitchFamily="2" charset="0"/>
              </a:rPr>
              <a:t>L</a:t>
            </a:r>
            <a:r>
              <a:rPr lang="en-IE" sz="3600" kern="100" dirty="0">
                <a:solidFill>
                  <a:schemeClr val="tx1"/>
                </a:solidFill>
                <a:effectLst/>
                <a:latin typeface="Helvetica" pitchFamily="2" charset="0"/>
              </a:rPr>
              <a:t>)</a:t>
            </a:r>
            <a:endParaRPr lang="en-IE" sz="36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D693C7A6-606B-5A6B-97AF-2653B17CD928}"/>
                  </a:ext>
                </a:extLst>
              </p14:cNvPr>
              <p14:cNvContentPartPr/>
              <p14:nvPr/>
            </p14:nvContentPartPr>
            <p14:xfrm>
              <a:off x="3654783" y="5724939"/>
              <a:ext cx="360" cy="36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D693C7A6-606B-5A6B-97AF-2653B17CD928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619143" y="5689299"/>
                <a:ext cx="72000" cy="72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9902675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C82BD-05EB-8A9E-BCBD-945C0F607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A1DD8A-1FD6-FBD2-CD8B-CF54B75AC4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Lynx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F1B9126-E327-4B07-E443-DA50B727578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01886586"/>
              </p:ext>
            </p:extLst>
          </p:nvPr>
        </p:nvGraphicFramePr>
        <p:xfrm>
          <a:off x="1690687" y="2067686"/>
          <a:ext cx="5762625" cy="12192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810528">
                  <a:extLst>
                    <a:ext uri="{9D8B030D-6E8A-4147-A177-3AD203B41FA5}">
                      <a16:colId xmlns:a16="http://schemas.microsoft.com/office/drawing/2014/main" val="2507504743"/>
                    </a:ext>
                  </a:extLst>
                </a:gridCol>
                <a:gridCol w="4952097">
                  <a:extLst>
                    <a:ext uri="{9D8B030D-6E8A-4147-A177-3AD203B41FA5}">
                      <a16:colId xmlns:a16="http://schemas.microsoft.com/office/drawing/2014/main" val="23082133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Year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Lynx Population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5534421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0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30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5971243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1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30-0.1(30)=27</a:t>
                      </a:r>
                      <a:endParaRPr lang="en-IE" sz="16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343083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2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27-0.1(27)=24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312008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3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47557978"/>
                  </a:ext>
                </a:extLst>
              </a:tr>
            </a:tbl>
          </a:graphicData>
        </a:graphic>
      </p:graphicFrame>
      <p:pic>
        <p:nvPicPr>
          <p:cNvPr id="3" name="Picture 2" descr="A screenshot of a diagram&#10;&#10;Description automatically generated">
            <a:extLst>
              <a:ext uri="{FF2B5EF4-FFF2-40B4-BE49-F238E27FC236}">
                <a16:creationId xmlns:a16="http://schemas.microsoft.com/office/drawing/2014/main" id="{BDB2D815-AA88-7270-B98F-A086F3BFD5B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020" t="51216" r="50614" b="37028"/>
          <a:stretch/>
        </p:blipFill>
        <p:spPr bwMode="auto">
          <a:xfrm>
            <a:off x="7635240" y="1610180"/>
            <a:ext cx="1508760" cy="87058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8" name="Picture 7" descr="A graph with numbers and a red dot&#10;&#10;Description automatically generated">
            <a:extLst>
              <a:ext uri="{FF2B5EF4-FFF2-40B4-BE49-F238E27FC236}">
                <a16:creationId xmlns:a16="http://schemas.microsoft.com/office/drawing/2014/main" id="{AC9FF8E4-4C97-F273-F5B0-4C44BB19F2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8800" y="3411108"/>
            <a:ext cx="5486400" cy="3657600"/>
          </a:xfrm>
          <a:prstGeom prst="rect">
            <a:avLst/>
          </a:prstGeom>
        </p:spPr>
      </p:pic>
      <p:pic>
        <p:nvPicPr>
          <p:cNvPr id="9" name="Picture 8" descr="A line drawing of a cat&#10;&#10;Description automatically generated">
            <a:extLst>
              <a:ext uri="{FF2B5EF4-FFF2-40B4-BE49-F238E27FC236}">
                <a16:creationId xmlns:a16="http://schemas.microsoft.com/office/drawing/2014/main" id="{D89ABC99-6689-6040-D0E1-3ABD1E1AE560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51" t="24076" r="9787" b="18710"/>
          <a:stretch/>
        </p:blipFill>
        <p:spPr bwMode="auto">
          <a:xfrm flipH="1">
            <a:off x="7575992" y="275390"/>
            <a:ext cx="1365250" cy="910627"/>
          </a:xfrm>
          <a:prstGeom prst="rect">
            <a:avLst/>
          </a:prstGeom>
          <a:solidFill>
            <a:schemeClr val="bg1"/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ABDD49F-8080-25AC-1E88-AE44829EFE72}"/>
              </a:ext>
            </a:extLst>
          </p:cNvPr>
          <p:cNvSpPr txBox="1"/>
          <p:nvPr/>
        </p:nvSpPr>
        <p:spPr>
          <a:xfrm>
            <a:off x="2117035" y="1421355"/>
            <a:ext cx="461175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E" sz="3600" b="1" kern="100" dirty="0" err="1">
                <a:latin typeface="Helvetica" pitchFamily="2" charset="0"/>
              </a:rPr>
              <a:t>L</a:t>
            </a:r>
            <a:r>
              <a:rPr lang="en-IE" sz="3600" b="1" kern="100" baseline="-25000" dirty="0" err="1">
                <a:latin typeface="Helvetica" pitchFamily="2" charset="0"/>
              </a:rPr>
              <a:t>Future</a:t>
            </a:r>
            <a:r>
              <a:rPr lang="en-IE" sz="3600" kern="100" dirty="0">
                <a:latin typeface="Helvetica" pitchFamily="2" charset="0"/>
              </a:rPr>
              <a:t>= </a:t>
            </a:r>
            <a:r>
              <a:rPr lang="en-IE" sz="3600" kern="100" dirty="0">
                <a:solidFill>
                  <a:srgbClr val="FF0000"/>
                </a:solidFill>
                <a:effectLst/>
                <a:latin typeface="Helvetica" pitchFamily="2" charset="0"/>
              </a:rPr>
              <a:t>L</a:t>
            </a:r>
            <a:r>
              <a:rPr lang="en-IE" sz="3600" kern="100" dirty="0">
                <a:solidFill>
                  <a:schemeClr val="tx1"/>
                </a:solidFill>
                <a:effectLst/>
                <a:latin typeface="Helvetica" pitchFamily="2" charset="0"/>
              </a:rPr>
              <a:t>-</a:t>
            </a:r>
            <a:r>
              <a:rPr lang="en-IE" sz="3600" kern="100" dirty="0">
                <a:solidFill>
                  <a:srgbClr val="00B0F0"/>
                </a:solidFill>
                <a:effectLst/>
                <a:latin typeface="Helvetica" pitchFamily="2" charset="0"/>
              </a:rPr>
              <a:t>0.1</a:t>
            </a:r>
            <a:r>
              <a:rPr lang="en-IE" sz="3600" kern="100" dirty="0">
                <a:solidFill>
                  <a:schemeClr val="tx1"/>
                </a:solidFill>
                <a:effectLst/>
                <a:latin typeface="Helvetica" pitchFamily="2" charset="0"/>
              </a:rPr>
              <a:t>(</a:t>
            </a:r>
            <a:r>
              <a:rPr lang="en-IE" sz="3600" kern="100" dirty="0">
                <a:solidFill>
                  <a:srgbClr val="FF0000"/>
                </a:solidFill>
                <a:effectLst/>
                <a:latin typeface="Helvetica" pitchFamily="2" charset="0"/>
              </a:rPr>
              <a:t>L</a:t>
            </a:r>
            <a:r>
              <a:rPr lang="en-IE" sz="3600" kern="100" dirty="0">
                <a:solidFill>
                  <a:schemeClr val="tx1"/>
                </a:solidFill>
                <a:effectLst/>
                <a:latin typeface="Helvetica" pitchFamily="2" charset="0"/>
              </a:rPr>
              <a:t>)</a:t>
            </a:r>
            <a:endParaRPr lang="en-IE" sz="36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13DC3932-AEC5-965E-4540-6E8C72FD63E1}"/>
                  </a:ext>
                </a:extLst>
              </p14:cNvPr>
              <p14:cNvContentPartPr/>
              <p14:nvPr/>
            </p14:nvContentPartPr>
            <p14:xfrm>
              <a:off x="3654783" y="5724939"/>
              <a:ext cx="360" cy="36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13DC3932-AEC5-965E-4540-6E8C72FD63E1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619143" y="5689299"/>
                <a:ext cx="72000" cy="7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87709E4D-4E39-12AC-EFDF-25D0E941BBF8}"/>
                  </a:ext>
                </a:extLst>
              </p14:cNvPr>
              <p14:cNvContentPartPr/>
              <p14:nvPr/>
            </p14:nvContentPartPr>
            <p14:xfrm>
              <a:off x="4490343" y="5762379"/>
              <a:ext cx="360" cy="36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87709E4D-4E39-12AC-EFDF-25D0E941BBF8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454343" y="5726379"/>
                <a:ext cx="72000" cy="72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9162978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7DAAA-BB59-AE7C-1949-3224BE43C5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8E15E-06F0-422A-41CE-46AE9459B2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Lynx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BB3C331-CE6D-1D51-7859-97F9CEB32B9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69269376"/>
              </p:ext>
            </p:extLst>
          </p:nvPr>
        </p:nvGraphicFramePr>
        <p:xfrm>
          <a:off x="1690687" y="2067686"/>
          <a:ext cx="5762625" cy="12192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810528">
                  <a:extLst>
                    <a:ext uri="{9D8B030D-6E8A-4147-A177-3AD203B41FA5}">
                      <a16:colId xmlns:a16="http://schemas.microsoft.com/office/drawing/2014/main" val="2507504743"/>
                    </a:ext>
                  </a:extLst>
                </a:gridCol>
                <a:gridCol w="4952097">
                  <a:extLst>
                    <a:ext uri="{9D8B030D-6E8A-4147-A177-3AD203B41FA5}">
                      <a16:colId xmlns:a16="http://schemas.microsoft.com/office/drawing/2014/main" val="23082133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Year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Lynx Population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5534421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0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30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5971243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1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30-0.1(30)=27</a:t>
                      </a:r>
                      <a:endParaRPr lang="en-IE" sz="16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343083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2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27-0.1(27)=24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312008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3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24-0.1(24)=22 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47557978"/>
                  </a:ext>
                </a:extLst>
              </a:tr>
            </a:tbl>
          </a:graphicData>
        </a:graphic>
      </p:graphicFrame>
      <p:pic>
        <p:nvPicPr>
          <p:cNvPr id="3" name="Picture 2" descr="A screenshot of a diagram&#10;&#10;Description automatically generated">
            <a:extLst>
              <a:ext uri="{FF2B5EF4-FFF2-40B4-BE49-F238E27FC236}">
                <a16:creationId xmlns:a16="http://schemas.microsoft.com/office/drawing/2014/main" id="{D38A140F-F118-4330-85E7-89FE77441E1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020" t="51216" r="50614" b="37028"/>
          <a:stretch/>
        </p:blipFill>
        <p:spPr bwMode="auto">
          <a:xfrm>
            <a:off x="7635240" y="1610180"/>
            <a:ext cx="1508760" cy="87058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8" name="Picture 7" descr="A graph with numbers and a red dot&#10;&#10;Description automatically generated">
            <a:extLst>
              <a:ext uri="{FF2B5EF4-FFF2-40B4-BE49-F238E27FC236}">
                <a16:creationId xmlns:a16="http://schemas.microsoft.com/office/drawing/2014/main" id="{D470B814-9E11-0594-CBA1-64D8B2E21C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8800" y="3411108"/>
            <a:ext cx="5486400" cy="3657600"/>
          </a:xfrm>
          <a:prstGeom prst="rect">
            <a:avLst/>
          </a:prstGeom>
        </p:spPr>
      </p:pic>
      <p:pic>
        <p:nvPicPr>
          <p:cNvPr id="9" name="Picture 8" descr="A line drawing of a cat&#10;&#10;Description automatically generated">
            <a:extLst>
              <a:ext uri="{FF2B5EF4-FFF2-40B4-BE49-F238E27FC236}">
                <a16:creationId xmlns:a16="http://schemas.microsoft.com/office/drawing/2014/main" id="{1D531CB3-9234-D140-0EC0-0C755F29D72F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51" t="24076" r="9787" b="18710"/>
          <a:stretch/>
        </p:blipFill>
        <p:spPr bwMode="auto">
          <a:xfrm flipH="1">
            <a:off x="7575992" y="275390"/>
            <a:ext cx="1365250" cy="910627"/>
          </a:xfrm>
          <a:prstGeom prst="rect">
            <a:avLst/>
          </a:prstGeom>
          <a:solidFill>
            <a:schemeClr val="bg1"/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5470C8A-B085-5FFA-8CC8-C3B3B66FC98C}"/>
              </a:ext>
            </a:extLst>
          </p:cNvPr>
          <p:cNvSpPr txBox="1"/>
          <p:nvPr/>
        </p:nvSpPr>
        <p:spPr>
          <a:xfrm>
            <a:off x="2117035" y="1421355"/>
            <a:ext cx="461175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E" sz="3600" b="1" kern="100" dirty="0" err="1">
                <a:latin typeface="Helvetica" pitchFamily="2" charset="0"/>
              </a:rPr>
              <a:t>L</a:t>
            </a:r>
            <a:r>
              <a:rPr lang="en-IE" sz="3600" b="1" kern="100" baseline="-25000" dirty="0" err="1">
                <a:latin typeface="Helvetica" pitchFamily="2" charset="0"/>
              </a:rPr>
              <a:t>Future</a:t>
            </a:r>
            <a:r>
              <a:rPr lang="en-IE" sz="3600" kern="100" dirty="0">
                <a:latin typeface="Helvetica" pitchFamily="2" charset="0"/>
              </a:rPr>
              <a:t>= </a:t>
            </a:r>
            <a:r>
              <a:rPr lang="en-IE" sz="3600" kern="100" dirty="0">
                <a:solidFill>
                  <a:srgbClr val="FF0000"/>
                </a:solidFill>
                <a:effectLst/>
                <a:latin typeface="Helvetica" pitchFamily="2" charset="0"/>
              </a:rPr>
              <a:t>L</a:t>
            </a:r>
            <a:r>
              <a:rPr lang="en-IE" sz="3600" kern="100" dirty="0">
                <a:solidFill>
                  <a:schemeClr val="tx1"/>
                </a:solidFill>
                <a:effectLst/>
                <a:latin typeface="Helvetica" pitchFamily="2" charset="0"/>
              </a:rPr>
              <a:t>-</a:t>
            </a:r>
            <a:r>
              <a:rPr lang="en-IE" sz="3600" kern="100" dirty="0">
                <a:solidFill>
                  <a:srgbClr val="00B0F0"/>
                </a:solidFill>
                <a:effectLst/>
                <a:latin typeface="Helvetica" pitchFamily="2" charset="0"/>
              </a:rPr>
              <a:t>0.1</a:t>
            </a:r>
            <a:r>
              <a:rPr lang="en-IE" sz="3600" kern="100" dirty="0">
                <a:solidFill>
                  <a:schemeClr val="tx1"/>
                </a:solidFill>
                <a:effectLst/>
                <a:latin typeface="Helvetica" pitchFamily="2" charset="0"/>
              </a:rPr>
              <a:t>(</a:t>
            </a:r>
            <a:r>
              <a:rPr lang="en-IE" sz="3600" kern="100" dirty="0">
                <a:solidFill>
                  <a:srgbClr val="FF0000"/>
                </a:solidFill>
                <a:effectLst/>
                <a:latin typeface="Helvetica" pitchFamily="2" charset="0"/>
              </a:rPr>
              <a:t>L</a:t>
            </a:r>
            <a:r>
              <a:rPr lang="en-IE" sz="3600" kern="100" dirty="0">
                <a:solidFill>
                  <a:schemeClr val="tx1"/>
                </a:solidFill>
                <a:effectLst/>
                <a:latin typeface="Helvetica" pitchFamily="2" charset="0"/>
              </a:rPr>
              <a:t>)</a:t>
            </a:r>
            <a:endParaRPr lang="en-IE" sz="36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3CDB3469-4EFF-AB8E-3E77-2A572DBF4E9D}"/>
                  </a:ext>
                </a:extLst>
              </p14:cNvPr>
              <p14:cNvContentPartPr/>
              <p14:nvPr/>
            </p14:nvContentPartPr>
            <p14:xfrm>
              <a:off x="3654783" y="5724939"/>
              <a:ext cx="360" cy="36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3CDB3469-4EFF-AB8E-3E77-2A572DBF4E9D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619143" y="5689299"/>
                <a:ext cx="72000" cy="7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D4ACBC8B-13E6-A6C5-8A65-240F22374286}"/>
                  </a:ext>
                </a:extLst>
              </p14:cNvPr>
              <p14:cNvContentPartPr/>
              <p14:nvPr/>
            </p14:nvContentPartPr>
            <p14:xfrm>
              <a:off x="4490343" y="5762379"/>
              <a:ext cx="360" cy="36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D4ACBC8B-13E6-A6C5-8A65-240F22374286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454343" y="5726379"/>
                <a:ext cx="72000" cy="7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F5B2D90B-B02F-B3CE-4564-205A2BBFE4D4}"/>
                  </a:ext>
                </a:extLst>
              </p14:cNvPr>
              <p14:cNvContentPartPr/>
              <p14:nvPr/>
            </p14:nvContentPartPr>
            <p14:xfrm>
              <a:off x="5284503" y="5778939"/>
              <a:ext cx="360" cy="36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F5B2D90B-B02F-B3CE-4564-205A2BBFE4D4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248503" y="5742939"/>
                <a:ext cx="72000" cy="72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9264680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96C9E-F49C-D9EC-9B3A-5FC939DFC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033814-B58E-F37F-6C31-7CD70B64F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Lynx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E2A7E70-9D31-97B4-4897-6FAA7BFDC1C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76952577"/>
              </p:ext>
            </p:extLst>
          </p:nvPr>
        </p:nvGraphicFramePr>
        <p:xfrm>
          <a:off x="1690687" y="1804198"/>
          <a:ext cx="5762625" cy="12192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810528">
                  <a:extLst>
                    <a:ext uri="{9D8B030D-6E8A-4147-A177-3AD203B41FA5}">
                      <a16:colId xmlns:a16="http://schemas.microsoft.com/office/drawing/2014/main" val="2507504743"/>
                    </a:ext>
                  </a:extLst>
                </a:gridCol>
                <a:gridCol w="4952097">
                  <a:extLst>
                    <a:ext uri="{9D8B030D-6E8A-4147-A177-3AD203B41FA5}">
                      <a16:colId xmlns:a16="http://schemas.microsoft.com/office/drawing/2014/main" val="23082133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Year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Lynx Population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5534421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0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30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5971243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1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27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343083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2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24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312008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3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22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47557978"/>
                  </a:ext>
                </a:extLst>
              </a:tr>
            </a:tbl>
          </a:graphicData>
        </a:graphic>
      </p:graphicFrame>
      <p:pic>
        <p:nvPicPr>
          <p:cNvPr id="3" name="Picture 2" descr="A screenshot of a diagram&#10;&#10;Description automatically generated">
            <a:extLst>
              <a:ext uri="{FF2B5EF4-FFF2-40B4-BE49-F238E27FC236}">
                <a16:creationId xmlns:a16="http://schemas.microsoft.com/office/drawing/2014/main" id="{89B17BE8-4597-ABAA-7C08-36B8D0137BB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020" t="51216" r="50614" b="37028"/>
          <a:stretch/>
        </p:blipFill>
        <p:spPr bwMode="auto">
          <a:xfrm>
            <a:off x="7635240" y="1610180"/>
            <a:ext cx="1508760" cy="87058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8" name="Picture 7" descr="A graph with red dots and numbers&#10;&#10;Description automatically generated">
            <a:extLst>
              <a:ext uri="{FF2B5EF4-FFF2-40B4-BE49-F238E27FC236}">
                <a16:creationId xmlns:a16="http://schemas.microsoft.com/office/drawing/2014/main" id="{0DDC80EC-B7CE-BB40-17CE-1E0AE73B2C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8800" y="3110944"/>
            <a:ext cx="5486400" cy="3657600"/>
          </a:xfrm>
          <a:prstGeom prst="rect">
            <a:avLst/>
          </a:prstGeom>
        </p:spPr>
      </p:pic>
      <p:pic>
        <p:nvPicPr>
          <p:cNvPr id="9" name="Picture 8" descr="A line drawing of a cat&#10;&#10;Description automatically generated">
            <a:extLst>
              <a:ext uri="{FF2B5EF4-FFF2-40B4-BE49-F238E27FC236}">
                <a16:creationId xmlns:a16="http://schemas.microsoft.com/office/drawing/2014/main" id="{49F81492-3E18-5070-15BC-C0622FCA6616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51" t="24076" r="9787" b="18710"/>
          <a:stretch/>
        </p:blipFill>
        <p:spPr bwMode="auto">
          <a:xfrm flipH="1">
            <a:off x="7575992" y="275390"/>
            <a:ext cx="1365250" cy="910627"/>
          </a:xfrm>
          <a:prstGeom prst="rect">
            <a:avLst/>
          </a:prstGeom>
          <a:solidFill>
            <a:schemeClr val="bg1"/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A6FC7D2-7FDC-C249-61E8-FA83AF858916}"/>
              </a:ext>
            </a:extLst>
          </p:cNvPr>
          <p:cNvSpPr/>
          <p:nvPr/>
        </p:nvSpPr>
        <p:spPr>
          <a:xfrm>
            <a:off x="5973417" y="5705060"/>
            <a:ext cx="765313" cy="3379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3928871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418602-6BE8-ED7B-0F02-38C9D4934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70B987-7B51-4349-7E70-A230BADFE6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Lynx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A27B7C1-D1AD-4BE3-0166-116E288799CA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690687" y="1804198"/>
          <a:ext cx="5762625" cy="12192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810528">
                  <a:extLst>
                    <a:ext uri="{9D8B030D-6E8A-4147-A177-3AD203B41FA5}">
                      <a16:colId xmlns:a16="http://schemas.microsoft.com/office/drawing/2014/main" val="2507504743"/>
                    </a:ext>
                  </a:extLst>
                </a:gridCol>
                <a:gridCol w="4952097">
                  <a:extLst>
                    <a:ext uri="{9D8B030D-6E8A-4147-A177-3AD203B41FA5}">
                      <a16:colId xmlns:a16="http://schemas.microsoft.com/office/drawing/2014/main" val="23082133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Year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Lynx Population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5534421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0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30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5971243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1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27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343083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2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24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312008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3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22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47557978"/>
                  </a:ext>
                </a:extLst>
              </a:tr>
            </a:tbl>
          </a:graphicData>
        </a:graphic>
      </p:graphicFrame>
      <p:pic>
        <p:nvPicPr>
          <p:cNvPr id="3" name="Picture 2" descr="A screenshot of a diagram&#10;&#10;Description automatically generated">
            <a:extLst>
              <a:ext uri="{FF2B5EF4-FFF2-40B4-BE49-F238E27FC236}">
                <a16:creationId xmlns:a16="http://schemas.microsoft.com/office/drawing/2014/main" id="{33BE5698-4554-8D7C-0C88-50259932662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020" t="51216" r="50614" b="37028"/>
          <a:stretch/>
        </p:blipFill>
        <p:spPr bwMode="auto">
          <a:xfrm>
            <a:off x="7635240" y="1610180"/>
            <a:ext cx="1508760" cy="87058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8" name="Picture 7" descr="A graph with red dots and numbers&#10;&#10;Description automatically generated">
            <a:extLst>
              <a:ext uri="{FF2B5EF4-FFF2-40B4-BE49-F238E27FC236}">
                <a16:creationId xmlns:a16="http://schemas.microsoft.com/office/drawing/2014/main" id="{4EA11518-C7CC-DBF0-07EB-3CC8355E98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8800" y="3110944"/>
            <a:ext cx="5486400" cy="3657600"/>
          </a:xfrm>
          <a:prstGeom prst="rect">
            <a:avLst/>
          </a:prstGeom>
        </p:spPr>
      </p:pic>
      <p:pic>
        <p:nvPicPr>
          <p:cNvPr id="9" name="Picture 8" descr="A line drawing of a cat&#10;&#10;Description automatically generated">
            <a:extLst>
              <a:ext uri="{FF2B5EF4-FFF2-40B4-BE49-F238E27FC236}">
                <a16:creationId xmlns:a16="http://schemas.microsoft.com/office/drawing/2014/main" id="{5D1D8AA0-7D5B-C4ED-3417-E4B1683E77E9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51" t="24076" r="9787" b="18710"/>
          <a:stretch/>
        </p:blipFill>
        <p:spPr bwMode="auto">
          <a:xfrm flipH="1">
            <a:off x="7575992" y="275390"/>
            <a:ext cx="1365250" cy="910627"/>
          </a:xfrm>
          <a:prstGeom prst="rect">
            <a:avLst/>
          </a:prstGeom>
          <a:solidFill>
            <a:schemeClr val="bg1"/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75845601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0241FF-60D5-D60C-1365-FE413DFD95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BA5137-ABC4-39A8-F54A-8882972B43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Lynx</a:t>
            </a:r>
          </a:p>
        </p:txBody>
      </p:sp>
      <p:pic>
        <p:nvPicPr>
          <p:cNvPr id="5" name="Content Placeholder 4" descr="A group of white papers with yellow dots&#10;&#10;Description automatically generated">
            <a:extLst>
              <a:ext uri="{FF2B5EF4-FFF2-40B4-BE49-F238E27FC236}">
                <a16:creationId xmlns:a16="http://schemas.microsoft.com/office/drawing/2014/main" id="{D499528C-FC25-31DC-637A-044B0E49547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 b="46413"/>
          <a:stretch/>
        </p:blipFill>
        <p:spPr>
          <a:xfrm>
            <a:off x="838072" y="2037523"/>
            <a:ext cx="7252380" cy="3796748"/>
          </a:xfrm>
        </p:spPr>
      </p:pic>
      <p:pic>
        <p:nvPicPr>
          <p:cNvPr id="3" name="Picture 2" descr="A line drawing of a cat&#10;&#10;Description automatically generated">
            <a:extLst>
              <a:ext uri="{FF2B5EF4-FFF2-40B4-BE49-F238E27FC236}">
                <a16:creationId xmlns:a16="http://schemas.microsoft.com/office/drawing/2014/main" id="{D88C3D36-EE56-BF9E-329B-7C88DEA0A33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51" t="24076" r="9787" b="18710"/>
          <a:stretch/>
        </p:blipFill>
        <p:spPr bwMode="auto">
          <a:xfrm flipH="1">
            <a:off x="7575992" y="275390"/>
            <a:ext cx="1365250" cy="910627"/>
          </a:xfrm>
          <a:prstGeom prst="rect">
            <a:avLst/>
          </a:prstGeom>
          <a:solidFill>
            <a:schemeClr val="bg1"/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40542178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EAB7CA-FD68-6F23-272A-39E1FB8951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Predator and Prey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B95306-075D-5AE5-362B-5353D8D431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05189458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6DD11-91B9-82A2-C5DB-BDAD09961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10E286-5F97-599B-FA7C-150E681966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Predator and Prey</a:t>
            </a:r>
          </a:p>
        </p:txBody>
      </p:sp>
      <p:pic>
        <p:nvPicPr>
          <p:cNvPr id="5" name="Content Placeholder 4" descr="A screenshot of a diagram&#10;&#10;Description automatically generated">
            <a:extLst>
              <a:ext uri="{FF2B5EF4-FFF2-40B4-BE49-F238E27FC236}">
                <a16:creationId xmlns:a16="http://schemas.microsoft.com/office/drawing/2014/main" id="{37118A55-DCFE-162C-CEB7-C142586AD6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392" t="71435" r="25385" b="14363"/>
          <a:stretch/>
        </p:blipFill>
        <p:spPr bwMode="auto">
          <a:xfrm>
            <a:off x="1037396" y="2782957"/>
            <a:ext cx="7069208" cy="2536466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7" name="Picture 6" descr="A line drawing of a cat&#10;&#10;Description automatically generated">
            <a:extLst>
              <a:ext uri="{FF2B5EF4-FFF2-40B4-BE49-F238E27FC236}">
                <a16:creationId xmlns:a16="http://schemas.microsoft.com/office/drawing/2014/main" id="{B41FE764-1696-21CE-AB64-013F8567FEFA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51" t="24076" r="9787" b="18710"/>
          <a:stretch/>
        </p:blipFill>
        <p:spPr bwMode="auto">
          <a:xfrm flipH="1">
            <a:off x="5063380" y="1961067"/>
            <a:ext cx="1365250" cy="910627"/>
          </a:xfrm>
          <a:prstGeom prst="rect">
            <a:avLst/>
          </a:prstGeom>
          <a:solidFill>
            <a:schemeClr val="bg1"/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8" name="Picture 7" descr="A black and white image of a cat&#10;&#10;Description automatically generated">
            <a:extLst>
              <a:ext uri="{FF2B5EF4-FFF2-40B4-BE49-F238E27FC236}">
                <a16:creationId xmlns:a16="http://schemas.microsoft.com/office/drawing/2014/main" id="{AD6AE2CD-0B4D-1FFF-CE74-8EEABE48CD2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7810" y="2027265"/>
            <a:ext cx="1512811" cy="844429"/>
          </a:xfrm>
          <a:prstGeom prst="rect">
            <a:avLst/>
          </a:prstGeom>
          <a:solidFill>
            <a:schemeClr val="bg1"/>
          </a:solidFill>
          <a:ln w="88900" cap="sq">
            <a:noFill/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351588949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B0D87-CA1D-F37F-9975-65858714D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D55F8A-079E-0605-37ED-B922B10DD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Predator and Prey</a:t>
            </a:r>
          </a:p>
        </p:txBody>
      </p:sp>
      <p:pic>
        <p:nvPicPr>
          <p:cNvPr id="5" name="Content Placeholder 4" descr="A screenshot of a diagram&#10;&#10;Description automatically generated">
            <a:extLst>
              <a:ext uri="{FF2B5EF4-FFF2-40B4-BE49-F238E27FC236}">
                <a16:creationId xmlns:a16="http://schemas.microsoft.com/office/drawing/2014/main" id="{F5D0157C-9C5E-9837-11FC-C8492F213A2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392" t="71435" r="25385" b="14363"/>
          <a:stretch/>
        </p:blipFill>
        <p:spPr bwMode="auto">
          <a:xfrm>
            <a:off x="1037396" y="2782957"/>
            <a:ext cx="7069208" cy="2536466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7" name="Picture 6" descr="A line drawing of a cat&#10;&#10;Description automatically generated">
            <a:extLst>
              <a:ext uri="{FF2B5EF4-FFF2-40B4-BE49-F238E27FC236}">
                <a16:creationId xmlns:a16="http://schemas.microsoft.com/office/drawing/2014/main" id="{15E3688F-21A0-CF8B-C8E3-33F1AB69455F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51" t="24076" r="9787" b="18710"/>
          <a:stretch/>
        </p:blipFill>
        <p:spPr bwMode="auto">
          <a:xfrm flipH="1">
            <a:off x="5063380" y="1961067"/>
            <a:ext cx="1365250" cy="910627"/>
          </a:xfrm>
          <a:prstGeom prst="rect">
            <a:avLst/>
          </a:prstGeom>
          <a:solidFill>
            <a:schemeClr val="bg1"/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8" name="Picture 7" descr="A black and white image of a cat&#10;&#10;Description automatically generated">
            <a:extLst>
              <a:ext uri="{FF2B5EF4-FFF2-40B4-BE49-F238E27FC236}">
                <a16:creationId xmlns:a16="http://schemas.microsoft.com/office/drawing/2014/main" id="{C44BE6AC-182C-90B2-E253-C47D9799BFD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7810" y="2027265"/>
            <a:ext cx="1512811" cy="844429"/>
          </a:xfrm>
          <a:prstGeom prst="rect">
            <a:avLst/>
          </a:prstGeom>
          <a:solidFill>
            <a:schemeClr val="bg1"/>
          </a:solidFill>
          <a:ln w="88900" cap="sq">
            <a:noFill/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3" name="Text Box 10">
            <a:extLst>
              <a:ext uri="{FF2B5EF4-FFF2-40B4-BE49-F238E27FC236}">
                <a16:creationId xmlns:a16="http://schemas.microsoft.com/office/drawing/2014/main" id="{FF83A191-9602-D43F-1BBB-1FB891959798}"/>
              </a:ext>
            </a:extLst>
          </p:cNvPr>
          <p:cNvSpPr txBox="1"/>
          <p:nvPr/>
        </p:nvSpPr>
        <p:spPr>
          <a:xfrm>
            <a:off x="7502084" y="3600121"/>
            <a:ext cx="604520" cy="485140"/>
          </a:xfrm>
          <a:prstGeom prst="rect">
            <a:avLst/>
          </a:prstGeom>
          <a:solidFill>
            <a:schemeClr val="lt1"/>
          </a:solidFill>
          <a:ln w="6350">
            <a:solidFill>
              <a:prstClr val="black"/>
            </a:solidFill>
          </a:ln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buNone/>
            </a:pPr>
            <a:r>
              <a:rPr lang="en-IE" sz="1200" kern="10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Death rate</a:t>
            </a:r>
          </a:p>
        </p:txBody>
      </p:sp>
      <p:sp>
        <p:nvSpPr>
          <p:cNvPr id="4" name="Text Box 10">
            <a:extLst>
              <a:ext uri="{FF2B5EF4-FFF2-40B4-BE49-F238E27FC236}">
                <a16:creationId xmlns:a16="http://schemas.microsoft.com/office/drawing/2014/main" id="{FCC8D84F-BC08-4137-EA04-1B8AC662906F}"/>
              </a:ext>
            </a:extLst>
          </p:cNvPr>
          <p:cNvSpPr txBox="1"/>
          <p:nvPr/>
        </p:nvSpPr>
        <p:spPr>
          <a:xfrm>
            <a:off x="826695" y="3566050"/>
            <a:ext cx="604520" cy="485140"/>
          </a:xfrm>
          <a:prstGeom prst="rect">
            <a:avLst/>
          </a:prstGeom>
          <a:solidFill>
            <a:schemeClr val="lt1"/>
          </a:solidFill>
          <a:ln w="6350">
            <a:solidFill>
              <a:prstClr val="black"/>
            </a:solidFill>
          </a:ln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buNone/>
            </a:pPr>
            <a:r>
              <a:rPr lang="en-IE" sz="1200" kern="10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Birth rate</a:t>
            </a:r>
          </a:p>
        </p:txBody>
      </p:sp>
      <p:sp>
        <p:nvSpPr>
          <p:cNvPr id="6" name="Text Box 10">
            <a:extLst>
              <a:ext uri="{FF2B5EF4-FFF2-40B4-BE49-F238E27FC236}">
                <a16:creationId xmlns:a16="http://schemas.microsoft.com/office/drawing/2014/main" id="{86D853B2-FB8E-5901-8202-932C6CE10F1B}"/>
              </a:ext>
            </a:extLst>
          </p:cNvPr>
          <p:cNvSpPr txBox="1"/>
          <p:nvPr/>
        </p:nvSpPr>
        <p:spPr>
          <a:xfrm>
            <a:off x="4269740" y="4330936"/>
            <a:ext cx="604520" cy="485140"/>
          </a:xfrm>
          <a:prstGeom prst="rect">
            <a:avLst/>
          </a:prstGeom>
          <a:solidFill>
            <a:schemeClr val="lt1"/>
          </a:solidFill>
          <a:ln w="6350">
            <a:solidFill>
              <a:prstClr val="black"/>
            </a:solidFill>
          </a:ln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buNone/>
            </a:pPr>
            <a:r>
              <a:rPr lang="en-IE" sz="1200" kern="10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Eat Rate</a:t>
            </a:r>
          </a:p>
        </p:txBody>
      </p:sp>
      <p:sp>
        <p:nvSpPr>
          <p:cNvPr id="9" name="Text Box 10">
            <a:extLst>
              <a:ext uri="{FF2B5EF4-FFF2-40B4-BE49-F238E27FC236}">
                <a16:creationId xmlns:a16="http://schemas.microsoft.com/office/drawing/2014/main" id="{2278EB1E-413D-A625-5BA4-D4B46A4EB873}"/>
              </a:ext>
            </a:extLst>
          </p:cNvPr>
          <p:cNvSpPr txBox="1"/>
          <p:nvPr/>
        </p:nvSpPr>
        <p:spPr>
          <a:xfrm>
            <a:off x="4038076" y="2956155"/>
            <a:ext cx="604520" cy="485140"/>
          </a:xfrm>
          <a:prstGeom prst="rect">
            <a:avLst/>
          </a:prstGeom>
          <a:solidFill>
            <a:schemeClr val="lt1"/>
          </a:solidFill>
          <a:ln w="6350">
            <a:solidFill>
              <a:prstClr val="black"/>
            </a:solidFill>
          </a:ln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buNone/>
            </a:pPr>
            <a:r>
              <a:rPr lang="en-IE" sz="1200" kern="10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Food Rate</a:t>
            </a:r>
          </a:p>
        </p:txBody>
      </p:sp>
    </p:spTree>
    <p:extLst>
      <p:ext uri="{BB962C8B-B14F-4D97-AF65-F5344CB8AC3E}">
        <p14:creationId xmlns:p14="http://schemas.microsoft.com/office/powerpoint/2010/main" val="138467331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4E838-62DA-73AB-0312-7700D1E609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Predator and Prey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B787E158-CBCC-49AA-A893-B686657F649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50" t="15131" r="15032" b="59481"/>
          <a:stretch/>
        </p:blipFill>
        <p:spPr>
          <a:xfrm>
            <a:off x="1191236" y="1500755"/>
            <a:ext cx="6459524" cy="2699506"/>
          </a:xfrm>
        </p:spPr>
      </p:pic>
      <p:pic>
        <p:nvPicPr>
          <p:cNvPr id="4" name="Picture 3" descr="A screenshot of a graph&#10;&#10;Description automatically generated">
            <a:extLst>
              <a:ext uri="{FF2B5EF4-FFF2-40B4-BE49-F238E27FC236}">
                <a16:creationId xmlns:a16="http://schemas.microsoft.com/office/drawing/2014/main" id="{0B2E5AC9-CBA4-69A0-211D-E32249CFED8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95" t="15353" r="14402" b="61841"/>
          <a:stretch/>
        </p:blipFill>
        <p:spPr bwMode="auto">
          <a:xfrm>
            <a:off x="1305754" y="4025574"/>
            <a:ext cx="6532492" cy="25200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7" name="Picture 6" descr="A line drawing of a cat&#10;&#10;Description automatically generated">
            <a:extLst>
              <a:ext uri="{FF2B5EF4-FFF2-40B4-BE49-F238E27FC236}">
                <a16:creationId xmlns:a16="http://schemas.microsoft.com/office/drawing/2014/main" id="{42FAA1C1-CA01-FF16-411E-71F9115FA52D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51" t="24076" r="9787" b="18710"/>
          <a:stretch/>
        </p:blipFill>
        <p:spPr bwMode="auto">
          <a:xfrm flipH="1">
            <a:off x="316452" y="4374947"/>
            <a:ext cx="1365250" cy="910627"/>
          </a:xfrm>
          <a:prstGeom prst="rect">
            <a:avLst/>
          </a:prstGeom>
          <a:solidFill>
            <a:schemeClr val="bg1"/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8" name="Picture 7" descr="A black and white image of a cat&#10;&#10;Description automatically generated">
            <a:extLst>
              <a:ext uri="{FF2B5EF4-FFF2-40B4-BE49-F238E27FC236}">
                <a16:creationId xmlns:a16="http://schemas.microsoft.com/office/drawing/2014/main" id="{4E477D1E-3029-0E2C-B3AE-782C08C3707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2" y="1697759"/>
            <a:ext cx="1512811" cy="844429"/>
          </a:xfrm>
          <a:prstGeom prst="rect">
            <a:avLst/>
          </a:prstGeom>
          <a:solidFill>
            <a:schemeClr val="bg1"/>
          </a:solidFill>
          <a:ln w="88900" cap="sq">
            <a:noFill/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270789379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25A230-73FA-9ED0-E508-0E3258DC3E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9961E-BD55-74E3-F0B4-78A173C959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Predator and Prey</a:t>
            </a:r>
          </a:p>
        </p:txBody>
      </p:sp>
      <p:pic>
        <p:nvPicPr>
          <p:cNvPr id="7" name="Picture 6" descr="A line drawing of a cat&#10;&#10;Description automatically generated">
            <a:extLst>
              <a:ext uri="{FF2B5EF4-FFF2-40B4-BE49-F238E27FC236}">
                <a16:creationId xmlns:a16="http://schemas.microsoft.com/office/drawing/2014/main" id="{662007A1-CFD8-004B-7A97-D5B040C2319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51" t="24076" r="9787" b="18710"/>
          <a:stretch/>
        </p:blipFill>
        <p:spPr bwMode="auto">
          <a:xfrm flipH="1">
            <a:off x="316452" y="4374947"/>
            <a:ext cx="1365250" cy="910627"/>
          </a:xfrm>
          <a:prstGeom prst="rect">
            <a:avLst/>
          </a:prstGeom>
          <a:solidFill>
            <a:schemeClr val="bg1"/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8" name="Picture 7" descr="A black and white image of a cat&#10;&#10;Description automatically generated">
            <a:extLst>
              <a:ext uri="{FF2B5EF4-FFF2-40B4-BE49-F238E27FC236}">
                <a16:creationId xmlns:a16="http://schemas.microsoft.com/office/drawing/2014/main" id="{9E73B857-4201-7EEA-467F-49BBF088094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2" y="1697759"/>
            <a:ext cx="1512811" cy="844429"/>
          </a:xfrm>
          <a:prstGeom prst="rect">
            <a:avLst/>
          </a:prstGeom>
          <a:solidFill>
            <a:schemeClr val="bg1"/>
          </a:solidFill>
          <a:ln w="88900" cap="sq">
            <a:noFill/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1FB2C0C-7AB1-2372-BE88-21B1F0EC09B4}"/>
              </a:ext>
            </a:extLst>
          </p:cNvPr>
          <p:cNvSpPr txBox="1"/>
          <p:nvPr/>
        </p:nvSpPr>
        <p:spPr>
          <a:xfrm>
            <a:off x="2005071" y="1766030"/>
            <a:ext cx="732621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sz="4000" b="1" kern="100" dirty="0" err="1">
                <a:latin typeface="Helvetica" pitchFamily="2" charset="0"/>
              </a:rPr>
              <a:t>H</a:t>
            </a:r>
            <a:r>
              <a:rPr lang="en-IE" sz="4000" b="1" kern="100" baseline="-25000" dirty="0" err="1">
                <a:latin typeface="Helvetica" pitchFamily="2" charset="0"/>
              </a:rPr>
              <a:t>Future</a:t>
            </a:r>
            <a:r>
              <a:rPr lang="en-IE" sz="4000" kern="100" dirty="0">
                <a:latin typeface="Helvetica" pitchFamily="2" charset="0"/>
              </a:rPr>
              <a:t>=</a:t>
            </a:r>
            <a:r>
              <a:rPr lang="en-IE" sz="4000" kern="100" dirty="0">
                <a:solidFill>
                  <a:srgbClr val="92D050"/>
                </a:solidFill>
                <a:effectLst/>
                <a:latin typeface="Helvetica" pitchFamily="2" charset="0"/>
              </a:rPr>
              <a:t>H</a:t>
            </a:r>
            <a:r>
              <a:rPr lang="en-IE" sz="4000" kern="100" dirty="0">
                <a:solidFill>
                  <a:schemeClr val="tx1"/>
                </a:solidFill>
                <a:effectLst/>
                <a:latin typeface="Helvetica" pitchFamily="2" charset="0"/>
              </a:rPr>
              <a:t>+</a:t>
            </a:r>
            <a:r>
              <a:rPr lang="en-IE" sz="4000" kern="100" dirty="0">
                <a:solidFill>
                  <a:srgbClr val="00B0F0"/>
                </a:solidFill>
                <a:effectLst/>
                <a:latin typeface="Helvetica" pitchFamily="2" charset="0"/>
              </a:rPr>
              <a:t>0.2</a:t>
            </a:r>
            <a:r>
              <a:rPr lang="en-IE" sz="4000" kern="100" dirty="0">
                <a:solidFill>
                  <a:schemeClr val="tx1"/>
                </a:solidFill>
                <a:effectLst/>
                <a:latin typeface="Helvetica" pitchFamily="2" charset="0"/>
              </a:rPr>
              <a:t>(</a:t>
            </a:r>
            <a:r>
              <a:rPr lang="en-IE" sz="4000" kern="100" dirty="0">
                <a:solidFill>
                  <a:srgbClr val="92D050"/>
                </a:solidFill>
                <a:effectLst/>
                <a:latin typeface="Helvetica" pitchFamily="2" charset="0"/>
              </a:rPr>
              <a:t>H</a:t>
            </a:r>
            <a:r>
              <a:rPr lang="en-IE" sz="4000" u="none" kern="100" dirty="0">
                <a:solidFill>
                  <a:schemeClr val="tx1"/>
                </a:solidFill>
                <a:effectLst/>
                <a:latin typeface="Helvetica" pitchFamily="2" charset="0"/>
              </a:rPr>
              <a:t>)-</a:t>
            </a:r>
            <a:r>
              <a:rPr lang="en-IE" sz="4000" u="none" kern="100" dirty="0">
                <a:solidFill>
                  <a:srgbClr val="00B0F0"/>
                </a:solidFill>
                <a:effectLst/>
                <a:latin typeface="Helvetica" pitchFamily="2" charset="0"/>
              </a:rPr>
              <a:t>0.005</a:t>
            </a:r>
            <a:r>
              <a:rPr lang="en-IE" sz="4000" u="none" kern="100" dirty="0">
                <a:solidFill>
                  <a:schemeClr val="tx1"/>
                </a:solidFill>
                <a:effectLst/>
                <a:latin typeface="Helvetica" pitchFamily="2" charset="0"/>
              </a:rPr>
              <a:t>(</a:t>
            </a:r>
            <a:r>
              <a:rPr lang="en-IE" sz="4000" u="none" kern="100" dirty="0">
                <a:solidFill>
                  <a:srgbClr val="92D050"/>
                </a:solidFill>
                <a:effectLst/>
                <a:latin typeface="Helvetica" pitchFamily="2" charset="0"/>
              </a:rPr>
              <a:t>H</a:t>
            </a:r>
            <a:r>
              <a:rPr lang="en-IE" sz="4000" u="none" kern="100" dirty="0">
                <a:solidFill>
                  <a:schemeClr val="tx1"/>
                </a:solidFill>
                <a:effectLst/>
                <a:latin typeface="Helvetica" pitchFamily="2" charset="0"/>
              </a:rPr>
              <a:t>)(</a:t>
            </a:r>
            <a:r>
              <a:rPr lang="en-IE" sz="4000" u="none" kern="100" dirty="0">
                <a:solidFill>
                  <a:srgbClr val="FF0000"/>
                </a:solidFill>
                <a:effectLst/>
                <a:latin typeface="Helvetica" pitchFamily="2" charset="0"/>
              </a:rPr>
              <a:t>L</a:t>
            </a:r>
            <a:r>
              <a:rPr lang="en-IE" sz="4000" u="none" kern="100" dirty="0">
                <a:solidFill>
                  <a:schemeClr val="tx1"/>
                </a:solidFill>
                <a:effectLst/>
                <a:latin typeface="Helvetica" pitchFamily="2" charset="0"/>
              </a:rPr>
              <a:t>)</a:t>
            </a:r>
            <a:endParaRPr lang="en-US" sz="4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5A304BC-A02C-4FC5-1A21-02D82D16FB82}"/>
              </a:ext>
            </a:extLst>
          </p:cNvPr>
          <p:cNvSpPr txBox="1"/>
          <p:nvPr/>
        </p:nvSpPr>
        <p:spPr>
          <a:xfrm>
            <a:off x="2005071" y="4476317"/>
            <a:ext cx="700672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sz="4000" b="1" kern="100" dirty="0" err="1">
                <a:latin typeface="Helvetica" pitchFamily="2" charset="0"/>
              </a:rPr>
              <a:t>L</a:t>
            </a:r>
            <a:r>
              <a:rPr lang="en-IE" sz="4000" b="1" kern="100" baseline="-25000" dirty="0" err="1">
                <a:latin typeface="Helvetica" pitchFamily="2" charset="0"/>
              </a:rPr>
              <a:t>Future</a:t>
            </a:r>
            <a:r>
              <a:rPr lang="en-IE" sz="4000" kern="100" dirty="0">
                <a:latin typeface="Helvetica" pitchFamily="2" charset="0"/>
              </a:rPr>
              <a:t>= </a:t>
            </a:r>
            <a:r>
              <a:rPr lang="en-IE" sz="4000" kern="100" dirty="0">
                <a:solidFill>
                  <a:srgbClr val="FF0000"/>
                </a:solidFill>
                <a:effectLst/>
                <a:latin typeface="Helvetica" pitchFamily="2" charset="0"/>
              </a:rPr>
              <a:t>L</a:t>
            </a:r>
            <a:r>
              <a:rPr lang="en-IE" sz="4000" kern="100" dirty="0">
                <a:solidFill>
                  <a:schemeClr val="tx1"/>
                </a:solidFill>
                <a:effectLst/>
                <a:latin typeface="Helvetica" pitchFamily="2" charset="0"/>
              </a:rPr>
              <a:t>-</a:t>
            </a:r>
            <a:r>
              <a:rPr lang="en-IE" sz="4000" kern="100" dirty="0">
                <a:solidFill>
                  <a:srgbClr val="00B0F0"/>
                </a:solidFill>
                <a:effectLst/>
                <a:latin typeface="Helvetica" pitchFamily="2" charset="0"/>
              </a:rPr>
              <a:t>0.1</a:t>
            </a:r>
            <a:r>
              <a:rPr lang="en-IE" sz="4000" kern="100" dirty="0">
                <a:solidFill>
                  <a:schemeClr val="tx1"/>
                </a:solidFill>
                <a:effectLst/>
                <a:latin typeface="Helvetica" pitchFamily="2" charset="0"/>
              </a:rPr>
              <a:t>(</a:t>
            </a:r>
            <a:r>
              <a:rPr lang="en-IE" sz="4000" kern="100" dirty="0">
                <a:solidFill>
                  <a:srgbClr val="FF0000"/>
                </a:solidFill>
                <a:effectLst/>
                <a:latin typeface="Helvetica" pitchFamily="2" charset="0"/>
              </a:rPr>
              <a:t>L</a:t>
            </a:r>
            <a:r>
              <a:rPr lang="en-IE" sz="4000" kern="100" dirty="0">
                <a:solidFill>
                  <a:schemeClr val="tx1"/>
                </a:solidFill>
                <a:effectLst/>
                <a:latin typeface="Helvetica" pitchFamily="2" charset="0"/>
              </a:rPr>
              <a:t>)+</a:t>
            </a:r>
            <a:r>
              <a:rPr lang="en-IE" sz="4000" kern="100" dirty="0">
                <a:solidFill>
                  <a:srgbClr val="00B0F0"/>
                </a:solidFill>
                <a:effectLst/>
                <a:latin typeface="Helvetica" pitchFamily="2" charset="0"/>
              </a:rPr>
              <a:t>0.002</a:t>
            </a:r>
            <a:r>
              <a:rPr lang="en-IE" sz="4000" kern="100" dirty="0">
                <a:solidFill>
                  <a:schemeClr val="tx1"/>
                </a:solidFill>
                <a:effectLst/>
                <a:latin typeface="Helvetica" pitchFamily="2" charset="0"/>
              </a:rPr>
              <a:t>(</a:t>
            </a:r>
            <a:r>
              <a:rPr lang="en-IE" sz="4000" kern="100" dirty="0">
                <a:solidFill>
                  <a:srgbClr val="FF0000"/>
                </a:solidFill>
                <a:effectLst/>
                <a:latin typeface="Helvetica" pitchFamily="2" charset="0"/>
              </a:rPr>
              <a:t>L</a:t>
            </a:r>
            <a:r>
              <a:rPr lang="en-IE" sz="4000" kern="100" dirty="0">
                <a:solidFill>
                  <a:schemeClr val="tx1"/>
                </a:solidFill>
                <a:effectLst/>
                <a:latin typeface="Helvetica" pitchFamily="2" charset="0"/>
              </a:rPr>
              <a:t>)(</a:t>
            </a:r>
            <a:r>
              <a:rPr lang="en-IE" sz="4000" kern="100" dirty="0">
                <a:solidFill>
                  <a:srgbClr val="92D050"/>
                </a:solidFill>
                <a:effectLst/>
                <a:latin typeface="Helvetica" pitchFamily="2" charset="0"/>
              </a:rPr>
              <a:t>H</a:t>
            </a:r>
            <a:r>
              <a:rPr lang="en-IE" sz="4000" kern="100" dirty="0">
                <a:solidFill>
                  <a:schemeClr val="tx1"/>
                </a:solidFill>
                <a:effectLst/>
                <a:latin typeface="Helvetica" pitchFamily="2" charset="0"/>
              </a:rPr>
              <a:t>)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308239591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9E23B2-C89E-64FD-0C50-164965C77F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9C9FB7-FAE2-3342-307E-2195D15D57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Predator and Prey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D61452E-37D4-0F9D-AAFA-E09B436D184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06455113"/>
              </p:ext>
            </p:extLst>
          </p:nvPr>
        </p:nvGraphicFramePr>
        <p:xfrm>
          <a:off x="679836" y="2708808"/>
          <a:ext cx="7784327" cy="269368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822447">
                  <a:extLst>
                    <a:ext uri="{9D8B030D-6E8A-4147-A177-3AD203B41FA5}">
                      <a16:colId xmlns:a16="http://schemas.microsoft.com/office/drawing/2014/main" val="2207369774"/>
                    </a:ext>
                  </a:extLst>
                </a:gridCol>
                <a:gridCol w="3785150">
                  <a:extLst>
                    <a:ext uri="{9D8B030D-6E8A-4147-A177-3AD203B41FA5}">
                      <a16:colId xmlns:a16="http://schemas.microsoft.com/office/drawing/2014/main" val="3453499676"/>
                    </a:ext>
                  </a:extLst>
                </a:gridCol>
                <a:gridCol w="3176730">
                  <a:extLst>
                    <a:ext uri="{9D8B030D-6E8A-4147-A177-3AD203B41FA5}">
                      <a16:colId xmlns:a16="http://schemas.microsoft.com/office/drawing/2014/main" val="3021010827"/>
                    </a:ext>
                  </a:extLst>
                </a:gridCol>
              </a:tblGrid>
              <a:tr h="538736">
                <a:tc>
                  <a:txBody>
                    <a:bodyPr/>
                    <a:lstStyle/>
                    <a:p>
                      <a:pPr algn="r"/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Year</a:t>
                      </a: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Hare Population</a:t>
                      </a: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Lynx Population</a:t>
                      </a: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976014491"/>
                  </a:ext>
                </a:extLst>
              </a:tr>
              <a:tr h="538736">
                <a:tc>
                  <a:txBody>
                    <a:bodyPr/>
                    <a:lstStyle/>
                    <a:p>
                      <a:pPr algn="r"/>
                      <a:r>
                        <a:rPr lang="en-IE" sz="18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0</a:t>
                      </a:r>
                      <a:endParaRPr lang="en-IE" sz="18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60</a:t>
                      </a: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30</a:t>
                      </a:r>
                      <a:endParaRPr lang="en-IE" sz="18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970276524"/>
                  </a:ext>
                </a:extLst>
              </a:tr>
              <a:tr h="538736">
                <a:tc>
                  <a:txBody>
                    <a:bodyPr/>
                    <a:lstStyle/>
                    <a:p>
                      <a:pPr algn="r"/>
                      <a:r>
                        <a:rPr lang="en-IE" sz="18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1</a:t>
                      </a:r>
                      <a:endParaRPr lang="en-IE" sz="18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</a:t>
                      </a:r>
                      <a:endParaRPr lang="en-IE" sz="1800" u="none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</a:t>
                      </a: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20539885"/>
                  </a:ext>
                </a:extLst>
              </a:tr>
              <a:tr h="538736">
                <a:tc>
                  <a:txBody>
                    <a:bodyPr/>
                    <a:lstStyle/>
                    <a:p>
                      <a:pPr algn="r"/>
                      <a:r>
                        <a:rPr lang="en-IE" sz="18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2</a:t>
                      </a:r>
                      <a:endParaRPr lang="en-IE" sz="18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</a:t>
                      </a: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</a:t>
                      </a: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179268068"/>
                  </a:ext>
                </a:extLst>
              </a:tr>
              <a:tr h="538736">
                <a:tc>
                  <a:txBody>
                    <a:bodyPr/>
                    <a:lstStyle/>
                    <a:p>
                      <a:pPr algn="r"/>
                      <a:r>
                        <a:rPr lang="en-IE" sz="18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3</a:t>
                      </a:r>
                      <a:endParaRPr lang="en-IE" sz="18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</a:t>
                      </a:r>
                      <a:endParaRPr lang="en-IE" sz="18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</a:t>
                      </a: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2378926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8AAD9E8-C5DB-0938-2AD5-1A3F57788DA2}"/>
              </a:ext>
            </a:extLst>
          </p:cNvPr>
          <p:cNvSpPr txBox="1"/>
          <p:nvPr/>
        </p:nvSpPr>
        <p:spPr>
          <a:xfrm>
            <a:off x="683811" y="1634397"/>
            <a:ext cx="34034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b="1" kern="100" dirty="0" err="1">
                <a:latin typeface="Helvetica" pitchFamily="2" charset="0"/>
              </a:rPr>
              <a:t>H</a:t>
            </a:r>
            <a:r>
              <a:rPr lang="en-IE" b="1" kern="100" baseline="-25000" dirty="0" err="1">
                <a:latin typeface="Helvetica" pitchFamily="2" charset="0"/>
              </a:rPr>
              <a:t>Future</a:t>
            </a:r>
            <a:r>
              <a:rPr lang="en-IE" kern="100" dirty="0">
                <a:latin typeface="Helvetica" pitchFamily="2" charset="0"/>
              </a:rPr>
              <a:t>=</a:t>
            </a:r>
            <a:r>
              <a:rPr lang="en-IE" sz="1800" kern="100" dirty="0">
                <a:solidFill>
                  <a:srgbClr val="92D050"/>
                </a:solidFill>
                <a:effectLst/>
                <a:latin typeface="Helvetica" pitchFamily="2" charset="0"/>
              </a:rPr>
              <a:t>H</a:t>
            </a:r>
            <a:r>
              <a:rPr lang="en-IE" sz="1800" kern="100" dirty="0">
                <a:solidFill>
                  <a:schemeClr val="tx1"/>
                </a:solidFill>
                <a:effectLst/>
                <a:latin typeface="Helvetica" pitchFamily="2" charset="0"/>
              </a:rPr>
              <a:t>+</a:t>
            </a:r>
            <a:r>
              <a:rPr lang="en-IE" sz="1800" kern="100" dirty="0">
                <a:solidFill>
                  <a:srgbClr val="00B0F0"/>
                </a:solidFill>
                <a:effectLst/>
                <a:latin typeface="Helvetica" pitchFamily="2" charset="0"/>
              </a:rPr>
              <a:t>0.2</a:t>
            </a:r>
            <a:r>
              <a:rPr lang="en-IE" sz="1800" kern="100" dirty="0">
                <a:solidFill>
                  <a:schemeClr val="tx1"/>
                </a:solidFill>
                <a:effectLst/>
                <a:latin typeface="Helvetica" pitchFamily="2" charset="0"/>
              </a:rPr>
              <a:t>(</a:t>
            </a:r>
            <a:r>
              <a:rPr lang="en-IE" sz="1800" kern="100" dirty="0">
                <a:solidFill>
                  <a:srgbClr val="92D050"/>
                </a:solidFill>
                <a:effectLst/>
                <a:latin typeface="Helvetica" pitchFamily="2" charset="0"/>
              </a:rPr>
              <a:t>H</a:t>
            </a:r>
            <a:r>
              <a:rPr lang="en-IE" sz="1800" u="none" kern="100" dirty="0">
                <a:solidFill>
                  <a:schemeClr val="tx1"/>
                </a:solidFill>
                <a:effectLst/>
                <a:latin typeface="Helvetica" pitchFamily="2" charset="0"/>
              </a:rPr>
              <a:t>)-</a:t>
            </a:r>
            <a:r>
              <a:rPr lang="en-IE" sz="1800" u="none" kern="100" dirty="0">
                <a:solidFill>
                  <a:srgbClr val="00B0F0"/>
                </a:solidFill>
                <a:effectLst/>
                <a:latin typeface="Helvetica" pitchFamily="2" charset="0"/>
              </a:rPr>
              <a:t>0.005</a:t>
            </a:r>
            <a:r>
              <a:rPr lang="en-IE" sz="1800" u="none" kern="100" dirty="0">
                <a:solidFill>
                  <a:schemeClr val="tx1"/>
                </a:solidFill>
                <a:effectLst/>
                <a:latin typeface="Helvetica" pitchFamily="2" charset="0"/>
              </a:rPr>
              <a:t>(</a:t>
            </a:r>
            <a:r>
              <a:rPr lang="en-IE" sz="1800" u="none" kern="100" dirty="0">
                <a:solidFill>
                  <a:srgbClr val="92D050"/>
                </a:solidFill>
                <a:effectLst/>
                <a:latin typeface="Helvetica" pitchFamily="2" charset="0"/>
              </a:rPr>
              <a:t>H</a:t>
            </a:r>
            <a:r>
              <a:rPr lang="en-IE" sz="1800" u="none" kern="100" dirty="0">
                <a:solidFill>
                  <a:schemeClr val="tx1"/>
                </a:solidFill>
                <a:effectLst/>
                <a:latin typeface="Helvetica" pitchFamily="2" charset="0"/>
              </a:rPr>
              <a:t>)(</a:t>
            </a:r>
            <a:r>
              <a:rPr lang="en-IE" sz="1800" u="none" kern="100" dirty="0">
                <a:solidFill>
                  <a:srgbClr val="FF0000"/>
                </a:solidFill>
                <a:effectLst/>
                <a:latin typeface="Helvetica" pitchFamily="2" charset="0"/>
              </a:rPr>
              <a:t>L</a:t>
            </a:r>
            <a:r>
              <a:rPr lang="en-IE" sz="1800" u="none" kern="100" dirty="0">
                <a:solidFill>
                  <a:schemeClr val="tx1"/>
                </a:solidFill>
                <a:effectLst/>
                <a:latin typeface="Helvetica" pitchFamily="2" charset="0"/>
              </a:rPr>
              <a:t>)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EA5D3A-DE1C-B489-D7FD-727A039BE527}"/>
              </a:ext>
            </a:extLst>
          </p:cNvPr>
          <p:cNvSpPr txBox="1"/>
          <p:nvPr/>
        </p:nvSpPr>
        <p:spPr>
          <a:xfrm>
            <a:off x="5453351" y="1634397"/>
            <a:ext cx="34034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b="1" kern="100" dirty="0" err="1">
                <a:latin typeface="Helvetica" pitchFamily="2" charset="0"/>
              </a:rPr>
              <a:t>L</a:t>
            </a:r>
            <a:r>
              <a:rPr lang="en-IE" b="1" kern="100" baseline="-25000" dirty="0" err="1">
                <a:latin typeface="Helvetica" pitchFamily="2" charset="0"/>
              </a:rPr>
              <a:t>Future</a:t>
            </a:r>
            <a:r>
              <a:rPr lang="en-IE" kern="100" dirty="0">
                <a:latin typeface="Helvetica" pitchFamily="2" charset="0"/>
              </a:rPr>
              <a:t>= </a:t>
            </a:r>
            <a:r>
              <a:rPr lang="en-IE" sz="1800" kern="100" dirty="0">
                <a:solidFill>
                  <a:srgbClr val="FF0000"/>
                </a:solidFill>
                <a:effectLst/>
                <a:latin typeface="Helvetica" pitchFamily="2" charset="0"/>
              </a:rPr>
              <a:t>L</a:t>
            </a:r>
            <a:r>
              <a:rPr lang="en-IE" sz="1800" kern="100" dirty="0">
                <a:solidFill>
                  <a:schemeClr val="tx1"/>
                </a:solidFill>
                <a:effectLst/>
                <a:latin typeface="Helvetica" pitchFamily="2" charset="0"/>
              </a:rPr>
              <a:t>-</a:t>
            </a:r>
            <a:r>
              <a:rPr lang="en-IE" sz="1800" kern="100" dirty="0">
                <a:solidFill>
                  <a:srgbClr val="00B0F0"/>
                </a:solidFill>
                <a:effectLst/>
                <a:latin typeface="Helvetica" pitchFamily="2" charset="0"/>
              </a:rPr>
              <a:t>0.1</a:t>
            </a:r>
            <a:r>
              <a:rPr lang="en-IE" sz="1800" kern="100" dirty="0">
                <a:solidFill>
                  <a:schemeClr val="tx1"/>
                </a:solidFill>
                <a:effectLst/>
                <a:latin typeface="Helvetica" pitchFamily="2" charset="0"/>
              </a:rPr>
              <a:t>(</a:t>
            </a:r>
            <a:r>
              <a:rPr lang="en-IE" sz="1800" kern="100" dirty="0">
                <a:solidFill>
                  <a:srgbClr val="FF0000"/>
                </a:solidFill>
                <a:effectLst/>
                <a:latin typeface="Helvetica" pitchFamily="2" charset="0"/>
              </a:rPr>
              <a:t>L</a:t>
            </a:r>
            <a:r>
              <a:rPr lang="en-IE" sz="1800" kern="100" dirty="0">
                <a:solidFill>
                  <a:schemeClr val="tx1"/>
                </a:solidFill>
                <a:effectLst/>
                <a:latin typeface="Helvetica" pitchFamily="2" charset="0"/>
              </a:rPr>
              <a:t>)+</a:t>
            </a:r>
            <a:r>
              <a:rPr lang="en-IE" sz="1800" kern="100" dirty="0">
                <a:solidFill>
                  <a:srgbClr val="00B0F0"/>
                </a:solidFill>
                <a:effectLst/>
                <a:latin typeface="Helvetica" pitchFamily="2" charset="0"/>
              </a:rPr>
              <a:t>0.002</a:t>
            </a:r>
            <a:r>
              <a:rPr lang="en-IE" sz="1800" kern="100" dirty="0">
                <a:solidFill>
                  <a:schemeClr val="tx1"/>
                </a:solidFill>
                <a:effectLst/>
                <a:latin typeface="Helvetica" pitchFamily="2" charset="0"/>
              </a:rPr>
              <a:t>(</a:t>
            </a:r>
            <a:r>
              <a:rPr lang="en-IE" sz="1800" kern="100" dirty="0">
                <a:solidFill>
                  <a:srgbClr val="FF0000"/>
                </a:solidFill>
                <a:effectLst/>
                <a:latin typeface="Helvetica" pitchFamily="2" charset="0"/>
              </a:rPr>
              <a:t>L</a:t>
            </a:r>
            <a:r>
              <a:rPr lang="en-IE" sz="1800" kern="100" dirty="0">
                <a:solidFill>
                  <a:schemeClr val="tx1"/>
                </a:solidFill>
                <a:effectLst/>
                <a:latin typeface="Helvetica" pitchFamily="2" charset="0"/>
              </a:rPr>
              <a:t>)(</a:t>
            </a:r>
            <a:r>
              <a:rPr lang="en-IE" sz="1800" kern="100" dirty="0">
                <a:solidFill>
                  <a:srgbClr val="92D050"/>
                </a:solidFill>
                <a:effectLst/>
                <a:latin typeface="Helvetica" pitchFamily="2" charset="0"/>
              </a:rPr>
              <a:t>H</a:t>
            </a:r>
            <a:r>
              <a:rPr lang="en-IE" sz="1800" kern="100" dirty="0">
                <a:solidFill>
                  <a:schemeClr val="tx1"/>
                </a:solidFill>
                <a:effectLst/>
                <a:latin typeface="Helvetica" pitchFamily="2" charset="0"/>
              </a:rPr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636631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9CABFC-A61A-813B-6DDC-229E2F9A90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56A94A-A199-C170-4D6E-4A923E57C6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Predator and Prey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AE73F52-2DEA-BC7A-ACAB-15A7DD6773C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44485043"/>
              </p:ext>
            </p:extLst>
          </p:nvPr>
        </p:nvGraphicFramePr>
        <p:xfrm>
          <a:off x="55084" y="2796944"/>
          <a:ext cx="9033832" cy="270358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691478">
                  <a:extLst>
                    <a:ext uri="{9D8B030D-6E8A-4147-A177-3AD203B41FA5}">
                      <a16:colId xmlns:a16="http://schemas.microsoft.com/office/drawing/2014/main" val="2207369774"/>
                    </a:ext>
                  </a:extLst>
                </a:gridCol>
                <a:gridCol w="4204636">
                  <a:extLst>
                    <a:ext uri="{9D8B030D-6E8A-4147-A177-3AD203B41FA5}">
                      <a16:colId xmlns:a16="http://schemas.microsoft.com/office/drawing/2014/main" val="3453499676"/>
                    </a:ext>
                  </a:extLst>
                </a:gridCol>
                <a:gridCol w="4137718">
                  <a:extLst>
                    <a:ext uri="{9D8B030D-6E8A-4147-A177-3AD203B41FA5}">
                      <a16:colId xmlns:a16="http://schemas.microsoft.com/office/drawing/2014/main" val="3021010827"/>
                    </a:ext>
                  </a:extLst>
                </a:gridCol>
              </a:tblGrid>
              <a:tr h="538736">
                <a:tc>
                  <a:txBody>
                    <a:bodyPr/>
                    <a:lstStyle/>
                    <a:p>
                      <a:pPr algn="r"/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Year</a:t>
                      </a: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Hare Population</a:t>
                      </a:r>
                      <a:b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</a:b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Lynx Population</a:t>
                      </a:r>
                      <a:b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</a:b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976014491"/>
                  </a:ext>
                </a:extLst>
              </a:tr>
              <a:tr h="538736">
                <a:tc>
                  <a:txBody>
                    <a:bodyPr/>
                    <a:lstStyle/>
                    <a:p>
                      <a:pPr algn="r"/>
                      <a:r>
                        <a:rPr lang="en-IE" sz="18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0</a:t>
                      </a:r>
                      <a:endParaRPr lang="en-IE" sz="18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60</a:t>
                      </a: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30</a:t>
                      </a:r>
                      <a:endParaRPr lang="en-IE" sz="18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970276524"/>
                  </a:ext>
                </a:extLst>
              </a:tr>
              <a:tr h="538736">
                <a:tc>
                  <a:txBody>
                    <a:bodyPr/>
                    <a:lstStyle/>
                    <a:p>
                      <a:pPr algn="r"/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1</a:t>
                      </a: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</a:t>
                      </a:r>
                      <a:r>
                        <a:rPr lang="en-IE" sz="1800" kern="100" dirty="0">
                          <a:solidFill>
                            <a:srgbClr val="92D050"/>
                          </a:solidFill>
                          <a:effectLst/>
                          <a:latin typeface="Helvetica" pitchFamily="2" charset="0"/>
                        </a:rPr>
                        <a:t>60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+</a:t>
                      </a:r>
                      <a:r>
                        <a:rPr lang="en-IE" sz="1800" kern="100" dirty="0">
                          <a:solidFill>
                            <a:srgbClr val="00B0F0"/>
                          </a:solidFill>
                          <a:effectLst/>
                          <a:latin typeface="Helvetica" pitchFamily="2" charset="0"/>
                        </a:rPr>
                        <a:t>0.2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(</a:t>
                      </a:r>
                      <a:r>
                        <a:rPr lang="en-IE" sz="1800" kern="100" dirty="0">
                          <a:solidFill>
                            <a:srgbClr val="92D050"/>
                          </a:solidFill>
                          <a:effectLst/>
                          <a:latin typeface="Helvetica" pitchFamily="2" charset="0"/>
                        </a:rPr>
                        <a:t>6</a:t>
                      </a:r>
                      <a:r>
                        <a:rPr lang="en-IE" sz="1800" u="none" kern="100" dirty="0">
                          <a:solidFill>
                            <a:srgbClr val="92D050"/>
                          </a:solidFill>
                          <a:effectLst/>
                          <a:latin typeface="Helvetica" pitchFamily="2" charset="0"/>
                        </a:rPr>
                        <a:t>0</a:t>
                      </a:r>
                      <a:r>
                        <a:rPr lang="en-IE" sz="1800" u="none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)-</a:t>
                      </a:r>
                      <a:r>
                        <a:rPr lang="en-IE" sz="1800" u="none" kern="100" dirty="0">
                          <a:solidFill>
                            <a:srgbClr val="00B0F0"/>
                          </a:solidFill>
                          <a:effectLst/>
                          <a:latin typeface="Helvetica" pitchFamily="2" charset="0"/>
                        </a:rPr>
                        <a:t>0.005</a:t>
                      </a:r>
                      <a:r>
                        <a:rPr lang="en-IE" sz="1800" u="none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(</a:t>
                      </a:r>
                      <a:r>
                        <a:rPr lang="en-IE" sz="1800" u="none" kern="100" dirty="0">
                          <a:solidFill>
                            <a:srgbClr val="92D050"/>
                          </a:solidFill>
                          <a:effectLst/>
                          <a:latin typeface="Helvetica" pitchFamily="2" charset="0"/>
                        </a:rPr>
                        <a:t>60</a:t>
                      </a:r>
                      <a:r>
                        <a:rPr lang="en-IE" sz="1800" u="none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)(</a:t>
                      </a:r>
                      <a:r>
                        <a:rPr lang="en-IE" sz="1800" u="none" kern="100" dirty="0">
                          <a:solidFill>
                            <a:srgbClr val="FF0000"/>
                          </a:solidFill>
                          <a:effectLst/>
                          <a:latin typeface="Helvetica" pitchFamily="2" charset="0"/>
                        </a:rPr>
                        <a:t>30</a:t>
                      </a:r>
                      <a:r>
                        <a:rPr lang="en-IE" sz="1800" u="none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)=</a:t>
                      </a:r>
                      <a:r>
                        <a:rPr lang="en-IE" sz="1800" b="1" u="none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63</a:t>
                      </a:r>
                      <a:endParaRPr lang="en-IE" sz="1800" b="1" u="none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</a:t>
                      </a:r>
                      <a:r>
                        <a:rPr lang="en-IE" sz="1800" kern="100" dirty="0">
                          <a:solidFill>
                            <a:srgbClr val="FF0000"/>
                          </a:solidFill>
                          <a:effectLst/>
                          <a:latin typeface="Helvetica" pitchFamily="2" charset="0"/>
                        </a:rPr>
                        <a:t>30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-</a:t>
                      </a:r>
                      <a:r>
                        <a:rPr lang="en-IE" sz="1800" kern="100" dirty="0">
                          <a:solidFill>
                            <a:srgbClr val="00B0F0"/>
                          </a:solidFill>
                          <a:effectLst/>
                          <a:latin typeface="Helvetica" pitchFamily="2" charset="0"/>
                        </a:rPr>
                        <a:t>0.1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(</a:t>
                      </a:r>
                      <a:r>
                        <a:rPr lang="en-IE" sz="1800" kern="100" dirty="0">
                          <a:solidFill>
                            <a:srgbClr val="FF0000"/>
                          </a:solidFill>
                          <a:effectLst/>
                          <a:latin typeface="Helvetica" pitchFamily="2" charset="0"/>
                        </a:rPr>
                        <a:t>30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)+</a:t>
                      </a:r>
                      <a:r>
                        <a:rPr lang="en-IE" sz="1800" kern="100" dirty="0">
                          <a:solidFill>
                            <a:srgbClr val="00B0F0"/>
                          </a:solidFill>
                          <a:effectLst/>
                          <a:latin typeface="Helvetica" pitchFamily="2" charset="0"/>
                        </a:rPr>
                        <a:t>0.002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(</a:t>
                      </a:r>
                      <a:r>
                        <a:rPr lang="en-IE" sz="1800" kern="100" dirty="0">
                          <a:solidFill>
                            <a:srgbClr val="FF0000"/>
                          </a:solidFill>
                          <a:effectLst/>
                          <a:latin typeface="Helvetica" pitchFamily="2" charset="0"/>
                        </a:rPr>
                        <a:t>30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)(</a:t>
                      </a:r>
                      <a:r>
                        <a:rPr lang="en-IE" sz="1800" kern="100" dirty="0">
                          <a:solidFill>
                            <a:srgbClr val="FF0000"/>
                          </a:solidFill>
                          <a:effectLst/>
                          <a:latin typeface="Helvetica" pitchFamily="2" charset="0"/>
                        </a:rPr>
                        <a:t>60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)=</a:t>
                      </a:r>
                      <a:r>
                        <a:rPr lang="en-IE" sz="1800" b="1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30.6</a:t>
                      </a:r>
                      <a:endParaRPr lang="en-IE" sz="1800" b="1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20539885"/>
                  </a:ext>
                </a:extLst>
              </a:tr>
              <a:tr h="538736">
                <a:tc>
                  <a:txBody>
                    <a:bodyPr/>
                    <a:lstStyle/>
                    <a:p>
                      <a:pPr algn="r"/>
                      <a:r>
                        <a:rPr lang="en-IE" sz="18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2</a:t>
                      </a:r>
                      <a:endParaRPr lang="en-IE" sz="18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IE" sz="1800" b="1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IE" sz="1800" b="1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179268068"/>
                  </a:ext>
                </a:extLst>
              </a:tr>
              <a:tr h="538736">
                <a:tc>
                  <a:txBody>
                    <a:bodyPr/>
                    <a:lstStyle/>
                    <a:p>
                      <a:pPr algn="r"/>
                      <a:r>
                        <a:rPr lang="en-IE" sz="18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3</a:t>
                      </a:r>
                      <a:endParaRPr lang="en-IE" sz="18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IE" sz="1800" b="1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IE" sz="1800" b="1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23789269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08AFABF-FBE9-3201-5C1F-FB47D3F0343E}"/>
              </a:ext>
            </a:extLst>
          </p:cNvPr>
          <p:cNvSpPr txBox="1"/>
          <p:nvPr/>
        </p:nvSpPr>
        <p:spPr>
          <a:xfrm>
            <a:off x="683811" y="1634397"/>
            <a:ext cx="34034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b="1" kern="100" dirty="0" err="1">
                <a:latin typeface="Helvetica" pitchFamily="2" charset="0"/>
              </a:rPr>
              <a:t>H</a:t>
            </a:r>
            <a:r>
              <a:rPr lang="en-IE" b="1" kern="100" baseline="-25000" dirty="0" err="1">
                <a:latin typeface="Helvetica" pitchFamily="2" charset="0"/>
              </a:rPr>
              <a:t>Future</a:t>
            </a:r>
            <a:r>
              <a:rPr lang="en-IE" kern="100" dirty="0">
                <a:latin typeface="Helvetica" pitchFamily="2" charset="0"/>
              </a:rPr>
              <a:t>=</a:t>
            </a:r>
            <a:r>
              <a:rPr lang="en-IE" sz="1800" kern="100" dirty="0">
                <a:solidFill>
                  <a:srgbClr val="92D050"/>
                </a:solidFill>
                <a:effectLst/>
                <a:latin typeface="Helvetica" pitchFamily="2" charset="0"/>
              </a:rPr>
              <a:t>H</a:t>
            </a:r>
            <a:r>
              <a:rPr lang="en-IE" sz="1800" kern="100" dirty="0">
                <a:solidFill>
                  <a:schemeClr val="tx1"/>
                </a:solidFill>
                <a:effectLst/>
                <a:latin typeface="Helvetica" pitchFamily="2" charset="0"/>
              </a:rPr>
              <a:t>+</a:t>
            </a:r>
            <a:r>
              <a:rPr lang="en-IE" sz="1800" kern="100" dirty="0">
                <a:solidFill>
                  <a:srgbClr val="00B0F0"/>
                </a:solidFill>
                <a:effectLst/>
                <a:latin typeface="Helvetica" pitchFamily="2" charset="0"/>
              </a:rPr>
              <a:t>0.2</a:t>
            </a:r>
            <a:r>
              <a:rPr lang="en-IE" sz="1800" kern="100" dirty="0">
                <a:solidFill>
                  <a:schemeClr val="tx1"/>
                </a:solidFill>
                <a:effectLst/>
                <a:latin typeface="Helvetica" pitchFamily="2" charset="0"/>
              </a:rPr>
              <a:t>(</a:t>
            </a:r>
            <a:r>
              <a:rPr lang="en-IE" sz="1800" kern="100" dirty="0">
                <a:solidFill>
                  <a:srgbClr val="92D050"/>
                </a:solidFill>
                <a:effectLst/>
                <a:latin typeface="Helvetica" pitchFamily="2" charset="0"/>
              </a:rPr>
              <a:t>H</a:t>
            </a:r>
            <a:r>
              <a:rPr lang="en-IE" sz="1800" u="none" kern="100" dirty="0">
                <a:solidFill>
                  <a:schemeClr val="tx1"/>
                </a:solidFill>
                <a:effectLst/>
                <a:latin typeface="Helvetica" pitchFamily="2" charset="0"/>
              </a:rPr>
              <a:t>)-</a:t>
            </a:r>
            <a:r>
              <a:rPr lang="en-IE" sz="1800" u="none" kern="100" dirty="0">
                <a:solidFill>
                  <a:srgbClr val="00B0F0"/>
                </a:solidFill>
                <a:effectLst/>
                <a:latin typeface="Helvetica" pitchFamily="2" charset="0"/>
              </a:rPr>
              <a:t>0.005</a:t>
            </a:r>
            <a:r>
              <a:rPr lang="en-IE" sz="1800" u="none" kern="100" dirty="0">
                <a:solidFill>
                  <a:schemeClr val="tx1"/>
                </a:solidFill>
                <a:effectLst/>
                <a:latin typeface="Helvetica" pitchFamily="2" charset="0"/>
              </a:rPr>
              <a:t>(</a:t>
            </a:r>
            <a:r>
              <a:rPr lang="en-IE" sz="1800" u="none" kern="100" dirty="0">
                <a:solidFill>
                  <a:srgbClr val="92D050"/>
                </a:solidFill>
                <a:effectLst/>
                <a:latin typeface="Helvetica" pitchFamily="2" charset="0"/>
              </a:rPr>
              <a:t>H</a:t>
            </a:r>
            <a:r>
              <a:rPr lang="en-IE" sz="1800" u="none" kern="100" dirty="0">
                <a:solidFill>
                  <a:schemeClr val="tx1"/>
                </a:solidFill>
                <a:effectLst/>
                <a:latin typeface="Helvetica" pitchFamily="2" charset="0"/>
              </a:rPr>
              <a:t>)(</a:t>
            </a:r>
            <a:r>
              <a:rPr lang="en-IE" sz="1800" u="none" kern="100" dirty="0">
                <a:solidFill>
                  <a:srgbClr val="FF0000"/>
                </a:solidFill>
                <a:effectLst/>
                <a:latin typeface="Helvetica" pitchFamily="2" charset="0"/>
              </a:rPr>
              <a:t>L</a:t>
            </a:r>
            <a:r>
              <a:rPr lang="en-IE" sz="1800" u="none" kern="100" dirty="0">
                <a:solidFill>
                  <a:schemeClr val="tx1"/>
                </a:solidFill>
                <a:effectLst/>
                <a:latin typeface="Helvetica" pitchFamily="2" charset="0"/>
              </a:rPr>
              <a:t>)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84C1BB-7402-330E-04E7-FEE03F34352C}"/>
              </a:ext>
            </a:extLst>
          </p:cNvPr>
          <p:cNvSpPr txBox="1"/>
          <p:nvPr/>
        </p:nvSpPr>
        <p:spPr>
          <a:xfrm>
            <a:off x="5453351" y="1634397"/>
            <a:ext cx="34034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b="1" kern="100" dirty="0" err="1">
                <a:latin typeface="Helvetica" pitchFamily="2" charset="0"/>
              </a:rPr>
              <a:t>L</a:t>
            </a:r>
            <a:r>
              <a:rPr lang="en-IE" b="1" kern="100" baseline="-25000" dirty="0" err="1">
                <a:latin typeface="Helvetica" pitchFamily="2" charset="0"/>
              </a:rPr>
              <a:t>Future</a:t>
            </a:r>
            <a:r>
              <a:rPr lang="en-IE" kern="100" dirty="0">
                <a:latin typeface="Helvetica" pitchFamily="2" charset="0"/>
              </a:rPr>
              <a:t>= </a:t>
            </a:r>
            <a:r>
              <a:rPr lang="en-IE" sz="1800" kern="100" dirty="0">
                <a:solidFill>
                  <a:srgbClr val="FF0000"/>
                </a:solidFill>
                <a:effectLst/>
                <a:latin typeface="Helvetica" pitchFamily="2" charset="0"/>
              </a:rPr>
              <a:t>L</a:t>
            </a:r>
            <a:r>
              <a:rPr lang="en-IE" sz="1800" kern="100" dirty="0">
                <a:solidFill>
                  <a:schemeClr val="tx1"/>
                </a:solidFill>
                <a:effectLst/>
                <a:latin typeface="Helvetica" pitchFamily="2" charset="0"/>
              </a:rPr>
              <a:t>-</a:t>
            </a:r>
            <a:r>
              <a:rPr lang="en-IE" sz="1800" kern="100" dirty="0">
                <a:solidFill>
                  <a:srgbClr val="00B0F0"/>
                </a:solidFill>
                <a:effectLst/>
                <a:latin typeface="Helvetica" pitchFamily="2" charset="0"/>
              </a:rPr>
              <a:t>0.1</a:t>
            </a:r>
            <a:r>
              <a:rPr lang="en-IE" sz="1800" kern="100" dirty="0">
                <a:solidFill>
                  <a:schemeClr val="tx1"/>
                </a:solidFill>
                <a:effectLst/>
                <a:latin typeface="Helvetica" pitchFamily="2" charset="0"/>
              </a:rPr>
              <a:t>(</a:t>
            </a:r>
            <a:r>
              <a:rPr lang="en-IE" sz="1800" kern="100" dirty="0">
                <a:solidFill>
                  <a:srgbClr val="FF0000"/>
                </a:solidFill>
                <a:effectLst/>
                <a:latin typeface="Helvetica" pitchFamily="2" charset="0"/>
              </a:rPr>
              <a:t>L</a:t>
            </a:r>
            <a:r>
              <a:rPr lang="en-IE" sz="1800" kern="100" dirty="0">
                <a:solidFill>
                  <a:schemeClr val="tx1"/>
                </a:solidFill>
                <a:effectLst/>
                <a:latin typeface="Helvetica" pitchFamily="2" charset="0"/>
              </a:rPr>
              <a:t>)+</a:t>
            </a:r>
            <a:r>
              <a:rPr lang="en-IE" sz="1800" kern="100" dirty="0">
                <a:solidFill>
                  <a:srgbClr val="00B0F0"/>
                </a:solidFill>
                <a:effectLst/>
                <a:latin typeface="Helvetica" pitchFamily="2" charset="0"/>
              </a:rPr>
              <a:t>0.002</a:t>
            </a:r>
            <a:r>
              <a:rPr lang="en-IE" sz="1800" kern="100" dirty="0">
                <a:solidFill>
                  <a:schemeClr val="tx1"/>
                </a:solidFill>
                <a:effectLst/>
                <a:latin typeface="Helvetica" pitchFamily="2" charset="0"/>
              </a:rPr>
              <a:t>(</a:t>
            </a:r>
            <a:r>
              <a:rPr lang="en-IE" sz="1800" kern="100" dirty="0">
                <a:solidFill>
                  <a:srgbClr val="FF0000"/>
                </a:solidFill>
                <a:effectLst/>
                <a:latin typeface="Helvetica" pitchFamily="2" charset="0"/>
              </a:rPr>
              <a:t>L</a:t>
            </a:r>
            <a:r>
              <a:rPr lang="en-IE" sz="1800" kern="100" dirty="0">
                <a:solidFill>
                  <a:schemeClr val="tx1"/>
                </a:solidFill>
                <a:effectLst/>
                <a:latin typeface="Helvetica" pitchFamily="2" charset="0"/>
              </a:rPr>
              <a:t>)(</a:t>
            </a:r>
            <a:r>
              <a:rPr lang="en-IE" sz="1800" kern="100" dirty="0">
                <a:solidFill>
                  <a:srgbClr val="92D050"/>
                </a:solidFill>
                <a:effectLst/>
                <a:latin typeface="Helvetica" pitchFamily="2" charset="0"/>
              </a:rPr>
              <a:t>H</a:t>
            </a:r>
            <a:r>
              <a:rPr lang="en-IE" sz="1800" kern="100" dirty="0">
                <a:solidFill>
                  <a:schemeClr val="tx1"/>
                </a:solidFill>
                <a:effectLst/>
                <a:latin typeface="Helvetica" pitchFamily="2" charset="0"/>
              </a:rPr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3064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5205C-606F-948A-0A20-21BF25D96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E78559-2F15-4F3D-C0A9-5C26406069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Predator and Prey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F9E87A0-CF41-884A-8634-FEBA422A2AC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9308701"/>
              </p:ext>
            </p:extLst>
          </p:nvPr>
        </p:nvGraphicFramePr>
        <p:xfrm>
          <a:off x="55084" y="2796944"/>
          <a:ext cx="9033832" cy="270358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691478">
                  <a:extLst>
                    <a:ext uri="{9D8B030D-6E8A-4147-A177-3AD203B41FA5}">
                      <a16:colId xmlns:a16="http://schemas.microsoft.com/office/drawing/2014/main" val="2207369774"/>
                    </a:ext>
                  </a:extLst>
                </a:gridCol>
                <a:gridCol w="4204636">
                  <a:extLst>
                    <a:ext uri="{9D8B030D-6E8A-4147-A177-3AD203B41FA5}">
                      <a16:colId xmlns:a16="http://schemas.microsoft.com/office/drawing/2014/main" val="3453499676"/>
                    </a:ext>
                  </a:extLst>
                </a:gridCol>
                <a:gridCol w="4137718">
                  <a:extLst>
                    <a:ext uri="{9D8B030D-6E8A-4147-A177-3AD203B41FA5}">
                      <a16:colId xmlns:a16="http://schemas.microsoft.com/office/drawing/2014/main" val="3021010827"/>
                    </a:ext>
                  </a:extLst>
                </a:gridCol>
              </a:tblGrid>
              <a:tr h="538736">
                <a:tc>
                  <a:txBody>
                    <a:bodyPr/>
                    <a:lstStyle/>
                    <a:p>
                      <a:pPr algn="r"/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Year</a:t>
                      </a: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Hare Population</a:t>
                      </a:r>
                      <a:b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</a:b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Lynx Population</a:t>
                      </a:r>
                      <a:b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</a:b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976014491"/>
                  </a:ext>
                </a:extLst>
              </a:tr>
              <a:tr h="538736">
                <a:tc>
                  <a:txBody>
                    <a:bodyPr/>
                    <a:lstStyle/>
                    <a:p>
                      <a:pPr algn="r"/>
                      <a:r>
                        <a:rPr lang="en-IE" sz="18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0</a:t>
                      </a:r>
                      <a:endParaRPr lang="en-IE" sz="18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60</a:t>
                      </a: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30</a:t>
                      </a:r>
                      <a:endParaRPr lang="en-IE" sz="18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970276524"/>
                  </a:ext>
                </a:extLst>
              </a:tr>
              <a:tr h="538736">
                <a:tc>
                  <a:txBody>
                    <a:bodyPr/>
                    <a:lstStyle/>
                    <a:p>
                      <a:pPr algn="r"/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1</a:t>
                      </a: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</a:t>
                      </a:r>
                      <a:r>
                        <a:rPr lang="en-IE" sz="1800" kern="100" dirty="0">
                          <a:solidFill>
                            <a:srgbClr val="92D050"/>
                          </a:solidFill>
                          <a:effectLst/>
                          <a:latin typeface="Helvetica" pitchFamily="2" charset="0"/>
                        </a:rPr>
                        <a:t>60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+</a:t>
                      </a:r>
                      <a:r>
                        <a:rPr lang="en-IE" sz="1800" kern="100" dirty="0">
                          <a:solidFill>
                            <a:srgbClr val="00B0F0"/>
                          </a:solidFill>
                          <a:effectLst/>
                          <a:latin typeface="Helvetica" pitchFamily="2" charset="0"/>
                        </a:rPr>
                        <a:t>0.2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(</a:t>
                      </a:r>
                      <a:r>
                        <a:rPr lang="en-IE" sz="1800" kern="100" dirty="0">
                          <a:solidFill>
                            <a:srgbClr val="92D050"/>
                          </a:solidFill>
                          <a:effectLst/>
                          <a:latin typeface="Helvetica" pitchFamily="2" charset="0"/>
                        </a:rPr>
                        <a:t>6</a:t>
                      </a:r>
                      <a:r>
                        <a:rPr lang="en-IE" sz="1800" u="none" kern="100" dirty="0">
                          <a:solidFill>
                            <a:srgbClr val="92D050"/>
                          </a:solidFill>
                          <a:effectLst/>
                          <a:latin typeface="Helvetica" pitchFamily="2" charset="0"/>
                        </a:rPr>
                        <a:t>0</a:t>
                      </a:r>
                      <a:r>
                        <a:rPr lang="en-IE" sz="1800" u="none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)-</a:t>
                      </a:r>
                      <a:r>
                        <a:rPr lang="en-IE" sz="1800" u="none" kern="100" dirty="0">
                          <a:solidFill>
                            <a:srgbClr val="00B0F0"/>
                          </a:solidFill>
                          <a:effectLst/>
                          <a:latin typeface="Helvetica" pitchFamily="2" charset="0"/>
                        </a:rPr>
                        <a:t>0.005</a:t>
                      </a:r>
                      <a:r>
                        <a:rPr lang="en-IE" sz="1800" u="none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(</a:t>
                      </a:r>
                      <a:r>
                        <a:rPr lang="en-IE" sz="1800" u="none" kern="100" dirty="0">
                          <a:solidFill>
                            <a:srgbClr val="92D050"/>
                          </a:solidFill>
                          <a:effectLst/>
                          <a:latin typeface="Helvetica" pitchFamily="2" charset="0"/>
                        </a:rPr>
                        <a:t>60</a:t>
                      </a:r>
                      <a:r>
                        <a:rPr lang="en-IE" sz="1800" u="none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)(</a:t>
                      </a:r>
                      <a:r>
                        <a:rPr lang="en-IE" sz="1800" u="none" kern="100" dirty="0">
                          <a:solidFill>
                            <a:srgbClr val="FF0000"/>
                          </a:solidFill>
                          <a:effectLst/>
                          <a:latin typeface="Helvetica" pitchFamily="2" charset="0"/>
                        </a:rPr>
                        <a:t>30</a:t>
                      </a:r>
                      <a:r>
                        <a:rPr lang="en-IE" sz="1800" u="none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)=</a:t>
                      </a:r>
                      <a:r>
                        <a:rPr lang="en-IE" sz="1800" b="1" u="none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63</a:t>
                      </a:r>
                      <a:endParaRPr lang="en-IE" sz="1800" b="1" u="none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</a:t>
                      </a:r>
                      <a:r>
                        <a:rPr lang="en-IE" sz="1800" kern="100" dirty="0">
                          <a:solidFill>
                            <a:srgbClr val="FF0000"/>
                          </a:solidFill>
                          <a:effectLst/>
                          <a:latin typeface="Helvetica" pitchFamily="2" charset="0"/>
                        </a:rPr>
                        <a:t>30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-</a:t>
                      </a:r>
                      <a:r>
                        <a:rPr lang="en-IE" sz="1800" kern="100" dirty="0">
                          <a:solidFill>
                            <a:srgbClr val="00B0F0"/>
                          </a:solidFill>
                          <a:effectLst/>
                          <a:latin typeface="Helvetica" pitchFamily="2" charset="0"/>
                        </a:rPr>
                        <a:t>0.1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(</a:t>
                      </a:r>
                      <a:r>
                        <a:rPr lang="en-IE" sz="1800" kern="100" dirty="0">
                          <a:solidFill>
                            <a:srgbClr val="FF0000"/>
                          </a:solidFill>
                          <a:effectLst/>
                          <a:latin typeface="Helvetica" pitchFamily="2" charset="0"/>
                        </a:rPr>
                        <a:t>30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)+</a:t>
                      </a:r>
                      <a:r>
                        <a:rPr lang="en-IE" sz="1800" kern="100" dirty="0">
                          <a:solidFill>
                            <a:srgbClr val="00B0F0"/>
                          </a:solidFill>
                          <a:effectLst/>
                          <a:latin typeface="Helvetica" pitchFamily="2" charset="0"/>
                        </a:rPr>
                        <a:t>0.002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(</a:t>
                      </a:r>
                      <a:r>
                        <a:rPr lang="en-IE" sz="1800" kern="100" dirty="0">
                          <a:solidFill>
                            <a:srgbClr val="FF0000"/>
                          </a:solidFill>
                          <a:effectLst/>
                          <a:latin typeface="Helvetica" pitchFamily="2" charset="0"/>
                        </a:rPr>
                        <a:t>30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)(</a:t>
                      </a:r>
                      <a:r>
                        <a:rPr lang="en-IE" sz="1800" kern="100" dirty="0">
                          <a:solidFill>
                            <a:srgbClr val="FF0000"/>
                          </a:solidFill>
                          <a:effectLst/>
                          <a:latin typeface="Helvetica" pitchFamily="2" charset="0"/>
                        </a:rPr>
                        <a:t>60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)=</a:t>
                      </a:r>
                      <a:r>
                        <a:rPr lang="en-IE" sz="1800" b="1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30.6</a:t>
                      </a:r>
                      <a:endParaRPr lang="en-IE" sz="1800" b="1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20539885"/>
                  </a:ext>
                </a:extLst>
              </a:tr>
              <a:tr h="538736">
                <a:tc>
                  <a:txBody>
                    <a:bodyPr/>
                    <a:lstStyle/>
                    <a:p>
                      <a:pPr algn="r"/>
                      <a:r>
                        <a:rPr lang="en-IE" sz="18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2</a:t>
                      </a:r>
                      <a:endParaRPr lang="en-IE" sz="18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</a:t>
                      </a:r>
                      <a:r>
                        <a:rPr lang="en-IE" sz="1800" kern="100" dirty="0">
                          <a:solidFill>
                            <a:srgbClr val="92D050"/>
                          </a:solidFill>
                          <a:effectLst/>
                          <a:latin typeface="Helvetica" pitchFamily="2" charset="0"/>
                        </a:rPr>
                        <a:t>63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+</a:t>
                      </a:r>
                      <a:r>
                        <a:rPr lang="en-IE" sz="1800" kern="100" dirty="0">
                          <a:solidFill>
                            <a:srgbClr val="00B0F0"/>
                          </a:solidFill>
                          <a:effectLst/>
                          <a:latin typeface="Helvetica" pitchFamily="2" charset="0"/>
                        </a:rPr>
                        <a:t>0.2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(</a:t>
                      </a:r>
                      <a:r>
                        <a:rPr lang="en-IE" sz="1800" kern="100" dirty="0">
                          <a:solidFill>
                            <a:srgbClr val="92D050"/>
                          </a:solidFill>
                          <a:effectLst/>
                          <a:latin typeface="Helvetica" pitchFamily="2" charset="0"/>
                        </a:rPr>
                        <a:t>6</a:t>
                      </a:r>
                      <a:r>
                        <a:rPr lang="en-IE" sz="1800" u="none" kern="100" dirty="0">
                          <a:solidFill>
                            <a:srgbClr val="92D050"/>
                          </a:solidFill>
                          <a:effectLst/>
                          <a:latin typeface="Helvetica" pitchFamily="2" charset="0"/>
                        </a:rPr>
                        <a:t>3</a:t>
                      </a:r>
                      <a:r>
                        <a:rPr lang="en-IE" sz="1800" u="none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)-</a:t>
                      </a:r>
                      <a:r>
                        <a:rPr lang="en-IE" sz="1800" u="none" kern="100" dirty="0">
                          <a:solidFill>
                            <a:srgbClr val="00B0F0"/>
                          </a:solidFill>
                          <a:effectLst/>
                          <a:latin typeface="Helvetica" pitchFamily="2" charset="0"/>
                        </a:rPr>
                        <a:t>0.005</a:t>
                      </a:r>
                      <a:r>
                        <a:rPr lang="en-IE" sz="1800" u="none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(</a:t>
                      </a:r>
                      <a:r>
                        <a:rPr lang="en-IE" sz="1800" u="none" kern="100" dirty="0">
                          <a:solidFill>
                            <a:srgbClr val="92D050"/>
                          </a:solidFill>
                          <a:effectLst/>
                          <a:latin typeface="Helvetica" pitchFamily="2" charset="0"/>
                        </a:rPr>
                        <a:t>63</a:t>
                      </a:r>
                      <a:r>
                        <a:rPr lang="en-IE" sz="1800" u="none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)(</a:t>
                      </a:r>
                      <a:r>
                        <a:rPr lang="en-IE" sz="1800" u="none" kern="100" dirty="0">
                          <a:solidFill>
                            <a:srgbClr val="FF0000"/>
                          </a:solidFill>
                          <a:effectLst/>
                          <a:latin typeface="Helvetica" pitchFamily="2" charset="0"/>
                        </a:rPr>
                        <a:t>30.6</a:t>
                      </a:r>
                      <a:r>
                        <a:rPr lang="en-IE" sz="1800" u="none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)=</a:t>
                      </a:r>
                      <a:r>
                        <a:rPr lang="en-IE" sz="1800" b="1" u="none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65.9</a:t>
                      </a:r>
                      <a:endParaRPr lang="en-IE" sz="1800" b="1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</a:t>
                      </a:r>
                      <a:r>
                        <a:rPr lang="en-IE" sz="1800" kern="100" dirty="0">
                          <a:solidFill>
                            <a:srgbClr val="FF0000"/>
                          </a:solidFill>
                          <a:effectLst/>
                          <a:latin typeface="Helvetica" pitchFamily="2" charset="0"/>
                        </a:rPr>
                        <a:t>30.6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-</a:t>
                      </a:r>
                      <a:r>
                        <a:rPr lang="en-IE" sz="1800" kern="100" dirty="0">
                          <a:solidFill>
                            <a:srgbClr val="00B0F0"/>
                          </a:solidFill>
                          <a:effectLst/>
                          <a:latin typeface="Helvetica" pitchFamily="2" charset="0"/>
                        </a:rPr>
                        <a:t>0.1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(</a:t>
                      </a:r>
                      <a:r>
                        <a:rPr lang="en-IE" sz="1800" kern="100" dirty="0">
                          <a:solidFill>
                            <a:srgbClr val="FF0000"/>
                          </a:solidFill>
                          <a:effectLst/>
                          <a:latin typeface="Helvetica" pitchFamily="2" charset="0"/>
                        </a:rPr>
                        <a:t>30.6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)+</a:t>
                      </a:r>
                      <a:r>
                        <a:rPr lang="en-IE" sz="1800" kern="100" dirty="0">
                          <a:solidFill>
                            <a:srgbClr val="00B0F0"/>
                          </a:solidFill>
                          <a:effectLst/>
                          <a:latin typeface="Helvetica" pitchFamily="2" charset="0"/>
                        </a:rPr>
                        <a:t>0.002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(</a:t>
                      </a:r>
                      <a:r>
                        <a:rPr lang="en-IE" sz="1800" kern="100" dirty="0">
                          <a:solidFill>
                            <a:srgbClr val="FF0000"/>
                          </a:solidFill>
                          <a:effectLst/>
                          <a:latin typeface="Helvetica" pitchFamily="2" charset="0"/>
                        </a:rPr>
                        <a:t>30.6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)(</a:t>
                      </a:r>
                      <a:r>
                        <a:rPr lang="en-IE" sz="1800" kern="100" dirty="0">
                          <a:solidFill>
                            <a:srgbClr val="92D050"/>
                          </a:solidFill>
                          <a:effectLst/>
                          <a:latin typeface="Helvetica" pitchFamily="2" charset="0"/>
                        </a:rPr>
                        <a:t>63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)=</a:t>
                      </a:r>
                      <a:r>
                        <a:rPr lang="en-IE" sz="1800" b="1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31.3</a:t>
                      </a:r>
                      <a:endParaRPr lang="en-IE" sz="1800" b="1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179268068"/>
                  </a:ext>
                </a:extLst>
              </a:tr>
              <a:tr h="538736">
                <a:tc>
                  <a:txBody>
                    <a:bodyPr/>
                    <a:lstStyle/>
                    <a:p>
                      <a:pPr algn="r"/>
                      <a:r>
                        <a:rPr lang="en-IE" sz="18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3</a:t>
                      </a:r>
                      <a:endParaRPr lang="en-IE" sz="18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IE" sz="1800" b="1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IE" sz="1800" b="1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23789269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6B229CE-F00F-0011-C427-F89A8F6858BF}"/>
              </a:ext>
            </a:extLst>
          </p:cNvPr>
          <p:cNvSpPr txBox="1"/>
          <p:nvPr/>
        </p:nvSpPr>
        <p:spPr>
          <a:xfrm>
            <a:off x="683811" y="1634397"/>
            <a:ext cx="34034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b="1" kern="100" dirty="0" err="1">
                <a:latin typeface="Helvetica" pitchFamily="2" charset="0"/>
              </a:rPr>
              <a:t>H</a:t>
            </a:r>
            <a:r>
              <a:rPr lang="en-IE" b="1" kern="100" baseline="-25000" dirty="0" err="1">
                <a:latin typeface="Helvetica" pitchFamily="2" charset="0"/>
              </a:rPr>
              <a:t>Future</a:t>
            </a:r>
            <a:r>
              <a:rPr lang="en-IE" kern="100" dirty="0">
                <a:latin typeface="Helvetica" pitchFamily="2" charset="0"/>
              </a:rPr>
              <a:t>=</a:t>
            </a:r>
            <a:r>
              <a:rPr lang="en-IE" sz="1800" kern="100" dirty="0">
                <a:solidFill>
                  <a:srgbClr val="92D050"/>
                </a:solidFill>
                <a:effectLst/>
                <a:latin typeface="Helvetica" pitchFamily="2" charset="0"/>
              </a:rPr>
              <a:t>H</a:t>
            </a:r>
            <a:r>
              <a:rPr lang="en-IE" sz="1800" kern="100" dirty="0">
                <a:solidFill>
                  <a:schemeClr val="tx1"/>
                </a:solidFill>
                <a:effectLst/>
                <a:latin typeface="Helvetica" pitchFamily="2" charset="0"/>
              </a:rPr>
              <a:t>+</a:t>
            </a:r>
            <a:r>
              <a:rPr lang="en-IE" sz="1800" kern="100" dirty="0">
                <a:solidFill>
                  <a:srgbClr val="00B0F0"/>
                </a:solidFill>
                <a:effectLst/>
                <a:latin typeface="Helvetica" pitchFamily="2" charset="0"/>
              </a:rPr>
              <a:t>0.2</a:t>
            </a:r>
            <a:r>
              <a:rPr lang="en-IE" sz="1800" kern="100" dirty="0">
                <a:solidFill>
                  <a:schemeClr val="tx1"/>
                </a:solidFill>
                <a:effectLst/>
                <a:latin typeface="Helvetica" pitchFamily="2" charset="0"/>
              </a:rPr>
              <a:t>(</a:t>
            </a:r>
            <a:r>
              <a:rPr lang="en-IE" sz="1800" kern="100" dirty="0">
                <a:solidFill>
                  <a:srgbClr val="92D050"/>
                </a:solidFill>
                <a:effectLst/>
                <a:latin typeface="Helvetica" pitchFamily="2" charset="0"/>
              </a:rPr>
              <a:t>H</a:t>
            </a:r>
            <a:r>
              <a:rPr lang="en-IE" sz="1800" u="none" kern="100" dirty="0">
                <a:solidFill>
                  <a:schemeClr val="tx1"/>
                </a:solidFill>
                <a:effectLst/>
                <a:latin typeface="Helvetica" pitchFamily="2" charset="0"/>
              </a:rPr>
              <a:t>)-</a:t>
            </a:r>
            <a:r>
              <a:rPr lang="en-IE" sz="1800" u="none" kern="100" dirty="0">
                <a:solidFill>
                  <a:srgbClr val="00B0F0"/>
                </a:solidFill>
                <a:effectLst/>
                <a:latin typeface="Helvetica" pitchFamily="2" charset="0"/>
              </a:rPr>
              <a:t>0.005</a:t>
            </a:r>
            <a:r>
              <a:rPr lang="en-IE" sz="1800" u="none" kern="100" dirty="0">
                <a:solidFill>
                  <a:schemeClr val="tx1"/>
                </a:solidFill>
                <a:effectLst/>
                <a:latin typeface="Helvetica" pitchFamily="2" charset="0"/>
              </a:rPr>
              <a:t>(</a:t>
            </a:r>
            <a:r>
              <a:rPr lang="en-IE" sz="1800" u="none" kern="100" dirty="0">
                <a:solidFill>
                  <a:srgbClr val="92D050"/>
                </a:solidFill>
                <a:effectLst/>
                <a:latin typeface="Helvetica" pitchFamily="2" charset="0"/>
              </a:rPr>
              <a:t>H</a:t>
            </a:r>
            <a:r>
              <a:rPr lang="en-IE" sz="1800" u="none" kern="100" dirty="0">
                <a:solidFill>
                  <a:schemeClr val="tx1"/>
                </a:solidFill>
                <a:effectLst/>
                <a:latin typeface="Helvetica" pitchFamily="2" charset="0"/>
              </a:rPr>
              <a:t>)(</a:t>
            </a:r>
            <a:r>
              <a:rPr lang="en-IE" sz="1800" u="none" kern="100" dirty="0">
                <a:solidFill>
                  <a:srgbClr val="FF0000"/>
                </a:solidFill>
                <a:effectLst/>
                <a:latin typeface="Helvetica" pitchFamily="2" charset="0"/>
              </a:rPr>
              <a:t>L</a:t>
            </a:r>
            <a:r>
              <a:rPr lang="en-IE" sz="1800" u="none" kern="100" dirty="0">
                <a:solidFill>
                  <a:schemeClr val="tx1"/>
                </a:solidFill>
                <a:effectLst/>
                <a:latin typeface="Helvetica" pitchFamily="2" charset="0"/>
              </a:rPr>
              <a:t>)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5DE0C6-22A1-A649-58A3-33E180EA2EC5}"/>
              </a:ext>
            </a:extLst>
          </p:cNvPr>
          <p:cNvSpPr txBox="1"/>
          <p:nvPr/>
        </p:nvSpPr>
        <p:spPr>
          <a:xfrm>
            <a:off x="5453351" y="1634397"/>
            <a:ext cx="34034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b="1" kern="100" dirty="0" err="1">
                <a:latin typeface="Helvetica" pitchFamily="2" charset="0"/>
              </a:rPr>
              <a:t>L</a:t>
            </a:r>
            <a:r>
              <a:rPr lang="en-IE" b="1" kern="100" baseline="-25000" dirty="0" err="1">
                <a:latin typeface="Helvetica" pitchFamily="2" charset="0"/>
              </a:rPr>
              <a:t>Future</a:t>
            </a:r>
            <a:r>
              <a:rPr lang="en-IE" kern="100" dirty="0">
                <a:latin typeface="Helvetica" pitchFamily="2" charset="0"/>
              </a:rPr>
              <a:t>= </a:t>
            </a:r>
            <a:r>
              <a:rPr lang="en-IE" sz="1800" kern="100" dirty="0">
                <a:solidFill>
                  <a:srgbClr val="FF0000"/>
                </a:solidFill>
                <a:effectLst/>
                <a:latin typeface="Helvetica" pitchFamily="2" charset="0"/>
              </a:rPr>
              <a:t>L</a:t>
            </a:r>
            <a:r>
              <a:rPr lang="en-IE" sz="1800" kern="100" dirty="0">
                <a:solidFill>
                  <a:schemeClr val="tx1"/>
                </a:solidFill>
                <a:effectLst/>
                <a:latin typeface="Helvetica" pitchFamily="2" charset="0"/>
              </a:rPr>
              <a:t>-</a:t>
            </a:r>
            <a:r>
              <a:rPr lang="en-IE" sz="1800" kern="100" dirty="0">
                <a:solidFill>
                  <a:srgbClr val="00B0F0"/>
                </a:solidFill>
                <a:effectLst/>
                <a:latin typeface="Helvetica" pitchFamily="2" charset="0"/>
              </a:rPr>
              <a:t>0.1</a:t>
            </a:r>
            <a:r>
              <a:rPr lang="en-IE" sz="1800" kern="100" dirty="0">
                <a:solidFill>
                  <a:schemeClr val="tx1"/>
                </a:solidFill>
                <a:effectLst/>
                <a:latin typeface="Helvetica" pitchFamily="2" charset="0"/>
              </a:rPr>
              <a:t>(</a:t>
            </a:r>
            <a:r>
              <a:rPr lang="en-IE" sz="1800" kern="100" dirty="0">
                <a:solidFill>
                  <a:srgbClr val="FF0000"/>
                </a:solidFill>
                <a:effectLst/>
                <a:latin typeface="Helvetica" pitchFamily="2" charset="0"/>
              </a:rPr>
              <a:t>L</a:t>
            </a:r>
            <a:r>
              <a:rPr lang="en-IE" sz="1800" kern="100" dirty="0">
                <a:solidFill>
                  <a:schemeClr val="tx1"/>
                </a:solidFill>
                <a:effectLst/>
                <a:latin typeface="Helvetica" pitchFamily="2" charset="0"/>
              </a:rPr>
              <a:t>)+</a:t>
            </a:r>
            <a:r>
              <a:rPr lang="en-IE" sz="1800" kern="100" dirty="0">
                <a:solidFill>
                  <a:srgbClr val="00B0F0"/>
                </a:solidFill>
                <a:effectLst/>
                <a:latin typeface="Helvetica" pitchFamily="2" charset="0"/>
              </a:rPr>
              <a:t>0.002</a:t>
            </a:r>
            <a:r>
              <a:rPr lang="en-IE" sz="1800" kern="100" dirty="0">
                <a:solidFill>
                  <a:schemeClr val="tx1"/>
                </a:solidFill>
                <a:effectLst/>
                <a:latin typeface="Helvetica" pitchFamily="2" charset="0"/>
              </a:rPr>
              <a:t>(</a:t>
            </a:r>
            <a:r>
              <a:rPr lang="en-IE" sz="1800" kern="100" dirty="0">
                <a:solidFill>
                  <a:srgbClr val="FF0000"/>
                </a:solidFill>
                <a:effectLst/>
                <a:latin typeface="Helvetica" pitchFamily="2" charset="0"/>
              </a:rPr>
              <a:t>L</a:t>
            </a:r>
            <a:r>
              <a:rPr lang="en-IE" sz="1800" kern="100" dirty="0">
                <a:solidFill>
                  <a:schemeClr val="tx1"/>
                </a:solidFill>
                <a:effectLst/>
                <a:latin typeface="Helvetica" pitchFamily="2" charset="0"/>
              </a:rPr>
              <a:t>)(</a:t>
            </a:r>
            <a:r>
              <a:rPr lang="en-IE" sz="1800" kern="100" dirty="0">
                <a:solidFill>
                  <a:srgbClr val="92D050"/>
                </a:solidFill>
                <a:effectLst/>
                <a:latin typeface="Helvetica" pitchFamily="2" charset="0"/>
              </a:rPr>
              <a:t>H</a:t>
            </a:r>
            <a:r>
              <a:rPr lang="en-IE" sz="1800" kern="100" dirty="0">
                <a:solidFill>
                  <a:schemeClr val="tx1"/>
                </a:solidFill>
                <a:effectLst/>
                <a:latin typeface="Helvetica" pitchFamily="2" charset="0"/>
              </a:rPr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802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9DCF57-E64A-CDA3-9FE4-913670908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8D4EC3-815D-7091-5764-6A3660709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Predator and Prey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B26924D-63B4-8756-9FC7-1830AD0EE712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5084" y="2796944"/>
          <a:ext cx="9033832" cy="270358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691478">
                  <a:extLst>
                    <a:ext uri="{9D8B030D-6E8A-4147-A177-3AD203B41FA5}">
                      <a16:colId xmlns:a16="http://schemas.microsoft.com/office/drawing/2014/main" val="2207369774"/>
                    </a:ext>
                  </a:extLst>
                </a:gridCol>
                <a:gridCol w="4204636">
                  <a:extLst>
                    <a:ext uri="{9D8B030D-6E8A-4147-A177-3AD203B41FA5}">
                      <a16:colId xmlns:a16="http://schemas.microsoft.com/office/drawing/2014/main" val="3453499676"/>
                    </a:ext>
                  </a:extLst>
                </a:gridCol>
                <a:gridCol w="4137718">
                  <a:extLst>
                    <a:ext uri="{9D8B030D-6E8A-4147-A177-3AD203B41FA5}">
                      <a16:colId xmlns:a16="http://schemas.microsoft.com/office/drawing/2014/main" val="3021010827"/>
                    </a:ext>
                  </a:extLst>
                </a:gridCol>
              </a:tblGrid>
              <a:tr h="538736">
                <a:tc>
                  <a:txBody>
                    <a:bodyPr/>
                    <a:lstStyle/>
                    <a:p>
                      <a:pPr algn="r"/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Year</a:t>
                      </a: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Hare Population</a:t>
                      </a:r>
                      <a:b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</a:b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Lynx Population</a:t>
                      </a:r>
                      <a:b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</a:b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976014491"/>
                  </a:ext>
                </a:extLst>
              </a:tr>
              <a:tr h="538736">
                <a:tc>
                  <a:txBody>
                    <a:bodyPr/>
                    <a:lstStyle/>
                    <a:p>
                      <a:pPr algn="r"/>
                      <a:r>
                        <a:rPr lang="en-IE" sz="18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0</a:t>
                      </a:r>
                      <a:endParaRPr lang="en-IE" sz="18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60</a:t>
                      </a: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30</a:t>
                      </a:r>
                      <a:endParaRPr lang="en-IE" sz="18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970276524"/>
                  </a:ext>
                </a:extLst>
              </a:tr>
              <a:tr h="538736">
                <a:tc>
                  <a:txBody>
                    <a:bodyPr/>
                    <a:lstStyle/>
                    <a:p>
                      <a:pPr algn="r"/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1</a:t>
                      </a: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</a:t>
                      </a:r>
                      <a:r>
                        <a:rPr lang="en-IE" sz="1800" kern="100" dirty="0">
                          <a:solidFill>
                            <a:srgbClr val="92D050"/>
                          </a:solidFill>
                          <a:effectLst/>
                          <a:latin typeface="Helvetica" pitchFamily="2" charset="0"/>
                        </a:rPr>
                        <a:t>60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+</a:t>
                      </a:r>
                      <a:r>
                        <a:rPr lang="en-IE" sz="1800" kern="100" dirty="0">
                          <a:solidFill>
                            <a:srgbClr val="00B0F0"/>
                          </a:solidFill>
                          <a:effectLst/>
                          <a:latin typeface="Helvetica" pitchFamily="2" charset="0"/>
                        </a:rPr>
                        <a:t>0.2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(</a:t>
                      </a:r>
                      <a:r>
                        <a:rPr lang="en-IE" sz="1800" kern="100" dirty="0">
                          <a:solidFill>
                            <a:srgbClr val="92D050"/>
                          </a:solidFill>
                          <a:effectLst/>
                          <a:latin typeface="Helvetica" pitchFamily="2" charset="0"/>
                        </a:rPr>
                        <a:t>6</a:t>
                      </a:r>
                      <a:r>
                        <a:rPr lang="en-IE" sz="1800" u="none" kern="100" dirty="0">
                          <a:solidFill>
                            <a:srgbClr val="92D050"/>
                          </a:solidFill>
                          <a:effectLst/>
                          <a:latin typeface="Helvetica" pitchFamily="2" charset="0"/>
                        </a:rPr>
                        <a:t>0</a:t>
                      </a:r>
                      <a:r>
                        <a:rPr lang="en-IE" sz="1800" u="none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)-</a:t>
                      </a:r>
                      <a:r>
                        <a:rPr lang="en-IE" sz="1800" u="none" kern="100" dirty="0">
                          <a:solidFill>
                            <a:srgbClr val="00B0F0"/>
                          </a:solidFill>
                          <a:effectLst/>
                          <a:latin typeface="Helvetica" pitchFamily="2" charset="0"/>
                        </a:rPr>
                        <a:t>0.005</a:t>
                      </a:r>
                      <a:r>
                        <a:rPr lang="en-IE" sz="1800" u="none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(</a:t>
                      </a:r>
                      <a:r>
                        <a:rPr lang="en-IE" sz="1800" u="none" kern="100" dirty="0">
                          <a:solidFill>
                            <a:srgbClr val="92D050"/>
                          </a:solidFill>
                          <a:effectLst/>
                          <a:latin typeface="Helvetica" pitchFamily="2" charset="0"/>
                        </a:rPr>
                        <a:t>60</a:t>
                      </a:r>
                      <a:r>
                        <a:rPr lang="en-IE" sz="1800" u="none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)(</a:t>
                      </a:r>
                      <a:r>
                        <a:rPr lang="en-IE" sz="1800" u="none" kern="100" dirty="0">
                          <a:solidFill>
                            <a:srgbClr val="FF0000"/>
                          </a:solidFill>
                          <a:effectLst/>
                          <a:latin typeface="Helvetica" pitchFamily="2" charset="0"/>
                        </a:rPr>
                        <a:t>30</a:t>
                      </a:r>
                      <a:r>
                        <a:rPr lang="en-IE" sz="1800" u="none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)=</a:t>
                      </a:r>
                      <a:r>
                        <a:rPr lang="en-IE" sz="1800" b="1" u="none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63</a:t>
                      </a:r>
                      <a:endParaRPr lang="en-IE" sz="1800" b="1" u="none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</a:t>
                      </a:r>
                      <a:r>
                        <a:rPr lang="en-IE" sz="1800" kern="100" dirty="0">
                          <a:solidFill>
                            <a:srgbClr val="FF0000"/>
                          </a:solidFill>
                          <a:effectLst/>
                          <a:latin typeface="Helvetica" pitchFamily="2" charset="0"/>
                        </a:rPr>
                        <a:t>30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-</a:t>
                      </a:r>
                      <a:r>
                        <a:rPr lang="en-IE" sz="1800" kern="100" dirty="0">
                          <a:solidFill>
                            <a:srgbClr val="00B0F0"/>
                          </a:solidFill>
                          <a:effectLst/>
                          <a:latin typeface="Helvetica" pitchFamily="2" charset="0"/>
                        </a:rPr>
                        <a:t>0.1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(</a:t>
                      </a:r>
                      <a:r>
                        <a:rPr lang="en-IE" sz="1800" kern="100" dirty="0">
                          <a:solidFill>
                            <a:srgbClr val="FF0000"/>
                          </a:solidFill>
                          <a:effectLst/>
                          <a:latin typeface="Helvetica" pitchFamily="2" charset="0"/>
                        </a:rPr>
                        <a:t>30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)+</a:t>
                      </a:r>
                      <a:r>
                        <a:rPr lang="en-IE" sz="1800" kern="100" dirty="0">
                          <a:solidFill>
                            <a:srgbClr val="00B0F0"/>
                          </a:solidFill>
                          <a:effectLst/>
                          <a:latin typeface="Helvetica" pitchFamily="2" charset="0"/>
                        </a:rPr>
                        <a:t>0.002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(</a:t>
                      </a:r>
                      <a:r>
                        <a:rPr lang="en-IE" sz="1800" kern="100" dirty="0">
                          <a:solidFill>
                            <a:srgbClr val="FF0000"/>
                          </a:solidFill>
                          <a:effectLst/>
                          <a:latin typeface="Helvetica" pitchFamily="2" charset="0"/>
                        </a:rPr>
                        <a:t>30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)(</a:t>
                      </a:r>
                      <a:r>
                        <a:rPr lang="en-IE" sz="1800" kern="100" dirty="0">
                          <a:solidFill>
                            <a:srgbClr val="FF0000"/>
                          </a:solidFill>
                          <a:effectLst/>
                          <a:latin typeface="Helvetica" pitchFamily="2" charset="0"/>
                        </a:rPr>
                        <a:t>60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)=</a:t>
                      </a:r>
                      <a:r>
                        <a:rPr lang="en-IE" sz="1800" b="1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30.6</a:t>
                      </a:r>
                      <a:endParaRPr lang="en-IE" sz="1800" b="1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20539885"/>
                  </a:ext>
                </a:extLst>
              </a:tr>
              <a:tr h="538736">
                <a:tc>
                  <a:txBody>
                    <a:bodyPr/>
                    <a:lstStyle/>
                    <a:p>
                      <a:pPr algn="r"/>
                      <a:r>
                        <a:rPr lang="en-IE" sz="18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2</a:t>
                      </a:r>
                      <a:endParaRPr lang="en-IE" sz="18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</a:t>
                      </a:r>
                      <a:r>
                        <a:rPr lang="en-IE" sz="1800" kern="100" dirty="0">
                          <a:solidFill>
                            <a:srgbClr val="92D050"/>
                          </a:solidFill>
                          <a:effectLst/>
                          <a:latin typeface="Helvetica" pitchFamily="2" charset="0"/>
                        </a:rPr>
                        <a:t>63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+</a:t>
                      </a:r>
                      <a:r>
                        <a:rPr lang="en-IE" sz="1800" kern="100" dirty="0">
                          <a:solidFill>
                            <a:srgbClr val="00B0F0"/>
                          </a:solidFill>
                          <a:effectLst/>
                          <a:latin typeface="Helvetica" pitchFamily="2" charset="0"/>
                        </a:rPr>
                        <a:t>0.2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(</a:t>
                      </a:r>
                      <a:r>
                        <a:rPr lang="en-IE" sz="1800" kern="100" dirty="0">
                          <a:solidFill>
                            <a:srgbClr val="92D050"/>
                          </a:solidFill>
                          <a:effectLst/>
                          <a:latin typeface="Helvetica" pitchFamily="2" charset="0"/>
                        </a:rPr>
                        <a:t>6</a:t>
                      </a:r>
                      <a:r>
                        <a:rPr lang="en-IE" sz="1800" u="none" kern="100" dirty="0">
                          <a:solidFill>
                            <a:srgbClr val="92D050"/>
                          </a:solidFill>
                          <a:effectLst/>
                          <a:latin typeface="Helvetica" pitchFamily="2" charset="0"/>
                        </a:rPr>
                        <a:t>3</a:t>
                      </a:r>
                      <a:r>
                        <a:rPr lang="en-IE" sz="1800" u="none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)-</a:t>
                      </a:r>
                      <a:r>
                        <a:rPr lang="en-IE" sz="1800" u="none" kern="100" dirty="0">
                          <a:solidFill>
                            <a:srgbClr val="00B0F0"/>
                          </a:solidFill>
                          <a:effectLst/>
                          <a:latin typeface="Helvetica" pitchFamily="2" charset="0"/>
                        </a:rPr>
                        <a:t>0.005</a:t>
                      </a:r>
                      <a:r>
                        <a:rPr lang="en-IE" sz="1800" u="none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(</a:t>
                      </a:r>
                      <a:r>
                        <a:rPr lang="en-IE" sz="1800" u="none" kern="100" dirty="0">
                          <a:solidFill>
                            <a:srgbClr val="92D050"/>
                          </a:solidFill>
                          <a:effectLst/>
                          <a:latin typeface="Helvetica" pitchFamily="2" charset="0"/>
                        </a:rPr>
                        <a:t>63</a:t>
                      </a:r>
                      <a:r>
                        <a:rPr lang="en-IE" sz="1800" u="none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)(</a:t>
                      </a:r>
                      <a:r>
                        <a:rPr lang="en-IE" sz="1800" u="none" kern="100" dirty="0">
                          <a:solidFill>
                            <a:srgbClr val="FF0000"/>
                          </a:solidFill>
                          <a:effectLst/>
                          <a:latin typeface="Helvetica" pitchFamily="2" charset="0"/>
                        </a:rPr>
                        <a:t>30.6</a:t>
                      </a:r>
                      <a:r>
                        <a:rPr lang="en-IE" sz="1800" u="none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)=</a:t>
                      </a:r>
                      <a:r>
                        <a:rPr lang="en-IE" sz="1800" b="1" u="none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65.9</a:t>
                      </a:r>
                      <a:endParaRPr lang="en-IE" sz="1800" b="1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</a:t>
                      </a:r>
                      <a:r>
                        <a:rPr lang="en-IE" sz="1800" kern="100" dirty="0">
                          <a:solidFill>
                            <a:srgbClr val="FF0000"/>
                          </a:solidFill>
                          <a:effectLst/>
                          <a:latin typeface="Helvetica" pitchFamily="2" charset="0"/>
                        </a:rPr>
                        <a:t>30.6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-</a:t>
                      </a:r>
                      <a:r>
                        <a:rPr lang="en-IE" sz="1800" kern="100" dirty="0">
                          <a:solidFill>
                            <a:srgbClr val="00B0F0"/>
                          </a:solidFill>
                          <a:effectLst/>
                          <a:latin typeface="Helvetica" pitchFamily="2" charset="0"/>
                        </a:rPr>
                        <a:t>0.1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(</a:t>
                      </a:r>
                      <a:r>
                        <a:rPr lang="en-IE" sz="1800" kern="100" dirty="0">
                          <a:solidFill>
                            <a:srgbClr val="FF0000"/>
                          </a:solidFill>
                          <a:effectLst/>
                          <a:latin typeface="Helvetica" pitchFamily="2" charset="0"/>
                        </a:rPr>
                        <a:t>30.6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)+</a:t>
                      </a:r>
                      <a:r>
                        <a:rPr lang="en-IE" sz="1800" kern="100" dirty="0">
                          <a:solidFill>
                            <a:srgbClr val="00B0F0"/>
                          </a:solidFill>
                          <a:effectLst/>
                          <a:latin typeface="Helvetica" pitchFamily="2" charset="0"/>
                        </a:rPr>
                        <a:t>0.002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(</a:t>
                      </a:r>
                      <a:r>
                        <a:rPr lang="en-IE" sz="1800" kern="100" dirty="0">
                          <a:solidFill>
                            <a:srgbClr val="FF0000"/>
                          </a:solidFill>
                          <a:effectLst/>
                          <a:latin typeface="Helvetica" pitchFamily="2" charset="0"/>
                        </a:rPr>
                        <a:t>30.6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)(</a:t>
                      </a:r>
                      <a:r>
                        <a:rPr lang="en-IE" sz="1800" kern="100" dirty="0">
                          <a:solidFill>
                            <a:srgbClr val="92D050"/>
                          </a:solidFill>
                          <a:effectLst/>
                          <a:latin typeface="Helvetica" pitchFamily="2" charset="0"/>
                        </a:rPr>
                        <a:t>63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)=</a:t>
                      </a:r>
                      <a:r>
                        <a:rPr lang="en-IE" sz="1800" b="1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31.3</a:t>
                      </a:r>
                      <a:endParaRPr lang="en-IE" sz="1800" b="1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179268068"/>
                  </a:ext>
                </a:extLst>
              </a:tr>
              <a:tr h="538736">
                <a:tc>
                  <a:txBody>
                    <a:bodyPr/>
                    <a:lstStyle/>
                    <a:p>
                      <a:pPr algn="r"/>
                      <a:r>
                        <a:rPr lang="en-IE" sz="18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3</a:t>
                      </a:r>
                      <a:endParaRPr lang="en-IE" sz="18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</a:t>
                      </a:r>
                      <a:r>
                        <a:rPr lang="en-IE" sz="1800" kern="100" dirty="0">
                          <a:solidFill>
                            <a:srgbClr val="92D050"/>
                          </a:solidFill>
                          <a:effectLst/>
                          <a:latin typeface="Helvetica" pitchFamily="2" charset="0"/>
                        </a:rPr>
                        <a:t>65.9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+</a:t>
                      </a:r>
                      <a:r>
                        <a:rPr lang="en-IE" sz="1800" kern="100" dirty="0">
                          <a:solidFill>
                            <a:srgbClr val="00B0F0"/>
                          </a:solidFill>
                          <a:effectLst/>
                          <a:latin typeface="Helvetica" pitchFamily="2" charset="0"/>
                        </a:rPr>
                        <a:t>0.2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(</a:t>
                      </a:r>
                      <a:r>
                        <a:rPr lang="en-IE" sz="1800" kern="100" dirty="0">
                          <a:solidFill>
                            <a:srgbClr val="92D050"/>
                          </a:solidFill>
                          <a:effectLst/>
                          <a:latin typeface="Helvetica" pitchFamily="2" charset="0"/>
                        </a:rPr>
                        <a:t>6</a:t>
                      </a:r>
                      <a:r>
                        <a:rPr lang="en-IE" sz="1800" u="none" kern="100" dirty="0">
                          <a:solidFill>
                            <a:srgbClr val="92D050"/>
                          </a:solidFill>
                          <a:effectLst/>
                          <a:latin typeface="Helvetica" pitchFamily="2" charset="0"/>
                        </a:rPr>
                        <a:t>5.9</a:t>
                      </a:r>
                      <a:r>
                        <a:rPr lang="en-IE" sz="1800" u="none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)-</a:t>
                      </a:r>
                      <a:r>
                        <a:rPr lang="en-IE" sz="1800" u="none" kern="100" dirty="0">
                          <a:solidFill>
                            <a:srgbClr val="00B0F0"/>
                          </a:solidFill>
                          <a:effectLst/>
                          <a:latin typeface="Helvetica" pitchFamily="2" charset="0"/>
                        </a:rPr>
                        <a:t>0.005</a:t>
                      </a:r>
                      <a:r>
                        <a:rPr lang="en-IE" sz="1800" u="none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(</a:t>
                      </a:r>
                      <a:r>
                        <a:rPr lang="en-IE" sz="1800" u="none" kern="100" dirty="0">
                          <a:solidFill>
                            <a:srgbClr val="92D050"/>
                          </a:solidFill>
                          <a:effectLst/>
                          <a:latin typeface="Helvetica" pitchFamily="2" charset="0"/>
                        </a:rPr>
                        <a:t>65.9</a:t>
                      </a:r>
                      <a:r>
                        <a:rPr lang="en-IE" sz="1800" u="none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)(</a:t>
                      </a:r>
                      <a:r>
                        <a:rPr lang="en-IE" sz="1800" u="none" kern="100" dirty="0">
                          <a:solidFill>
                            <a:srgbClr val="FF0000"/>
                          </a:solidFill>
                          <a:effectLst/>
                          <a:latin typeface="Helvetica" pitchFamily="2" charset="0"/>
                        </a:rPr>
                        <a:t>31.3</a:t>
                      </a:r>
                      <a:r>
                        <a:rPr lang="en-IE" sz="1800" u="none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)=</a:t>
                      </a:r>
                      <a:r>
                        <a:rPr lang="en-IE" sz="1800" b="1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68.8</a:t>
                      </a:r>
                      <a:endParaRPr lang="en-IE" sz="1800" b="1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</a:t>
                      </a:r>
                      <a:r>
                        <a:rPr lang="en-IE" sz="1800" kern="100" dirty="0">
                          <a:solidFill>
                            <a:srgbClr val="FF0000"/>
                          </a:solidFill>
                          <a:effectLst/>
                          <a:latin typeface="Helvetica" pitchFamily="2" charset="0"/>
                        </a:rPr>
                        <a:t>31.3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-</a:t>
                      </a:r>
                      <a:r>
                        <a:rPr lang="en-IE" sz="1800" kern="100" dirty="0">
                          <a:solidFill>
                            <a:srgbClr val="00B0F0"/>
                          </a:solidFill>
                          <a:effectLst/>
                          <a:latin typeface="Helvetica" pitchFamily="2" charset="0"/>
                        </a:rPr>
                        <a:t>0.1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(</a:t>
                      </a:r>
                      <a:r>
                        <a:rPr lang="en-IE" sz="1800" kern="100" dirty="0">
                          <a:solidFill>
                            <a:srgbClr val="FF0000"/>
                          </a:solidFill>
                          <a:effectLst/>
                          <a:latin typeface="Helvetica" pitchFamily="2" charset="0"/>
                        </a:rPr>
                        <a:t>31.3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)+</a:t>
                      </a:r>
                      <a:r>
                        <a:rPr lang="en-IE" sz="1800" kern="100" dirty="0">
                          <a:solidFill>
                            <a:srgbClr val="00B0F0"/>
                          </a:solidFill>
                          <a:effectLst/>
                          <a:latin typeface="Helvetica" pitchFamily="2" charset="0"/>
                        </a:rPr>
                        <a:t>0.002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(</a:t>
                      </a:r>
                      <a:r>
                        <a:rPr lang="en-IE" sz="1800" kern="100" dirty="0">
                          <a:solidFill>
                            <a:srgbClr val="FF0000"/>
                          </a:solidFill>
                          <a:effectLst/>
                          <a:latin typeface="Helvetica" pitchFamily="2" charset="0"/>
                        </a:rPr>
                        <a:t>31.3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)(</a:t>
                      </a:r>
                      <a:r>
                        <a:rPr lang="en-IE" sz="1800" kern="100" dirty="0">
                          <a:solidFill>
                            <a:srgbClr val="92D050"/>
                          </a:solidFill>
                          <a:effectLst/>
                          <a:latin typeface="Helvetica" pitchFamily="2" charset="0"/>
                        </a:rPr>
                        <a:t>65.9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)=</a:t>
                      </a:r>
                      <a:r>
                        <a:rPr lang="en-IE" sz="1800" b="1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32.4</a:t>
                      </a:r>
                      <a:endParaRPr lang="en-IE" sz="1800" b="1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23789269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17B2AC7-E7C8-79C7-7454-7060E13150A1}"/>
              </a:ext>
            </a:extLst>
          </p:cNvPr>
          <p:cNvSpPr txBox="1"/>
          <p:nvPr/>
        </p:nvSpPr>
        <p:spPr>
          <a:xfrm>
            <a:off x="683811" y="1634397"/>
            <a:ext cx="34034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b="1" kern="100" dirty="0" err="1">
                <a:latin typeface="Helvetica" pitchFamily="2" charset="0"/>
              </a:rPr>
              <a:t>H</a:t>
            </a:r>
            <a:r>
              <a:rPr lang="en-IE" b="1" kern="100" baseline="-25000" dirty="0" err="1">
                <a:latin typeface="Helvetica" pitchFamily="2" charset="0"/>
              </a:rPr>
              <a:t>Future</a:t>
            </a:r>
            <a:r>
              <a:rPr lang="en-IE" kern="100" dirty="0">
                <a:latin typeface="Helvetica" pitchFamily="2" charset="0"/>
              </a:rPr>
              <a:t>=</a:t>
            </a:r>
            <a:r>
              <a:rPr lang="en-IE" sz="1800" kern="100" dirty="0">
                <a:solidFill>
                  <a:srgbClr val="92D050"/>
                </a:solidFill>
                <a:effectLst/>
                <a:latin typeface="Helvetica" pitchFamily="2" charset="0"/>
              </a:rPr>
              <a:t>H</a:t>
            </a:r>
            <a:r>
              <a:rPr lang="en-IE" sz="1800" kern="100" dirty="0">
                <a:solidFill>
                  <a:schemeClr val="tx1"/>
                </a:solidFill>
                <a:effectLst/>
                <a:latin typeface="Helvetica" pitchFamily="2" charset="0"/>
              </a:rPr>
              <a:t>+</a:t>
            </a:r>
            <a:r>
              <a:rPr lang="en-IE" sz="1800" kern="100" dirty="0">
                <a:solidFill>
                  <a:srgbClr val="00B0F0"/>
                </a:solidFill>
                <a:effectLst/>
                <a:latin typeface="Helvetica" pitchFamily="2" charset="0"/>
              </a:rPr>
              <a:t>0.2</a:t>
            </a:r>
            <a:r>
              <a:rPr lang="en-IE" sz="1800" kern="100" dirty="0">
                <a:solidFill>
                  <a:schemeClr val="tx1"/>
                </a:solidFill>
                <a:effectLst/>
                <a:latin typeface="Helvetica" pitchFamily="2" charset="0"/>
              </a:rPr>
              <a:t>(</a:t>
            </a:r>
            <a:r>
              <a:rPr lang="en-IE" sz="1800" kern="100" dirty="0">
                <a:solidFill>
                  <a:srgbClr val="92D050"/>
                </a:solidFill>
                <a:effectLst/>
                <a:latin typeface="Helvetica" pitchFamily="2" charset="0"/>
              </a:rPr>
              <a:t>H</a:t>
            </a:r>
            <a:r>
              <a:rPr lang="en-IE" sz="1800" u="none" kern="100" dirty="0">
                <a:solidFill>
                  <a:schemeClr val="tx1"/>
                </a:solidFill>
                <a:effectLst/>
                <a:latin typeface="Helvetica" pitchFamily="2" charset="0"/>
              </a:rPr>
              <a:t>)-</a:t>
            </a:r>
            <a:r>
              <a:rPr lang="en-IE" sz="1800" u="none" kern="100" dirty="0">
                <a:solidFill>
                  <a:srgbClr val="00B0F0"/>
                </a:solidFill>
                <a:effectLst/>
                <a:latin typeface="Helvetica" pitchFamily="2" charset="0"/>
              </a:rPr>
              <a:t>0.005</a:t>
            </a:r>
            <a:r>
              <a:rPr lang="en-IE" sz="1800" u="none" kern="100" dirty="0">
                <a:solidFill>
                  <a:schemeClr val="tx1"/>
                </a:solidFill>
                <a:effectLst/>
                <a:latin typeface="Helvetica" pitchFamily="2" charset="0"/>
              </a:rPr>
              <a:t>(</a:t>
            </a:r>
            <a:r>
              <a:rPr lang="en-IE" sz="1800" u="none" kern="100" dirty="0">
                <a:solidFill>
                  <a:srgbClr val="92D050"/>
                </a:solidFill>
                <a:effectLst/>
                <a:latin typeface="Helvetica" pitchFamily="2" charset="0"/>
              </a:rPr>
              <a:t>H</a:t>
            </a:r>
            <a:r>
              <a:rPr lang="en-IE" sz="1800" u="none" kern="100" dirty="0">
                <a:solidFill>
                  <a:schemeClr val="tx1"/>
                </a:solidFill>
                <a:effectLst/>
                <a:latin typeface="Helvetica" pitchFamily="2" charset="0"/>
              </a:rPr>
              <a:t>)(</a:t>
            </a:r>
            <a:r>
              <a:rPr lang="en-IE" sz="1800" u="none" kern="100" dirty="0">
                <a:solidFill>
                  <a:srgbClr val="FF0000"/>
                </a:solidFill>
                <a:effectLst/>
                <a:latin typeface="Helvetica" pitchFamily="2" charset="0"/>
              </a:rPr>
              <a:t>L</a:t>
            </a:r>
            <a:r>
              <a:rPr lang="en-IE" sz="1800" u="none" kern="100" dirty="0">
                <a:solidFill>
                  <a:schemeClr val="tx1"/>
                </a:solidFill>
                <a:effectLst/>
                <a:latin typeface="Helvetica" pitchFamily="2" charset="0"/>
              </a:rPr>
              <a:t>)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D38372-1739-2EB4-0F06-67C78B5A1FD7}"/>
              </a:ext>
            </a:extLst>
          </p:cNvPr>
          <p:cNvSpPr txBox="1"/>
          <p:nvPr/>
        </p:nvSpPr>
        <p:spPr>
          <a:xfrm>
            <a:off x="5453351" y="1634397"/>
            <a:ext cx="34034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b="1" kern="100" dirty="0" err="1">
                <a:latin typeface="Helvetica" pitchFamily="2" charset="0"/>
              </a:rPr>
              <a:t>L</a:t>
            </a:r>
            <a:r>
              <a:rPr lang="en-IE" b="1" kern="100" baseline="-25000" dirty="0" err="1">
                <a:latin typeface="Helvetica" pitchFamily="2" charset="0"/>
              </a:rPr>
              <a:t>Future</a:t>
            </a:r>
            <a:r>
              <a:rPr lang="en-IE" kern="100" dirty="0">
                <a:latin typeface="Helvetica" pitchFamily="2" charset="0"/>
              </a:rPr>
              <a:t>= </a:t>
            </a:r>
            <a:r>
              <a:rPr lang="en-IE" sz="1800" kern="100" dirty="0">
                <a:solidFill>
                  <a:srgbClr val="FF0000"/>
                </a:solidFill>
                <a:effectLst/>
                <a:latin typeface="Helvetica" pitchFamily="2" charset="0"/>
              </a:rPr>
              <a:t>L</a:t>
            </a:r>
            <a:r>
              <a:rPr lang="en-IE" sz="1800" kern="100" dirty="0">
                <a:solidFill>
                  <a:schemeClr val="tx1"/>
                </a:solidFill>
                <a:effectLst/>
                <a:latin typeface="Helvetica" pitchFamily="2" charset="0"/>
              </a:rPr>
              <a:t>-</a:t>
            </a:r>
            <a:r>
              <a:rPr lang="en-IE" sz="1800" kern="100" dirty="0">
                <a:solidFill>
                  <a:srgbClr val="00B0F0"/>
                </a:solidFill>
                <a:effectLst/>
                <a:latin typeface="Helvetica" pitchFamily="2" charset="0"/>
              </a:rPr>
              <a:t>0.1</a:t>
            </a:r>
            <a:r>
              <a:rPr lang="en-IE" sz="1800" kern="100" dirty="0">
                <a:solidFill>
                  <a:schemeClr val="tx1"/>
                </a:solidFill>
                <a:effectLst/>
                <a:latin typeface="Helvetica" pitchFamily="2" charset="0"/>
              </a:rPr>
              <a:t>(</a:t>
            </a:r>
            <a:r>
              <a:rPr lang="en-IE" sz="1800" kern="100" dirty="0">
                <a:solidFill>
                  <a:srgbClr val="FF0000"/>
                </a:solidFill>
                <a:effectLst/>
                <a:latin typeface="Helvetica" pitchFamily="2" charset="0"/>
              </a:rPr>
              <a:t>L</a:t>
            </a:r>
            <a:r>
              <a:rPr lang="en-IE" sz="1800" kern="100" dirty="0">
                <a:solidFill>
                  <a:schemeClr val="tx1"/>
                </a:solidFill>
                <a:effectLst/>
                <a:latin typeface="Helvetica" pitchFamily="2" charset="0"/>
              </a:rPr>
              <a:t>)+</a:t>
            </a:r>
            <a:r>
              <a:rPr lang="en-IE" sz="1800" kern="100" dirty="0">
                <a:solidFill>
                  <a:srgbClr val="00B0F0"/>
                </a:solidFill>
                <a:effectLst/>
                <a:latin typeface="Helvetica" pitchFamily="2" charset="0"/>
              </a:rPr>
              <a:t>0.002</a:t>
            </a:r>
            <a:r>
              <a:rPr lang="en-IE" sz="1800" kern="100" dirty="0">
                <a:solidFill>
                  <a:schemeClr val="tx1"/>
                </a:solidFill>
                <a:effectLst/>
                <a:latin typeface="Helvetica" pitchFamily="2" charset="0"/>
              </a:rPr>
              <a:t>(</a:t>
            </a:r>
            <a:r>
              <a:rPr lang="en-IE" sz="1800" kern="100" dirty="0">
                <a:solidFill>
                  <a:srgbClr val="FF0000"/>
                </a:solidFill>
                <a:effectLst/>
                <a:latin typeface="Helvetica" pitchFamily="2" charset="0"/>
              </a:rPr>
              <a:t>L</a:t>
            </a:r>
            <a:r>
              <a:rPr lang="en-IE" sz="1800" kern="100" dirty="0">
                <a:solidFill>
                  <a:schemeClr val="tx1"/>
                </a:solidFill>
                <a:effectLst/>
                <a:latin typeface="Helvetica" pitchFamily="2" charset="0"/>
              </a:rPr>
              <a:t>)(</a:t>
            </a:r>
            <a:r>
              <a:rPr lang="en-IE" sz="1800" kern="100" dirty="0">
                <a:solidFill>
                  <a:srgbClr val="92D050"/>
                </a:solidFill>
                <a:effectLst/>
                <a:latin typeface="Helvetica" pitchFamily="2" charset="0"/>
              </a:rPr>
              <a:t>H</a:t>
            </a:r>
            <a:r>
              <a:rPr lang="en-IE" sz="1800" kern="100" dirty="0">
                <a:solidFill>
                  <a:schemeClr val="tx1"/>
                </a:solidFill>
                <a:effectLst/>
                <a:latin typeface="Helvetica" pitchFamily="2" charset="0"/>
              </a:rPr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7582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5044B6-2679-AC11-EE03-E484CE3D38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3A212-852B-3EDA-38EC-62A35CFD65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Predator and Prey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4EC1F95-3DB8-0BCE-24F0-FFEA3465148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33941739"/>
              </p:ext>
            </p:extLst>
          </p:nvPr>
        </p:nvGraphicFramePr>
        <p:xfrm>
          <a:off x="807057" y="1781092"/>
          <a:ext cx="7784327" cy="13716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822447">
                  <a:extLst>
                    <a:ext uri="{9D8B030D-6E8A-4147-A177-3AD203B41FA5}">
                      <a16:colId xmlns:a16="http://schemas.microsoft.com/office/drawing/2014/main" val="2207369774"/>
                    </a:ext>
                  </a:extLst>
                </a:gridCol>
                <a:gridCol w="3618357">
                  <a:extLst>
                    <a:ext uri="{9D8B030D-6E8A-4147-A177-3AD203B41FA5}">
                      <a16:colId xmlns:a16="http://schemas.microsoft.com/office/drawing/2014/main" val="3453499676"/>
                    </a:ext>
                  </a:extLst>
                </a:gridCol>
                <a:gridCol w="3343523">
                  <a:extLst>
                    <a:ext uri="{9D8B030D-6E8A-4147-A177-3AD203B41FA5}">
                      <a16:colId xmlns:a16="http://schemas.microsoft.com/office/drawing/2014/main" val="3021010827"/>
                    </a:ext>
                  </a:extLst>
                </a:gridCol>
              </a:tblGrid>
              <a:tr h="273600">
                <a:tc>
                  <a:txBody>
                    <a:bodyPr/>
                    <a:lstStyle/>
                    <a:p>
                      <a:pPr algn="r"/>
                      <a:r>
                        <a:rPr lang="en-IE" sz="1800" kern="10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IE" sz="18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</a:rPr>
                        <a:t>Hare Population</a:t>
                      </a: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</a:rPr>
                        <a:t>Lynx Population</a:t>
                      </a: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976014491"/>
                  </a:ext>
                </a:extLst>
              </a:tr>
              <a:tr h="273600">
                <a:tc>
                  <a:txBody>
                    <a:bodyPr/>
                    <a:lstStyle/>
                    <a:p>
                      <a:pPr algn="r"/>
                      <a:r>
                        <a:rPr lang="en-IE" sz="1800" kern="100">
                          <a:solidFill>
                            <a:schemeClr val="tx1"/>
                          </a:solidFill>
                          <a:effectLst/>
                        </a:rPr>
                        <a:t>0</a:t>
                      </a:r>
                      <a:endParaRPr lang="en-IE" sz="18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</a:rPr>
                        <a:t>60</a:t>
                      </a: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>
                          <a:solidFill>
                            <a:schemeClr val="tx1"/>
                          </a:solidFill>
                          <a:effectLst/>
                        </a:rPr>
                        <a:t>30</a:t>
                      </a:r>
                      <a:endParaRPr lang="en-IE" sz="18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970276524"/>
                  </a:ext>
                </a:extLst>
              </a:tr>
              <a:tr h="273600">
                <a:tc>
                  <a:txBody>
                    <a:bodyPr/>
                    <a:lstStyle/>
                    <a:p>
                      <a:pPr algn="r"/>
                      <a:r>
                        <a:rPr lang="en-IE" sz="1800" kern="100">
                          <a:solidFill>
                            <a:schemeClr val="tx1"/>
                          </a:solidFill>
                          <a:effectLst/>
                        </a:rPr>
                        <a:t>1</a:t>
                      </a:r>
                      <a:endParaRPr lang="en-IE" sz="18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</a:rPr>
                        <a:t> </a:t>
                      </a:r>
                      <a:r>
                        <a:rPr lang="en-IE" sz="1800" u="none" kern="100" dirty="0">
                          <a:solidFill>
                            <a:schemeClr val="tx1"/>
                          </a:solidFill>
                          <a:effectLst/>
                        </a:rPr>
                        <a:t>63</a:t>
                      </a:r>
                      <a:endParaRPr lang="en-IE" sz="1800" u="none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</a:rPr>
                        <a:t> 30.6</a:t>
                      </a: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20539885"/>
                  </a:ext>
                </a:extLst>
              </a:tr>
              <a:tr h="273600">
                <a:tc>
                  <a:txBody>
                    <a:bodyPr/>
                    <a:lstStyle/>
                    <a:p>
                      <a:pPr algn="r"/>
                      <a:r>
                        <a:rPr lang="en-IE" sz="1800" kern="100">
                          <a:solidFill>
                            <a:schemeClr val="tx1"/>
                          </a:solidFill>
                          <a:effectLst/>
                        </a:rPr>
                        <a:t>2</a:t>
                      </a:r>
                      <a:endParaRPr lang="en-IE" sz="18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</a:rPr>
                        <a:t> </a:t>
                      </a:r>
                      <a:r>
                        <a:rPr lang="en-IE" sz="1800" u="none" kern="100" dirty="0">
                          <a:solidFill>
                            <a:schemeClr val="tx1"/>
                          </a:solidFill>
                          <a:effectLst/>
                        </a:rPr>
                        <a:t>65.9</a:t>
                      </a: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</a:rPr>
                        <a:t> 31.3</a:t>
                      </a: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179268068"/>
                  </a:ext>
                </a:extLst>
              </a:tr>
              <a:tr h="273600">
                <a:tc>
                  <a:txBody>
                    <a:bodyPr/>
                    <a:lstStyle/>
                    <a:p>
                      <a:pPr algn="r"/>
                      <a:r>
                        <a:rPr lang="en-IE" sz="1800" kern="100">
                          <a:solidFill>
                            <a:schemeClr val="tx1"/>
                          </a:solidFill>
                          <a:effectLst/>
                        </a:rPr>
                        <a:t>3</a:t>
                      </a:r>
                      <a:endParaRPr lang="en-IE" sz="18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</a:rPr>
                        <a:t> 68.8</a:t>
                      </a: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</a:rPr>
                        <a:t> 32.4</a:t>
                      </a: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23789269"/>
                  </a:ext>
                </a:extLst>
              </a:tr>
            </a:tbl>
          </a:graphicData>
        </a:graphic>
      </p:graphicFrame>
      <p:pic>
        <p:nvPicPr>
          <p:cNvPr id="5" name="Picture 4" descr="A graph with red and green dots&#10;&#10;Description automatically generated">
            <a:extLst>
              <a:ext uri="{FF2B5EF4-FFF2-40B4-BE49-F238E27FC236}">
                <a16:creationId xmlns:a16="http://schemas.microsoft.com/office/drawing/2014/main" id="{918FBC5E-D1A8-AA9F-2E16-CB8345DAB1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6996" y="3200400"/>
            <a:ext cx="5486400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570830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A9B032-250A-9230-E80F-B3F9F2253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88AECE-9148-4D9C-FBD9-43A4A2B07E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Predator and Prey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150BD2A-07E3-3382-50DD-D354E886DD8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90036117"/>
              </p:ext>
            </p:extLst>
          </p:nvPr>
        </p:nvGraphicFramePr>
        <p:xfrm>
          <a:off x="807057" y="1781092"/>
          <a:ext cx="7784327" cy="13716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822447">
                  <a:extLst>
                    <a:ext uri="{9D8B030D-6E8A-4147-A177-3AD203B41FA5}">
                      <a16:colId xmlns:a16="http://schemas.microsoft.com/office/drawing/2014/main" val="2207369774"/>
                    </a:ext>
                  </a:extLst>
                </a:gridCol>
                <a:gridCol w="3618357">
                  <a:extLst>
                    <a:ext uri="{9D8B030D-6E8A-4147-A177-3AD203B41FA5}">
                      <a16:colId xmlns:a16="http://schemas.microsoft.com/office/drawing/2014/main" val="3453499676"/>
                    </a:ext>
                  </a:extLst>
                </a:gridCol>
                <a:gridCol w="3343523">
                  <a:extLst>
                    <a:ext uri="{9D8B030D-6E8A-4147-A177-3AD203B41FA5}">
                      <a16:colId xmlns:a16="http://schemas.microsoft.com/office/drawing/2014/main" val="3021010827"/>
                    </a:ext>
                  </a:extLst>
                </a:gridCol>
              </a:tblGrid>
              <a:tr h="273600">
                <a:tc>
                  <a:txBody>
                    <a:bodyPr/>
                    <a:lstStyle/>
                    <a:p>
                      <a:pPr algn="r"/>
                      <a:r>
                        <a:rPr lang="en-IE" sz="1800" kern="10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IE" sz="18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</a:rPr>
                        <a:t>Hare Population</a:t>
                      </a: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</a:rPr>
                        <a:t>Lynx Population</a:t>
                      </a: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976014491"/>
                  </a:ext>
                </a:extLst>
              </a:tr>
              <a:tr h="273600">
                <a:tc>
                  <a:txBody>
                    <a:bodyPr/>
                    <a:lstStyle/>
                    <a:p>
                      <a:pPr algn="r"/>
                      <a:r>
                        <a:rPr lang="en-IE" sz="1800" kern="100">
                          <a:solidFill>
                            <a:schemeClr val="tx1"/>
                          </a:solidFill>
                          <a:effectLst/>
                        </a:rPr>
                        <a:t>0</a:t>
                      </a:r>
                      <a:endParaRPr lang="en-IE" sz="18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</a:rPr>
                        <a:t>60</a:t>
                      </a: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>
                          <a:solidFill>
                            <a:schemeClr val="tx1"/>
                          </a:solidFill>
                          <a:effectLst/>
                        </a:rPr>
                        <a:t>30</a:t>
                      </a:r>
                      <a:endParaRPr lang="en-IE" sz="18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970276524"/>
                  </a:ext>
                </a:extLst>
              </a:tr>
              <a:tr h="273600">
                <a:tc>
                  <a:txBody>
                    <a:bodyPr/>
                    <a:lstStyle/>
                    <a:p>
                      <a:pPr algn="r"/>
                      <a:r>
                        <a:rPr lang="en-IE" sz="1800" kern="100">
                          <a:solidFill>
                            <a:schemeClr val="tx1"/>
                          </a:solidFill>
                          <a:effectLst/>
                        </a:rPr>
                        <a:t>1</a:t>
                      </a:r>
                      <a:endParaRPr lang="en-IE" sz="18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IE" sz="1800" u="none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20539885"/>
                  </a:ext>
                </a:extLst>
              </a:tr>
              <a:tr h="273600">
                <a:tc>
                  <a:txBody>
                    <a:bodyPr/>
                    <a:lstStyle/>
                    <a:p>
                      <a:pPr algn="r"/>
                      <a:r>
                        <a:rPr lang="en-IE" sz="1800" kern="100">
                          <a:solidFill>
                            <a:schemeClr val="tx1"/>
                          </a:solidFill>
                          <a:effectLst/>
                        </a:rPr>
                        <a:t>2</a:t>
                      </a:r>
                      <a:endParaRPr lang="en-IE" sz="18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179268068"/>
                  </a:ext>
                </a:extLst>
              </a:tr>
              <a:tr h="273600">
                <a:tc>
                  <a:txBody>
                    <a:bodyPr/>
                    <a:lstStyle/>
                    <a:p>
                      <a:pPr algn="r"/>
                      <a:r>
                        <a:rPr lang="en-IE" sz="1800" kern="100">
                          <a:solidFill>
                            <a:schemeClr val="tx1"/>
                          </a:solidFill>
                          <a:effectLst/>
                        </a:rPr>
                        <a:t>3</a:t>
                      </a:r>
                      <a:endParaRPr lang="en-IE" sz="18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23789269"/>
                  </a:ext>
                </a:extLst>
              </a:tr>
            </a:tbl>
          </a:graphicData>
        </a:graphic>
      </p:graphicFrame>
      <p:pic>
        <p:nvPicPr>
          <p:cNvPr id="6" name="Picture 5" descr="A graph of a number of animals&#10;&#10;Description automatically generated">
            <a:extLst>
              <a:ext uri="{FF2B5EF4-FFF2-40B4-BE49-F238E27FC236}">
                <a16:creationId xmlns:a16="http://schemas.microsoft.com/office/drawing/2014/main" id="{A53B5B4E-4928-3354-F740-2D13BB9ADD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3200" y="3200400"/>
            <a:ext cx="3657600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107592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A51EB5-111E-0926-2BC3-0DDC44D348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717123-2838-2B61-267B-2145D45315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Predator and Prey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5AC7ABB-0D52-A20B-076B-F6A75502092F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07057" y="1781092"/>
          <a:ext cx="7784327" cy="13716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822447">
                  <a:extLst>
                    <a:ext uri="{9D8B030D-6E8A-4147-A177-3AD203B41FA5}">
                      <a16:colId xmlns:a16="http://schemas.microsoft.com/office/drawing/2014/main" val="2207369774"/>
                    </a:ext>
                  </a:extLst>
                </a:gridCol>
                <a:gridCol w="3618357">
                  <a:extLst>
                    <a:ext uri="{9D8B030D-6E8A-4147-A177-3AD203B41FA5}">
                      <a16:colId xmlns:a16="http://schemas.microsoft.com/office/drawing/2014/main" val="3453499676"/>
                    </a:ext>
                  </a:extLst>
                </a:gridCol>
                <a:gridCol w="3343523">
                  <a:extLst>
                    <a:ext uri="{9D8B030D-6E8A-4147-A177-3AD203B41FA5}">
                      <a16:colId xmlns:a16="http://schemas.microsoft.com/office/drawing/2014/main" val="3021010827"/>
                    </a:ext>
                  </a:extLst>
                </a:gridCol>
              </a:tblGrid>
              <a:tr h="273600">
                <a:tc>
                  <a:txBody>
                    <a:bodyPr/>
                    <a:lstStyle/>
                    <a:p>
                      <a:pPr algn="r"/>
                      <a:r>
                        <a:rPr lang="en-IE" sz="1800" kern="10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IE" sz="18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</a:rPr>
                        <a:t>Hare Population</a:t>
                      </a: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</a:rPr>
                        <a:t>Lynx Population</a:t>
                      </a: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976014491"/>
                  </a:ext>
                </a:extLst>
              </a:tr>
              <a:tr h="273600">
                <a:tc>
                  <a:txBody>
                    <a:bodyPr/>
                    <a:lstStyle/>
                    <a:p>
                      <a:pPr algn="r"/>
                      <a:r>
                        <a:rPr lang="en-IE" sz="1800" kern="100">
                          <a:solidFill>
                            <a:schemeClr val="tx1"/>
                          </a:solidFill>
                          <a:effectLst/>
                        </a:rPr>
                        <a:t>0</a:t>
                      </a:r>
                      <a:endParaRPr lang="en-IE" sz="18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</a:rPr>
                        <a:t>60</a:t>
                      </a: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>
                          <a:solidFill>
                            <a:schemeClr val="tx1"/>
                          </a:solidFill>
                          <a:effectLst/>
                        </a:rPr>
                        <a:t>30</a:t>
                      </a:r>
                      <a:endParaRPr lang="en-IE" sz="18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970276524"/>
                  </a:ext>
                </a:extLst>
              </a:tr>
              <a:tr h="273600">
                <a:tc>
                  <a:txBody>
                    <a:bodyPr/>
                    <a:lstStyle/>
                    <a:p>
                      <a:pPr algn="r"/>
                      <a:r>
                        <a:rPr lang="en-IE" sz="1800" kern="100">
                          <a:solidFill>
                            <a:schemeClr val="tx1"/>
                          </a:solidFill>
                          <a:effectLst/>
                        </a:rPr>
                        <a:t>1</a:t>
                      </a:r>
                      <a:endParaRPr lang="en-IE" sz="18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</a:rPr>
                        <a:t> </a:t>
                      </a:r>
                      <a:r>
                        <a:rPr lang="en-IE" sz="1800" u="none" kern="100" dirty="0">
                          <a:solidFill>
                            <a:schemeClr val="tx1"/>
                          </a:solidFill>
                          <a:effectLst/>
                        </a:rPr>
                        <a:t>63</a:t>
                      </a:r>
                      <a:endParaRPr lang="en-IE" sz="1800" u="none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</a:rPr>
                        <a:t> 30.6</a:t>
                      </a: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20539885"/>
                  </a:ext>
                </a:extLst>
              </a:tr>
              <a:tr h="273600">
                <a:tc>
                  <a:txBody>
                    <a:bodyPr/>
                    <a:lstStyle/>
                    <a:p>
                      <a:pPr algn="r"/>
                      <a:r>
                        <a:rPr lang="en-IE" sz="1800" kern="100">
                          <a:solidFill>
                            <a:schemeClr val="tx1"/>
                          </a:solidFill>
                          <a:effectLst/>
                        </a:rPr>
                        <a:t>2</a:t>
                      </a:r>
                      <a:endParaRPr lang="en-IE" sz="18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</a:rPr>
                        <a:t> </a:t>
                      </a:r>
                      <a:r>
                        <a:rPr lang="en-IE" sz="1800" u="none" kern="100" dirty="0">
                          <a:solidFill>
                            <a:schemeClr val="tx1"/>
                          </a:solidFill>
                          <a:effectLst/>
                        </a:rPr>
                        <a:t>65.9</a:t>
                      </a: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</a:rPr>
                        <a:t> 31.3</a:t>
                      </a: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179268068"/>
                  </a:ext>
                </a:extLst>
              </a:tr>
              <a:tr h="273600">
                <a:tc>
                  <a:txBody>
                    <a:bodyPr/>
                    <a:lstStyle/>
                    <a:p>
                      <a:pPr algn="r"/>
                      <a:r>
                        <a:rPr lang="en-IE" sz="1800" kern="100">
                          <a:solidFill>
                            <a:schemeClr val="tx1"/>
                          </a:solidFill>
                          <a:effectLst/>
                        </a:rPr>
                        <a:t>3</a:t>
                      </a:r>
                      <a:endParaRPr lang="en-IE" sz="18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</a:rPr>
                        <a:t> 68.8</a:t>
                      </a: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</a:rPr>
                        <a:t> 32.4</a:t>
                      </a: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23789269"/>
                  </a:ext>
                </a:extLst>
              </a:tr>
            </a:tbl>
          </a:graphicData>
        </a:graphic>
      </p:graphicFrame>
      <p:pic>
        <p:nvPicPr>
          <p:cNvPr id="6" name="Picture 5" descr="A graph of a number of animals&#10;&#10;Description automatically generated">
            <a:extLst>
              <a:ext uri="{FF2B5EF4-FFF2-40B4-BE49-F238E27FC236}">
                <a16:creationId xmlns:a16="http://schemas.microsoft.com/office/drawing/2014/main" id="{65847769-4736-2C13-F4AD-DC018589CD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3200" y="3200400"/>
            <a:ext cx="3657600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319565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F8DBA-8F66-8909-9F28-9E8346F1A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0F98D7-BAA1-FCC8-91B9-6388ADA472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Predator and Prey</a:t>
            </a:r>
          </a:p>
        </p:txBody>
      </p:sp>
      <p:pic>
        <p:nvPicPr>
          <p:cNvPr id="8" name="Content Placeholder 7" descr="A graph of a graph&#10;&#10;Description automatically generated with medium confidence">
            <a:extLst>
              <a:ext uri="{FF2B5EF4-FFF2-40B4-BE49-F238E27FC236}">
                <a16:creationId xmlns:a16="http://schemas.microsoft.com/office/drawing/2014/main" id="{8AC8C6F6-58D0-E1CA-9D29-A50D998B4AE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245" y="1748803"/>
            <a:ext cx="6877878" cy="4585252"/>
          </a:xfrm>
        </p:spPr>
      </p:pic>
    </p:spTree>
    <p:extLst>
      <p:ext uri="{BB962C8B-B14F-4D97-AF65-F5344CB8AC3E}">
        <p14:creationId xmlns:p14="http://schemas.microsoft.com/office/powerpoint/2010/main" val="303894011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118438-B29D-4604-8E4C-C97C06FB64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Predator and Prey</a:t>
            </a:r>
            <a:endParaRPr lang="en-US" dirty="0"/>
          </a:p>
        </p:txBody>
      </p:sp>
      <p:pic>
        <p:nvPicPr>
          <p:cNvPr id="5" name="Content Placeholder 4" descr="A graph of a number of dots&#10;&#10;Description automatically generated">
            <a:extLst>
              <a:ext uri="{FF2B5EF4-FFF2-40B4-BE49-F238E27FC236}">
                <a16:creationId xmlns:a16="http://schemas.microsoft.com/office/drawing/2014/main" id="{539B5F7F-F65D-F547-7D51-4D4A91079C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7703" y="1672603"/>
            <a:ext cx="5118652" cy="5118652"/>
          </a:xfrm>
        </p:spPr>
      </p:pic>
    </p:spTree>
    <p:extLst>
      <p:ext uri="{BB962C8B-B14F-4D97-AF65-F5344CB8AC3E}">
        <p14:creationId xmlns:p14="http://schemas.microsoft.com/office/powerpoint/2010/main" val="303044414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10EDE-7E46-85AF-30B0-2F437BC9D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40E5D-D955-BCDB-15E1-98F760684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Predator and Prey</a:t>
            </a:r>
          </a:p>
        </p:txBody>
      </p:sp>
      <p:pic>
        <p:nvPicPr>
          <p:cNvPr id="5" name="Content Placeholder 4" descr="A group of white papers with yellow dots&#10;&#10;Description automatically generated">
            <a:extLst>
              <a:ext uri="{FF2B5EF4-FFF2-40B4-BE49-F238E27FC236}">
                <a16:creationId xmlns:a16="http://schemas.microsoft.com/office/drawing/2014/main" id="{2B3F86A0-27A9-94B8-70F5-0562E70049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624"/>
          <a:stretch/>
        </p:blipFill>
        <p:spPr>
          <a:xfrm>
            <a:off x="8459" y="2210463"/>
            <a:ext cx="9130331" cy="1979171"/>
          </a:xfrm>
        </p:spPr>
      </p:pic>
    </p:spTree>
    <p:extLst>
      <p:ext uri="{BB962C8B-B14F-4D97-AF65-F5344CB8AC3E}">
        <p14:creationId xmlns:p14="http://schemas.microsoft.com/office/powerpoint/2010/main" val="125548527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7CEE7-0DF6-40B9-9E27-AD3711C1D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Predator and Prey</a:t>
            </a:r>
            <a:endParaRPr lang="en-US" dirty="0"/>
          </a:p>
        </p:txBody>
      </p:sp>
      <p:pic>
        <p:nvPicPr>
          <p:cNvPr id="4" name="Hare_Lynx_oribt">
            <a:hlinkClick r:id="" action="ppaction://media"/>
            <a:extLst>
              <a:ext uri="{FF2B5EF4-FFF2-40B4-BE49-F238E27FC236}">
                <a16:creationId xmlns:a16="http://schemas.microsoft.com/office/drawing/2014/main" id="{AF2ACB25-19DE-4B93-87FB-B0EDA80A8D12}"/>
              </a:ext>
            </a:extLst>
          </p:cNvPr>
          <p:cNvPicPr>
            <a:picLocks noGrp="1" noChangeAspect="1"/>
          </p:cNvPicPr>
          <p:nvPr>
            <p:ph idx="1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01725" y="1774825"/>
            <a:ext cx="6938963" cy="4625975"/>
          </a:xfrm>
        </p:spPr>
      </p:pic>
    </p:spTree>
    <p:extLst>
      <p:ext uri="{BB962C8B-B14F-4D97-AF65-F5344CB8AC3E}">
        <p14:creationId xmlns:p14="http://schemas.microsoft.com/office/powerpoint/2010/main" val="10504393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2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7D65D-01A6-5FB7-3624-3B95E911E1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DDE602-305F-8DCE-561D-68FA9E6473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Predator Prey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357B90-1031-0BAF-7975-3B1D81974F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 dirty="0"/>
              <a:t>Deer, Plants and Wolves</a:t>
            </a:r>
          </a:p>
        </p:txBody>
      </p:sp>
      <p:pic>
        <p:nvPicPr>
          <p:cNvPr id="4" name="Picture 2" descr="1,000+ Best Wolf Photos · 100% Free Download · Pexels Stock Photos">
            <a:extLst>
              <a:ext uri="{FF2B5EF4-FFF2-40B4-BE49-F238E27FC236}">
                <a16:creationId xmlns:a16="http://schemas.microsoft.com/office/drawing/2014/main" id="{533DE9D0-F38E-8AF3-60E0-EF338FC4012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891" t="3690" r="18587" b="3690"/>
          <a:stretch/>
        </p:blipFill>
        <p:spPr bwMode="auto">
          <a:xfrm>
            <a:off x="6189334" y="3727727"/>
            <a:ext cx="2520000" cy="2520000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 descr="A deer with antlers walking in grass&#10;&#10;Description automatically generated">
            <a:extLst>
              <a:ext uri="{FF2B5EF4-FFF2-40B4-BE49-F238E27FC236}">
                <a16:creationId xmlns:a16="http://schemas.microsoft.com/office/drawing/2014/main" id="{61199400-44FD-B14B-690E-F1806350B42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66" t="10150" r="38067" b="30382"/>
          <a:stretch/>
        </p:blipFill>
        <p:spPr>
          <a:xfrm>
            <a:off x="294267" y="3727727"/>
            <a:ext cx="2520000" cy="2520000"/>
          </a:xfrm>
          <a:prstGeom prst="ellipse">
            <a:avLst/>
          </a:prstGeom>
        </p:spPr>
      </p:pic>
      <p:pic>
        <p:nvPicPr>
          <p:cNvPr id="8" name="Picture 7" descr="A deer standing in the woods&#10;&#10;Description automatically generated">
            <a:extLst>
              <a:ext uri="{FF2B5EF4-FFF2-40B4-BE49-F238E27FC236}">
                <a16:creationId xmlns:a16="http://schemas.microsoft.com/office/drawing/2014/main" id="{A5BC6B5D-5EED-858F-641A-3D8558349B68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33" r="12833"/>
          <a:stretch/>
        </p:blipFill>
        <p:spPr>
          <a:xfrm>
            <a:off x="3225524" y="3727727"/>
            <a:ext cx="2520000" cy="2520000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242538772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A42F9E5-171C-40CA-8D46-A18DDBED8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Three Animals</a:t>
            </a:r>
          </a:p>
        </p:txBody>
      </p:sp>
      <p:pic>
        <p:nvPicPr>
          <p:cNvPr id="2" name="Content Placeholder 1" descr="A screenshot of a diagram&#10;&#10;Description automatically generated">
            <a:extLst>
              <a:ext uri="{FF2B5EF4-FFF2-40B4-BE49-F238E27FC236}">
                <a16:creationId xmlns:a16="http://schemas.microsoft.com/office/drawing/2014/main" id="{A2B71DA9-A03E-44CE-7081-3F4876A9771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432" t="16642" r="28894" b="54529"/>
          <a:stretch/>
        </p:blipFill>
        <p:spPr bwMode="auto">
          <a:xfrm>
            <a:off x="1910993" y="1662441"/>
            <a:ext cx="5630238" cy="4598974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4385494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C9BCAE-2692-5DDB-29F4-2CB361C24F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7A5C394-027B-43C3-09D7-2B8CE55B63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Three Animals</a:t>
            </a:r>
          </a:p>
        </p:txBody>
      </p:sp>
      <p:pic>
        <p:nvPicPr>
          <p:cNvPr id="2" name="Content Placeholder 1" descr="A screenshot of a diagram&#10;&#10;Description automatically generated">
            <a:extLst>
              <a:ext uri="{FF2B5EF4-FFF2-40B4-BE49-F238E27FC236}">
                <a16:creationId xmlns:a16="http://schemas.microsoft.com/office/drawing/2014/main" id="{CA40153E-3F64-BD64-8E9E-A3C19CDC4A6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432" t="16642" r="28894" b="54529"/>
          <a:stretch/>
        </p:blipFill>
        <p:spPr bwMode="auto">
          <a:xfrm>
            <a:off x="1910993" y="1662441"/>
            <a:ext cx="5630238" cy="4598974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3" name="Text Box 47">
            <a:extLst>
              <a:ext uri="{FF2B5EF4-FFF2-40B4-BE49-F238E27FC236}">
                <a16:creationId xmlns:a16="http://schemas.microsoft.com/office/drawing/2014/main" id="{F1D4C785-C1F7-B265-AE0D-17DB077E7558}"/>
              </a:ext>
            </a:extLst>
          </p:cNvPr>
          <p:cNvSpPr txBox="1"/>
          <p:nvPr/>
        </p:nvSpPr>
        <p:spPr>
          <a:xfrm>
            <a:off x="4302574" y="1579513"/>
            <a:ext cx="1685925" cy="304800"/>
          </a:xfrm>
          <a:prstGeom prst="rect">
            <a:avLst/>
          </a:prstGeom>
          <a:solidFill>
            <a:schemeClr val="lt1"/>
          </a:solidFill>
          <a:ln w="6350">
            <a:solidFill>
              <a:prstClr val="black"/>
            </a:solidFill>
          </a:ln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buNone/>
            </a:pPr>
            <a:r>
              <a:rPr lang="en-IE" sz="1200" kern="10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Death rate Wolves</a:t>
            </a:r>
          </a:p>
        </p:txBody>
      </p:sp>
      <p:sp>
        <p:nvSpPr>
          <p:cNvPr id="5" name="Text Box 47">
            <a:extLst>
              <a:ext uri="{FF2B5EF4-FFF2-40B4-BE49-F238E27FC236}">
                <a16:creationId xmlns:a16="http://schemas.microsoft.com/office/drawing/2014/main" id="{3FC2F162-6638-658E-269D-AC1C5B9A1ECA}"/>
              </a:ext>
            </a:extLst>
          </p:cNvPr>
          <p:cNvSpPr txBox="1"/>
          <p:nvPr/>
        </p:nvSpPr>
        <p:spPr>
          <a:xfrm>
            <a:off x="5380200" y="3672112"/>
            <a:ext cx="1685925" cy="304800"/>
          </a:xfrm>
          <a:prstGeom prst="rect">
            <a:avLst/>
          </a:prstGeom>
          <a:solidFill>
            <a:schemeClr val="lt1"/>
          </a:solidFill>
          <a:ln w="6350">
            <a:solidFill>
              <a:prstClr val="black"/>
            </a:solidFill>
          </a:ln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buNone/>
            </a:pPr>
            <a:r>
              <a:rPr lang="en-IE" sz="1200" kern="10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Wolves eat Deer</a:t>
            </a:r>
          </a:p>
        </p:txBody>
      </p:sp>
      <p:sp>
        <p:nvSpPr>
          <p:cNvPr id="6" name="Text Box 47">
            <a:extLst>
              <a:ext uri="{FF2B5EF4-FFF2-40B4-BE49-F238E27FC236}">
                <a16:creationId xmlns:a16="http://schemas.microsoft.com/office/drawing/2014/main" id="{902C2B97-3CAB-0F1D-1E36-3B562D9109C7}"/>
              </a:ext>
            </a:extLst>
          </p:cNvPr>
          <p:cNvSpPr txBox="1"/>
          <p:nvPr/>
        </p:nvSpPr>
        <p:spPr>
          <a:xfrm>
            <a:off x="7000875" y="4929187"/>
            <a:ext cx="1685925" cy="304800"/>
          </a:xfrm>
          <a:prstGeom prst="rect">
            <a:avLst/>
          </a:prstGeom>
          <a:solidFill>
            <a:schemeClr val="lt1"/>
          </a:solidFill>
          <a:ln w="6350">
            <a:solidFill>
              <a:prstClr val="black"/>
            </a:solidFill>
          </a:ln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buNone/>
            </a:pPr>
            <a:r>
              <a:rPr lang="en-IE" sz="1200" kern="10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More Deer Born</a:t>
            </a:r>
          </a:p>
        </p:txBody>
      </p:sp>
      <p:sp>
        <p:nvSpPr>
          <p:cNvPr id="7" name="Text Box 47">
            <a:extLst>
              <a:ext uri="{FF2B5EF4-FFF2-40B4-BE49-F238E27FC236}">
                <a16:creationId xmlns:a16="http://schemas.microsoft.com/office/drawing/2014/main" id="{747D4016-B4FB-33AB-B935-67130B28A6B7}"/>
              </a:ext>
            </a:extLst>
          </p:cNvPr>
          <p:cNvSpPr txBox="1"/>
          <p:nvPr/>
        </p:nvSpPr>
        <p:spPr>
          <a:xfrm>
            <a:off x="491768" y="4976483"/>
            <a:ext cx="1419225" cy="304800"/>
          </a:xfrm>
          <a:prstGeom prst="rect">
            <a:avLst/>
          </a:prstGeom>
          <a:solidFill>
            <a:schemeClr val="lt1"/>
          </a:solidFill>
          <a:ln w="6350">
            <a:solidFill>
              <a:prstClr val="black"/>
            </a:solidFill>
          </a:ln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buNone/>
            </a:pPr>
            <a:r>
              <a:rPr lang="en-IE" sz="1200" kern="10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More Plants Grow</a:t>
            </a:r>
          </a:p>
        </p:txBody>
      </p:sp>
      <p:sp>
        <p:nvSpPr>
          <p:cNvPr id="8" name="Text Box 47">
            <a:extLst>
              <a:ext uri="{FF2B5EF4-FFF2-40B4-BE49-F238E27FC236}">
                <a16:creationId xmlns:a16="http://schemas.microsoft.com/office/drawing/2014/main" id="{4622A4D8-84EE-D0CB-989D-CCA3825267A9}"/>
              </a:ext>
            </a:extLst>
          </p:cNvPr>
          <p:cNvSpPr txBox="1"/>
          <p:nvPr/>
        </p:nvSpPr>
        <p:spPr>
          <a:xfrm>
            <a:off x="2247668" y="3809528"/>
            <a:ext cx="1685925" cy="304800"/>
          </a:xfrm>
          <a:prstGeom prst="rect">
            <a:avLst/>
          </a:prstGeom>
          <a:solidFill>
            <a:schemeClr val="lt1"/>
          </a:solidFill>
          <a:ln w="6350">
            <a:solidFill>
              <a:prstClr val="black"/>
            </a:solidFill>
          </a:ln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buNone/>
            </a:pPr>
            <a:r>
              <a:rPr lang="en-IE" sz="1200" kern="10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Wolves project plants</a:t>
            </a:r>
          </a:p>
        </p:txBody>
      </p:sp>
      <p:sp>
        <p:nvSpPr>
          <p:cNvPr id="9" name="Text Box 47">
            <a:extLst>
              <a:ext uri="{FF2B5EF4-FFF2-40B4-BE49-F238E27FC236}">
                <a16:creationId xmlns:a16="http://schemas.microsoft.com/office/drawing/2014/main" id="{8811AB81-F104-B03F-1B5B-CC3AD3277035}"/>
              </a:ext>
            </a:extLst>
          </p:cNvPr>
          <p:cNvSpPr txBox="1"/>
          <p:nvPr/>
        </p:nvSpPr>
        <p:spPr>
          <a:xfrm>
            <a:off x="4094325" y="4195433"/>
            <a:ext cx="1285875" cy="276225"/>
          </a:xfrm>
          <a:prstGeom prst="rect">
            <a:avLst/>
          </a:prstGeom>
          <a:solidFill>
            <a:schemeClr val="lt1"/>
          </a:solidFill>
          <a:ln w="6350">
            <a:solidFill>
              <a:prstClr val="black"/>
            </a:solidFill>
          </a:ln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buNone/>
            </a:pPr>
            <a:r>
              <a:rPr lang="en-IE" sz="1000" kern="10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Food for wolves</a:t>
            </a:r>
            <a:endParaRPr lang="en-IE" sz="1200" kern="10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0" name="Text Box 47">
            <a:extLst>
              <a:ext uri="{FF2B5EF4-FFF2-40B4-BE49-F238E27FC236}">
                <a16:creationId xmlns:a16="http://schemas.microsoft.com/office/drawing/2014/main" id="{D650F6E9-FE83-FB04-F3E0-73D147973F6B}"/>
              </a:ext>
            </a:extLst>
          </p:cNvPr>
          <p:cNvSpPr txBox="1"/>
          <p:nvPr/>
        </p:nvSpPr>
        <p:spPr>
          <a:xfrm>
            <a:off x="4083174" y="5471783"/>
            <a:ext cx="1285875" cy="276225"/>
          </a:xfrm>
          <a:prstGeom prst="rect">
            <a:avLst/>
          </a:prstGeom>
          <a:solidFill>
            <a:schemeClr val="lt1"/>
          </a:solidFill>
          <a:ln w="6350">
            <a:solidFill>
              <a:prstClr val="black"/>
            </a:solidFill>
          </a:ln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buNone/>
            </a:pPr>
            <a:r>
              <a:rPr lang="en-IE" sz="1000" kern="10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Deer eat plants</a:t>
            </a:r>
            <a:endParaRPr lang="en-IE" sz="1200" kern="10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1" name="Text Box 47">
            <a:extLst>
              <a:ext uri="{FF2B5EF4-FFF2-40B4-BE49-F238E27FC236}">
                <a16:creationId xmlns:a16="http://schemas.microsoft.com/office/drawing/2014/main" id="{66272383-353F-EAA1-862B-B84AF114B8DE}"/>
              </a:ext>
            </a:extLst>
          </p:cNvPr>
          <p:cNvSpPr txBox="1"/>
          <p:nvPr/>
        </p:nvSpPr>
        <p:spPr>
          <a:xfrm>
            <a:off x="3933593" y="4824083"/>
            <a:ext cx="1685925" cy="304800"/>
          </a:xfrm>
          <a:prstGeom prst="rect">
            <a:avLst/>
          </a:prstGeom>
          <a:solidFill>
            <a:schemeClr val="lt1"/>
          </a:solidFill>
          <a:ln w="6350">
            <a:solidFill>
              <a:prstClr val="black"/>
            </a:solidFill>
          </a:ln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buNone/>
            </a:pPr>
            <a:r>
              <a:rPr lang="en-IE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Food for deer</a:t>
            </a:r>
          </a:p>
        </p:txBody>
      </p:sp>
    </p:spTree>
    <p:extLst>
      <p:ext uri="{BB962C8B-B14F-4D97-AF65-F5344CB8AC3E}">
        <p14:creationId xmlns:p14="http://schemas.microsoft.com/office/powerpoint/2010/main" val="30165394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56170-43E2-C15C-66C7-20C716D51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78FF646-D3A9-18E0-CD88-41381127D8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Three Animals</a:t>
            </a:r>
          </a:p>
        </p:txBody>
      </p:sp>
      <p:pic>
        <p:nvPicPr>
          <p:cNvPr id="2" name="Content Placeholder 1" descr="A screenshot of a diagram&#10;&#10;Description automatically generated">
            <a:extLst>
              <a:ext uri="{FF2B5EF4-FFF2-40B4-BE49-F238E27FC236}">
                <a16:creationId xmlns:a16="http://schemas.microsoft.com/office/drawing/2014/main" id="{0466E304-596F-E225-303A-E3869AFB50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432" t="16642" r="28894" b="54529"/>
          <a:stretch/>
        </p:blipFill>
        <p:spPr bwMode="auto">
          <a:xfrm>
            <a:off x="7402536" y="1527446"/>
            <a:ext cx="1741464" cy="1422488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3" name="Online Media 2" descr="How Wolves Change Rivers">
            <a:hlinkClick r:id="" action="ppaction://media"/>
            <a:extLst>
              <a:ext uri="{FF2B5EF4-FFF2-40B4-BE49-F238E27FC236}">
                <a16:creationId xmlns:a16="http://schemas.microsoft.com/office/drawing/2014/main" id="{F4AB3517-744C-283B-D0CF-7132FDDFD269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353588" y="1932167"/>
            <a:ext cx="6867674" cy="3880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3292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2AFE37-B5FE-D581-6A76-277EB23BF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FB6DB50-2BA1-A315-B5A1-29BE5E462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Three Animals</a:t>
            </a:r>
          </a:p>
        </p:txBody>
      </p:sp>
      <p:pic>
        <p:nvPicPr>
          <p:cNvPr id="2" name="Content Placeholder 1" descr="A screenshot of a diagram&#10;&#10;Description automatically generated">
            <a:extLst>
              <a:ext uri="{FF2B5EF4-FFF2-40B4-BE49-F238E27FC236}">
                <a16:creationId xmlns:a16="http://schemas.microsoft.com/office/drawing/2014/main" id="{8176584D-6770-415F-90C3-7B3F1C5D2DA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432" t="16642" r="28894" b="54529"/>
          <a:stretch/>
        </p:blipFill>
        <p:spPr bwMode="auto">
          <a:xfrm>
            <a:off x="3040453" y="1483370"/>
            <a:ext cx="3063094" cy="2502042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771B332-038B-31E7-4227-EA3945343E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9737" y="3921252"/>
            <a:ext cx="5724525" cy="27813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5851497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FB09F8-69F8-65B4-4DB3-5D4024EE7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C698973-CDE4-A72E-D357-A5C8E300A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Three Animals</a:t>
            </a:r>
          </a:p>
        </p:txBody>
      </p:sp>
      <p:pic>
        <p:nvPicPr>
          <p:cNvPr id="2" name="Content Placeholder 1" descr="A screenshot of a diagram&#10;&#10;Description automatically generated">
            <a:extLst>
              <a:ext uri="{FF2B5EF4-FFF2-40B4-BE49-F238E27FC236}">
                <a16:creationId xmlns:a16="http://schemas.microsoft.com/office/drawing/2014/main" id="{EA346839-84A3-11A7-55AA-05B316B416A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432" t="16642" r="28894" b="54529"/>
          <a:stretch/>
        </p:blipFill>
        <p:spPr bwMode="auto">
          <a:xfrm>
            <a:off x="7095486" y="0"/>
            <a:ext cx="2048514" cy="1673298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F6DA8B5-B9BC-CAEF-3B01-B403229FBD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9233" y="2688799"/>
            <a:ext cx="5724525" cy="2781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 descr="A diagram of a circle&#10;&#10;Description automatically generated">
            <a:extLst>
              <a:ext uri="{FF2B5EF4-FFF2-40B4-BE49-F238E27FC236}">
                <a16:creationId xmlns:a16="http://schemas.microsoft.com/office/drawing/2014/main" id="{452C5541-D631-FAF8-7B7D-3951966522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27321" y="2643079"/>
            <a:ext cx="3116679" cy="3116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010681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Title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dirty="0"/>
              <a:t>Thank you for Listening</a:t>
            </a:r>
            <a:endParaRPr dirty="0"/>
          </a:p>
        </p:txBody>
      </p:sp>
      <p:pic>
        <p:nvPicPr>
          <p:cNvPr id="411" name="Picture 2" descr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6350" y="1950775"/>
            <a:ext cx="2914650" cy="1914527"/>
          </a:xfrm>
          <a:prstGeom prst="rect">
            <a:avLst/>
          </a:prstGeom>
          <a:ln w="12700">
            <a:miter lim="400000"/>
          </a:ln>
        </p:spPr>
      </p:pic>
      <p:pic>
        <p:nvPicPr>
          <p:cNvPr id="412" name="Picture 4" descr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3" y="1950773"/>
            <a:ext cx="3003799" cy="1960814"/>
          </a:xfrm>
          <a:prstGeom prst="rect">
            <a:avLst/>
          </a:prstGeom>
          <a:ln w="12700">
            <a:miter lim="400000"/>
          </a:ln>
        </p:spPr>
      </p:pic>
      <p:pic>
        <p:nvPicPr>
          <p:cNvPr id="413" name="Picture 6" descr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72075" y="3943350"/>
            <a:ext cx="2743200" cy="20574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050" name="Picture 2" descr="Central Quad Grangegorman Campus / Feilden Clegg Bradley Studios | ArchDaily">
            <a:extLst>
              <a:ext uri="{FF2B5EF4-FFF2-40B4-BE49-F238E27FC236}">
                <a16:creationId xmlns:a16="http://schemas.microsoft.com/office/drawing/2014/main" id="{C4997F36-7E6B-344E-94A1-DFB7CE1068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3002" y="4014451"/>
            <a:ext cx="2941221" cy="19608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01D11653-09CF-479A-B5E6-DA1C8A2A2894}"/>
              </a:ext>
            </a:extLst>
          </p:cNvPr>
          <p:cNvSpPr/>
          <p:nvPr/>
        </p:nvSpPr>
        <p:spPr>
          <a:xfrm>
            <a:off x="1084668" y="1899699"/>
            <a:ext cx="534121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E" sz="1350" dirty="0"/>
              <a:t>TCD</a:t>
            </a:r>
            <a:endParaRPr lang="en-US" sz="13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FF8D2E5-C8BA-4061-8B86-54193F42DFA6}"/>
              </a:ext>
            </a:extLst>
          </p:cNvPr>
          <p:cNvSpPr/>
          <p:nvPr/>
        </p:nvSpPr>
        <p:spPr>
          <a:xfrm>
            <a:off x="1123739" y="3962661"/>
            <a:ext cx="931665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E" sz="1350" dirty="0"/>
              <a:t>TU Dublin</a:t>
            </a:r>
            <a:endParaRPr lang="en-US" sz="135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56D1713-5D9A-4878-A200-0B59DC3E763D}"/>
              </a:ext>
            </a:extLst>
          </p:cNvPr>
          <p:cNvSpPr/>
          <p:nvPr/>
        </p:nvSpPr>
        <p:spPr>
          <a:xfrm>
            <a:off x="5113477" y="3911587"/>
            <a:ext cx="2295244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E" sz="1350" dirty="0"/>
              <a:t>Max Planck Institute Germany</a:t>
            </a:r>
            <a:endParaRPr lang="en-US" sz="135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F4F6C52-2B8B-4C4D-8FCE-12AEF01D7D10}"/>
              </a:ext>
            </a:extLst>
          </p:cNvPr>
          <p:cNvSpPr/>
          <p:nvPr/>
        </p:nvSpPr>
        <p:spPr>
          <a:xfrm>
            <a:off x="5113477" y="1950406"/>
            <a:ext cx="2649700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E" sz="1350" dirty="0"/>
              <a:t>Albert Einstein College of Medicine</a:t>
            </a:r>
            <a:endParaRPr lang="en-US" sz="1350" dirty="0"/>
          </a:p>
        </p:txBody>
      </p:sp>
      <p:pic>
        <p:nvPicPr>
          <p:cNvPr id="3" name="Picture 2" descr="1,000+ Best Wolf Photos · 100% Free Download · Pexels Stock Photos">
            <a:extLst>
              <a:ext uri="{FF2B5EF4-FFF2-40B4-BE49-F238E27FC236}">
                <a16:creationId xmlns:a16="http://schemas.microsoft.com/office/drawing/2014/main" id="{0E96C6CA-9D74-FAC7-C754-2BCF589D43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891" t="23951" r="18587" b="23951"/>
          <a:stretch/>
        </p:blipFill>
        <p:spPr bwMode="auto">
          <a:xfrm>
            <a:off x="92000" y="1494451"/>
            <a:ext cx="8960000" cy="50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1366264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NULL"/></Relationships>
</file>

<file path=ppt/theme/theme1.xml><?xml version="1.0" encoding="utf-8"?>
<a:theme xmlns:a="http://schemas.openxmlformats.org/drawingml/2006/main" name="1_Module">
  <a:themeElements>
    <a:clrScheme name="Grayscal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Latex like">
      <a:majorFont>
        <a:latin typeface="Garamond"/>
        <a:ea typeface=""/>
        <a:cs typeface=""/>
      </a:majorFont>
      <a:minorFont>
        <a:latin typeface="Garamond"/>
        <a:ea typeface=""/>
        <a:cs typeface=""/>
      </a:minorFont>
    </a:fontScheme>
    <a:fmtScheme name="Modul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47500"/>
                <a:satMod val="137000"/>
              </a:schemeClr>
            </a:gs>
            <a:gs pos="55000">
              <a:schemeClr val="phClr">
                <a:shade val="69000"/>
                <a:satMod val="137000"/>
              </a:schemeClr>
            </a:gs>
            <a:gs pos="100000">
              <a:schemeClr val="phClr">
                <a:shade val="98000"/>
                <a:satMod val="137000"/>
              </a:schemeClr>
            </a:gs>
          </a:gsLst>
          <a:lin ang="16200000" scaled="0"/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48000" cap="flat" cmpd="thickThin" algn="ctr">
          <a:solidFill>
            <a:schemeClr val="phClr"/>
          </a:solidFill>
          <a:prstDash val="solid"/>
        </a:ln>
        <a:ln w="48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5000" dist="25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  <a:scene3d>
            <a:camera prst="orthographicFront" fov="0">
              <a:rot lat="0" lon="0" rev="0"/>
            </a:camera>
            <a:lightRig rig="threePt" dir="t">
              <a:rot lat="0" lon="0" rev="1800000"/>
            </a:lightRig>
          </a:scene3d>
          <a:sp3d prstMaterial="matte">
            <a:bevelT h="200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8000"/>
                <a:satMod val="300000"/>
              </a:schemeClr>
            </a:gs>
            <a:gs pos="12000">
              <a:schemeClr val="phClr">
                <a:tint val="48000"/>
                <a:satMod val="300000"/>
              </a:schemeClr>
            </a:gs>
            <a:gs pos="20000">
              <a:schemeClr val="phClr">
                <a:tint val="49000"/>
                <a:satMod val="30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10000" t="-25000" r="10000" b="125000"/>
          </a:path>
        </a:gradFill>
        <a:blipFill>
          <a:blip xmlns:r="http://schemas.openxmlformats.org/officeDocument/2006/relationships" r:embed="rId1">
            <a:duotone>
              <a:schemeClr val="phClr">
                <a:shade val="75000"/>
                <a:satMod val="105000"/>
              </a:schemeClr>
              <a:schemeClr val="phClr">
                <a:tint val="95000"/>
                <a:satMod val="105000"/>
              </a:schemeClr>
            </a:duotone>
          </a:blip>
          <a:tile tx="0" ty="0" sx="38000" sy="38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Grayscale">
    <a:dk1>
      <a:sysClr val="windowText" lastClr="000000"/>
    </a:dk1>
    <a:lt1>
      <a:sysClr val="window" lastClr="FFFFFF"/>
    </a:lt1>
    <a:dk2>
      <a:srgbClr val="000000"/>
    </a:dk2>
    <a:lt2>
      <a:srgbClr val="F8F8F8"/>
    </a:lt2>
    <a:accent1>
      <a:srgbClr val="DDDDDD"/>
    </a:accent1>
    <a:accent2>
      <a:srgbClr val="B2B2B2"/>
    </a:accent2>
    <a:accent3>
      <a:srgbClr val="969696"/>
    </a:accent3>
    <a:accent4>
      <a:srgbClr val="808080"/>
    </a:accent4>
    <a:accent5>
      <a:srgbClr val="5F5F5F"/>
    </a:accent5>
    <a:accent6>
      <a:srgbClr val="4D4D4D"/>
    </a:accent6>
    <a:hlink>
      <a:srgbClr val="5F5F5F"/>
    </a:hlink>
    <a:folHlink>
      <a:srgbClr val="919191"/>
    </a:folHlink>
  </a:clrScheme>
</a:themeOverride>
</file>

<file path=ppt/theme/themeOverride2.xml><?xml version="1.0" encoding="utf-8"?>
<a:themeOverride xmlns:a="http://schemas.openxmlformats.org/drawingml/2006/main">
  <a:clrScheme name="Grayscale">
    <a:dk1>
      <a:sysClr val="windowText" lastClr="000000"/>
    </a:dk1>
    <a:lt1>
      <a:sysClr val="window" lastClr="FFFFFF"/>
    </a:lt1>
    <a:dk2>
      <a:srgbClr val="000000"/>
    </a:dk2>
    <a:lt2>
      <a:srgbClr val="F8F8F8"/>
    </a:lt2>
    <a:accent1>
      <a:srgbClr val="DDDDDD"/>
    </a:accent1>
    <a:accent2>
      <a:srgbClr val="B2B2B2"/>
    </a:accent2>
    <a:accent3>
      <a:srgbClr val="969696"/>
    </a:accent3>
    <a:accent4>
      <a:srgbClr val="808080"/>
    </a:accent4>
    <a:accent5>
      <a:srgbClr val="5F5F5F"/>
    </a:accent5>
    <a:accent6>
      <a:srgbClr val="4D4D4D"/>
    </a:accent6>
    <a:hlink>
      <a:srgbClr val="5F5F5F"/>
    </a:hlink>
    <a:folHlink>
      <a:srgbClr val="919191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17046</TotalTime>
  <Words>788</Words>
  <Application>Microsoft Macintosh PowerPoint</Application>
  <PresentationFormat>On-screen Show (4:3)</PresentationFormat>
  <Paragraphs>312</Paragraphs>
  <Slides>50</Slides>
  <Notes>0</Notes>
  <HiddenSlides>0</HiddenSlides>
  <MMClips>3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8" baseType="lpstr">
      <vt:lpstr>Aptos</vt:lpstr>
      <vt:lpstr>Arial</vt:lpstr>
      <vt:lpstr>Calibri</vt:lpstr>
      <vt:lpstr>Garamond</vt:lpstr>
      <vt:lpstr>Helvetica</vt:lpstr>
      <vt:lpstr>Helvetica Light</vt:lpstr>
      <vt:lpstr>Wingdings 2</vt:lpstr>
      <vt:lpstr>1_Module</vt:lpstr>
      <vt:lpstr>The Maths of Predators  and Preys Don’t get Eaten by the Wolf</vt:lpstr>
      <vt:lpstr>PowerPoint Presentation</vt:lpstr>
      <vt:lpstr>Predator Prey</vt:lpstr>
      <vt:lpstr>Prey Hares</vt:lpstr>
      <vt:lpstr>Predator</vt:lpstr>
      <vt:lpstr>Predator and Prey</vt:lpstr>
      <vt:lpstr>Predator and Prey</vt:lpstr>
      <vt:lpstr>Mathematics</vt:lpstr>
      <vt:lpstr>Hares</vt:lpstr>
      <vt:lpstr>Hares</vt:lpstr>
      <vt:lpstr>Hares</vt:lpstr>
      <vt:lpstr>Hares</vt:lpstr>
      <vt:lpstr>Hares</vt:lpstr>
      <vt:lpstr>Hares</vt:lpstr>
      <vt:lpstr>Hares</vt:lpstr>
      <vt:lpstr>Hares</vt:lpstr>
      <vt:lpstr>Hare Population</vt:lpstr>
      <vt:lpstr>Lynx</vt:lpstr>
      <vt:lpstr>Lynx</vt:lpstr>
      <vt:lpstr>Lynx</vt:lpstr>
      <vt:lpstr>Lynx</vt:lpstr>
      <vt:lpstr>Lynx</vt:lpstr>
      <vt:lpstr>Lynx</vt:lpstr>
      <vt:lpstr>Lynx</vt:lpstr>
      <vt:lpstr>Lynx</vt:lpstr>
      <vt:lpstr>Lynx</vt:lpstr>
      <vt:lpstr>Lynx</vt:lpstr>
      <vt:lpstr>Predator and Prey</vt:lpstr>
      <vt:lpstr>Predator and Prey</vt:lpstr>
      <vt:lpstr>Predator and Prey</vt:lpstr>
      <vt:lpstr>Predator and Prey</vt:lpstr>
      <vt:lpstr>Predator and Prey</vt:lpstr>
      <vt:lpstr>Predator and Prey</vt:lpstr>
      <vt:lpstr>Predator and Prey</vt:lpstr>
      <vt:lpstr>Predator and Prey</vt:lpstr>
      <vt:lpstr>Predator and Prey</vt:lpstr>
      <vt:lpstr>Predator and Prey</vt:lpstr>
      <vt:lpstr>Predator and Prey</vt:lpstr>
      <vt:lpstr>Predator and Prey</vt:lpstr>
      <vt:lpstr>Predator and Prey</vt:lpstr>
      <vt:lpstr>Predator and Prey</vt:lpstr>
      <vt:lpstr>Predator and Prey</vt:lpstr>
      <vt:lpstr>Predator and Prey</vt:lpstr>
      <vt:lpstr>Predator Prey</vt:lpstr>
      <vt:lpstr>Three Animals</vt:lpstr>
      <vt:lpstr>Three Animals</vt:lpstr>
      <vt:lpstr>Three Animals</vt:lpstr>
      <vt:lpstr>Three Animals</vt:lpstr>
      <vt:lpstr>Three Animals</vt:lpstr>
      <vt:lpstr>Thank you for Listening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to Study Walking</dc:title>
  <dc:creator>John Butler</dc:creator>
  <cp:lastModifiedBy>John Butler</cp:lastModifiedBy>
  <cp:revision>45</cp:revision>
  <dcterms:created xsi:type="dcterms:W3CDTF">2023-05-03T09:30:47Z</dcterms:created>
  <dcterms:modified xsi:type="dcterms:W3CDTF">2025-10-15T15:41:50Z</dcterms:modified>
</cp:coreProperties>
</file>