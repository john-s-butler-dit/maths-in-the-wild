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70"/>
  </p:notesMasterIdLst>
  <p:sldIdLst>
    <p:sldId id="279" r:id="rId2"/>
    <p:sldId id="791" r:id="rId3"/>
    <p:sldId id="766" r:id="rId4"/>
    <p:sldId id="753" r:id="rId5"/>
    <p:sldId id="768" r:id="rId6"/>
    <p:sldId id="789" r:id="rId7"/>
    <p:sldId id="827" r:id="rId8"/>
    <p:sldId id="798" r:id="rId9"/>
    <p:sldId id="773" r:id="rId10"/>
    <p:sldId id="817" r:id="rId11"/>
    <p:sldId id="816" r:id="rId12"/>
    <p:sldId id="757" r:id="rId13"/>
    <p:sldId id="815" r:id="rId14"/>
    <p:sldId id="829" r:id="rId15"/>
    <p:sldId id="774" r:id="rId16"/>
    <p:sldId id="775" r:id="rId17"/>
    <p:sldId id="799" r:id="rId18"/>
    <p:sldId id="800" r:id="rId19"/>
    <p:sldId id="776" r:id="rId20"/>
    <p:sldId id="801" r:id="rId21"/>
    <p:sldId id="770" r:id="rId22"/>
    <p:sldId id="935" r:id="rId23"/>
    <p:sldId id="936" r:id="rId24"/>
    <p:sldId id="777" r:id="rId25"/>
    <p:sldId id="778" r:id="rId26"/>
    <p:sldId id="792" r:id="rId27"/>
    <p:sldId id="802" r:id="rId28"/>
    <p:sldId id="803" r:id="rId29"/>
    <p:sldId id="804" r:id="rId30"/>
    <p:sldId id="780" r:id="rId31"/>
    <p:sldId id="805" r:id="rId32"/>
    <p:sldId id="760" r:id="rId33"/>
    <p:sldId id="781" r:id="rId34"/>
    <p:sldId id="868" r:id="rId35"/>
    <p:sldId id="869" r:id="rId36"/>
    <p:sldId id="872" r:id="rId37"/>
    <p:sldId id="873" r:id="rId38"/>
    <p:sldId id="839" r:id="rId39"/>
    <p:sldId id="880" r:id="rId40"/>
    <p:sldId id="808" r:id="rId41"/>
    <p:sldId id="756" r:id="rId42"/>
    <p:sldId id="797" r:id="rId43"/>
    <p:sldId id="769" r:id="rId44"/>
    <p:sldId id="783" r:id="rId45"/>
    <p:sldId id="806" r:id="rId46"/>
    <p:sldId id="807" r:id="rId47"/>
    <p:sldId id="784" r:id="rId48"/>
    <p:sldId id="787" r:id="rId49"/>
    <p:sldId id="786" r:id="rId50"/>
    <p:sldId id="785" r:id="rId51"/>
    <p:sldId id="751" r:id="rId52"/>
    <p:sldId id="761" r:id="rId53"/>
    <p:sldId id="752" r:id="rId54"/>
    <p:sldId id="767" r:id="rId55"/>
    <p:sldId id="883" r:id="rId56"/>
    <p:sldId id="923" r:id="rId57"/>
    <p:sldId id="916" r:id="rId58"/>
    <p:sldId id="917" r:id="rId59"/>
    <p:sldId id="919" r:id="rId60"/>
    <p:sldId id="928" r:id="rId61"/>
    <p:sldId id="918" r:id="rId62"/>
    <p:sldId id="937" r:id="rId63"/>
    <p:sldId id="938" r:id="rId64"/>
    <p:sldId id="794" r:id="rId65"/>
    <p:sldId id="790" r:id="rId66"/>
    <p:sldId id="932" r:id="rId67"/>
    <p:sldId id="934" r:id="rId68"/>
    <p:sldId id="625" r:id="rId6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070"/>
    <a:srgbClr val="E9E9E9"/>
    <a:srgbClr val="0BBB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1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14.4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33 24575,'4'3'0,"1"-2"0,-1 0 0,0-2 0,0 0 0,-2-2 0,0-2 0,-1-1 0,1-1 0,-1 5 0,1 5 0,-1 4 0,-1 0 0,0-3 0,0-4 0,1-1 0,2-1 0,0 3 0,0 0 0,-2-1 0,0 1 0,2-2 0,1-2 0,0 1 0,-1 5 0,-3 4 0,0 2 0,-1-2 0,-1-8 0,2-9 0,1-3 0,0 1 0,1 11 0,-1 10 0,-2 6 0,-1-4 0,0-8 0,1-6 0,0-3 0,-2 3 0,-2 1 0,-1 1 0,2-2 0,1-4 0,1 0 0,0 0 0,-1 7 0,-1 3 0,0 2 0,0-1 0,3-4 0,1-1 0,1 4 0,0 5 0,1 1 0,0-2 0,2-5 0,0-5 0,0-1 0,0 1 0,-2 3 0,0 3 0,-1 1 0,3-1 0,1-2 0,-1-6 0,-2-8 0,-2 0 0,1-2 0,0 7 0,0 6 0,1 4 0,-1 6 0,-1 2 0,-1-2 0,-1-1 0,0 0 0,-1-1 0,-1 1 0,0-1 0,0-3 0,-1-1 0,1-4 0,2-6 0,0-3 0,2 1 0,0 8 0,0 8 0,0 5 0,0 2 0,0-4 0,0-9 0,0-4 0,1-9 0,2 1 0,1 4 0,0 5 0,-1 3 0,-1 1 0,-2-2 0,0 0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14.4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33 24575,'4'3'0,"1"-2"0,-1 0 0,0-2 0,0 0 0,-2-2 0,0-2 0,-1-1 0,1-1 0,-1 5 0,1 5 0,-1 4 0,-1 0 0,0-3 0,0-4 0,1-1 0,2-1 0,0 3 0,0 0 0,-2-1 0,0 1 0,2-2 0,1-2 0,0 1 0,-1 5 0,-3 4 0,0 2 0,-1-2 0,-1-8 0,2-9 0,1-3 0,0 1 0,1 11 0,-1 10 0,-2 6 0,-1-4 0,0-8 0,1-6 0,0-3 0,-2 3 0,-2 1 0,-1 1 0,2-2 0,1-4 0,1 0 0,0 0 0,-1 7 0,-1 3 0,0 2 0,0-1 0,3-4 0,1-1 0,1 4 0,0 5 0,1 1 0,0-2 0,2-5 0,0-5 0,0-1 0,0 1 0,-2 3 0,0 3 0,-1 1 0,3-1 0,1-2 0,-1-6 0,-2-8 0,-2 0 0,1-2 0,0 7 0,0 6 0,1 4 0,-1 6 0,-1 2 0,-1-2 0,-1-1 0,0 0 0,-1-1 0,-1 1 0,0-1 0,0-3 0,-1-1 0,1-4 0,2-6 0,0-3 0,2 1 0,0 8 0,0 8 0,0 5 0,0 2 0,0-4 0,0-9 0,0-4 0,1-9 0,2 1 0,1 4 0,0 5 0,-1 3 0,-1 1 0,-2-2 0,0 0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39.29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29.52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126 80 24575,'4'0'0,"-7"0"0,-1 0 0,-4 0 0,2 0 0,1-1 0,2-1 0,1-2 0,3 0 0,2 1 0,2 1 0,0 2 0,-1 2 0,-1 1 0,0 1 0,2 0 0,-3-2 0,-3 2 0,-4 1 0,-2 2 0,1 2 0,3-4 0,2-1 0,1-2 0,2-10 0,1 1 0,1-3 0,1 5 0,-1 3 0,0 2 0,0 2 0,-3 3 0,0 2 0,-1-3 0,1-6 0,4-7 0,0-1 0,1 5 0,-2 12 0,-7 7 0,-2 2 0,-4-2 0,2-9 0,4-13 0,3-13 0,5-4 0,4 2 0,1 13 0,-3 15 0,-4 14 0,-6 8 0,-3 0 0,-2-5 0,3-10 0,3-10 0,2-8 0,0-7 0,0-3 0,0 3 0,0 7 0,0 10 0,0 2 0,0 3 0,0-5 0,1-9 0,2-7 0,2-4 0,0 6 0,-2 10 0,-3 8 0,-3 2 0,-2-4 0,0-4 0,3-6 0,1-3 0,2 4 0,1 2 0,-1-2 0,0-3 0,0-5 0,-1-5 0,0 2 0,0 5 0,0 6 0,0 14 0,-3 5 0,-3 1 0,-1-4 0,1-12 0,3-8 0,4-7 0,2-1 0,3 5 0,1 3 0,0 6 0,-3 5 0,-2 4 0,-2 3 0,0 1 0,0-2 0,1-2 0,1-5 0,1 0 0,0 0 0,-2 1 0,0 2 0,-1-2 0,0 1 0,0 0 0,-2 2 0,-4 1 0,-4 1 0,-2-1 0,-2-3 0,-1-2 0,-3-2 0,-3-1 0,-1-2 0,2-7 0,6-9 0,7-5 0,8-3 0,12 2 0,13 2 0,11 3 0,2 7 0,-8 6 0,-15 4 0,-8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34.77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14.4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33 24575,'4'3'0,"1"-2"0,-1 0 0,0-2 0,0 0 0,-2-2 0,0-2 0,-1-1 0,1-1 0,-1 5 0,1 5 0,-1 4 0,-1 0 0,0-3 0,0-4 0,1-1 0,2-1 0,0 3 0,0 0 0,-2-1 0,0 1 0,2-2 0,1-2 0,0 1 0,-1 5 0,-3 4 0,0 2 0,-1-2 0,-1-8 0,2-9 0,1-3 0,0 1 0,1 11 0,-1 10 0,-2 6 0,-1-4 0,0-8 0,1-6 0,0-3 0,-2 3 0,-2 1 0,-1 1 0,2-2 0,1-4 0,1 0 0,0 0 0,-1 7 0,-1 3 0,0 2 0,0-1 0,3-4 0,1-1 0,1 4 0,0 5 0,1 1 0,0-2 0,2-5 0,0-5 0,0-1 0,0 1 0,-2 3 0,0 3 0,-1 1 0,3-1 0,1-2 0,-1-6 0,-2-8 0,-2 0 0,1-2 0,0 7 0,0 6 0,1 4 0,-1 6 0,-1 2 0,-1-2 0,-1-1 0,0 0 0,-1-1 0,-1 1 0,0-1 0,0-3 0,-1-1 0,1-4 0,2-6 0,0-3 0,2 1 0,0 8 0,0 8 0,0 5 0,0 2 0,0-4 0,0-9 0,0-4 0,1-9 0,2 1 0,1 4 0,0 5 0,-1 3 0,-1 1 0,-2-2 0,0 0 0,0-2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39.29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29.52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126 80 24575,'4'0'0,"-7"0"0,-1 0 0,-4 0 0,2 0 0,1-1 0,2-1 0,1-2 0,3 0 0,2 1 0,2 1 0,0 2 0,-1 2 0,-1 1 0,0 1 0,2 0 0,-3-2 0,-3 2 0,-4 1 0,-2 2 0,1 2 0,3-4 0,2-1 0,1-2 0,2-10 0,1 1 0,1-3 0,1 5 0,-1 3 0,0 2 0,0 2 0,-3 3 0,0 2 0,-1-3 0,1-6 0,4-7 0,0-1 0,1 5 0,-2 12 0,-7 7 0,-2 2 0,-4-2 0,2-9 0,4-13 0,3-13 0,5-4 0,4 2 0,1 13 0,-3 15 0,-4 14 0,-6 8 0,-3 0 0,-2-5 0,3-10 0,3-10 0,2-8 0,0-7 0,0-3 0,0 3 0,0 7 0,0 10 0,0 2 0,0 3 0,0-5 0,1-9 0,2-7 0,2-4 0,0 6 0,-2 10 0,-3 8 0,-3 2 0,-2-4 0,0-4 0,3-6 0,1-3 0,2 4 0,1 2 0,-1-2 0,0-3 0,0-5 0,-1-5 0,0 2 0,0 5 0,0 6 0,0 14 0,-3 5 0,-3 1 0,-1-4 0,1-12 0,3-8 0,4-7 0,2-1 0,3 5 0,1 3 0,0 6 0,-3 5 0,-2 4 0,-2 3 0,0 1 0,0-2 0,1-2 0,1-5 0,1 0 0,0 0 0,-2 1 0,0 2 0,-1-2 0,0 1 0,0 0 0,-2 2 0,-4 1 0,-4 1 0,-2-1 0,-2-3 0,-1-2 0,-3-2 0,-3-1 0,-1-2 0,2-7 0,6-9 0,7-5 0,8-3 0,12 2 0,13 2 0,11 3 0,2 7 0,-8 6 0,-15 4 0,-8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34.77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8:54.391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1 1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8:54.391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1 1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9:03.682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0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8:54.391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1 1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9:03.682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0 0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0:17.294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2F38-1ED5-4244-B688-1F27C5C01D9D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5EBBE-B1F3-854A-A13B-B4DE1AE4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8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4"/>
            <a:ext cx="9144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b="0" i="0">
              <a:latin typeface="Helvetica Light" panose="020B04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b="0" i="0">
              <a:latin typeface="Helvetica Light" panose="020B04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tIns="0" bIns="0" anchor="t"/>
          <a:lstStyle>
            <a:lvl1pPr algn="l">
              <a:defRPr sz="3525" b="0" i="0">
                <a:latin typeface="Helvetica Light" panose="020B0403020202020204" pitchFamily="34" charset="0"/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1500" b="0" i="0">
                <a:solidFill>
                  <a:srgbClr val="FFFFFF"/>
                </a:solidFill>
                <a:latin typeface="Helvetica Light" panose="020B0403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Helvetica Light" panose="020B0403020202020204" pitchFamily="34" charset="0"/>
              </a:defRPr>
            </a:lvl1pPr>
          </a:lstStyle>
          <a:p>
            <a:pPr>
              <a:defRPr/>
            </a:pPr>
            <a:fld id="{111639CF-DE20-4518-8A99-847C9DE3081F}" type="datetimeFigureOut">
              <a:rPr lang="en-US" smtClean="0"/>
              <a:pPr>
                <a:defRPr/>
              </a:pPr>
              <a:t>2/9/26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Helvetica Light" panose="020B0403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FFFFFF"/>
                </a:solidFill>
                <a:latin typeface="Helvetica Light" panose="020B0403020202020204" pitchFamily="34" charset="0"/>
              </a:defRPr>
            </a:lvl1pPr>
          </a:lstStyle>
          <a:p>
            <a:fld id="{3E095A03-FA64-438A-9B3E-B4710C61F5A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Object 3" descr="Object 3">
            <a:extLst>
              <a:ext uri="{FF2B5EF4-FFF2-40B4-BE49-F238E27FC236}">
                <a16:creationId xmlns:a16="http://schemas.microsoft.com/office/drawing/2014/main" id="{86D202F8-C26E-6146-9111-1652ECB669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401" y="38100"/>
            <a:ext cx="1524001" cy="96022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68072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28613" indent="-239316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1pPr>
            <a:lvl2pPr marL="547688" indent="-204788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2pPr>
            <a:lvl3pPr marL="746522" indent="-171450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3pPr>
            <a:lvl4pPr marL="912019" indent="-136922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4pPr>
            <a:lvl5pPr marL="1069181" indent="-136922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9CEE18-2F86-4815-AA4C-28B1810BE92C}" type="datetimeFigureOut">
              <a:rPr lang="en-US"/>
              <a:pPr>
                <a:defRPr/>
              </a:pPr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BFC629-3DA3-475E-B422-0A5F778C0E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1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4"/>
            <a:ext cx="9144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 bwMode="invGray">
          <a:xfrm>
            <a:off x="0" y="2601917"/>
            <a:ext cx="9144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tIns="0" rIns="91440" bIns="0" anchor="b"/>
          <a:lstStyle>
            <a:lvl1pPr algn="l">
              <a:defRPr sz="3525" b="0" cap="none" baseline="0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/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950E7-F59D-41FD-9C77-77B3EEF34172}" type="datetimeFigureOut">
              <a:rPr lang="en-US"/>
              <a:pPr>
                <a:defRPr/>
              </a:pPr>
              <a:t>2/9/26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BA8E74-7F46-4E54-834F-5AD8A517EE9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4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  <a:extLst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EED0A-4507-4F25-BB04-A41183D340F9}" type="datetimeFigureOut">
              <a:rPr lang="en-US"/>
              <a:pPr>
                <a:defRPr/>
              </a:pPr>
              <a:t>2/9/26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C4F5B8-DA3A-40A8-B45D-D218A722FD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94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90"/>
            <a:ext cx="4040188" cy="715355"/>
          </a:xfrm>
        </p:spPr>
        <p:txBody>
          <a:bodyPr lIns="146304" anchor="ctr"/>
          <a:lstStyle>
            <a:lvl1pPr marL="0" indent="0">
              <a:buNone/>
              <a:defRPr sz="1725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698990"/>
            <a:ext cx="4041775" cy="715355"/>
          </a:xfrm>
        </p:spPr>
        <p:txBody>
          <a:bodyPr lIns="146304" anchor="ctr"/>
          <a:lstStyle>
            <a:lvl1pPr marL="0" indent="0">
              <a:buNone/>
              <a:defRPr sz="1725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449512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DEEF8-C16D-4C0A-9E75-01A0CEAC4EFB}" type="datetimeFigureOut">
              <a:rPr lang="en-US"/>
              <a:pPr>
                <a:defRPr/>
              </a:pPr>
              <a:t>2/9/26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E9D9F7-0101-4300-9393-E641A85FCD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7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44240-E3BE-458E-ABDC-A00C9B3E1378}" type="datetimeFigureOut">
              <a:rPr lang="en-US"/>
              <a:pPr>
                <a:defRPr/>
              </a:pPr>
              <a:t>2/9/26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70842C-DBE2-4E48-A1B4-D69335A401F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13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E4417-5758-421B-9142-970B40155EC6}" type="datetimeFigureOut">
              <a:rPr lang="en-US"/>
              <a:pPr>
                <a:defRPr/>
              </a:pPr>
              <a:t>2/9/26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207BA0-B3BC-4585-B1DE-CB662C282A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1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2855915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Rectangle 5"/>
          <p:cNvSpPr/>
          <p:nvPr/>
        </p:nvSpPr>
        <p:spPr bwMode="invGray">
          <a:xfrm>
            <a:off x="2855915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lIns="73152" bIns="0" anchor="b">
            <a:sp3d prstMaterial="matte"/>
          </a:bodyPr>
          <a:lstStyle>
            <a:lvl1pPr algn="l">
              <a:defRPr sz="15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9" y="1743134"/>
            <a:ext cx="5920641" cy="455888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29A34-0849-491B-94BF-57C5E21AB71A}" type="datetimeFigureOut">
              <a:rPr lang="en-US"/>
              <a:pPr>
                <a:defRPr/>
              </a:pPr>
              <a:t>2/9/26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A4D00-15C5-4A4E-B632-DCE5D54E1D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8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55915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Rectangle 5"/>
          <p:cNvSpPr/>
          <p:nvPr/>
        </p:nvSpPr>
        <p:spPr bwMode="invGray">
          <a:xfrm>
            <a:off x="2855915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3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15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7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1169988"/>
            <a:ext cx="2522538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5DD43-4D9F-4959-92A0-B733AD070C20}" type="datetimeFigureOut">
              <a:rPr lang="en-US"/>
              <a:pPr>
                <a:defRPr/>
              </a:pPr>
              <a:t>2/9/26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301" y="1169988"/>
            <a:ext cx="5194300" cy="2016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138" y="1169988"/>
            <a:ext cx="733425" cy="201612"/>
          </a:xfrm>
        </p:spPr>
        <p:txBody>
          <a:bodyPr/>
          <a:lstStyle>
            <a:lvl1pPr>
              <a:defRPr/>
            </a:lvl1pPr>
          </a:lstStyle>
          <a:p>
            <a:fld id="{276ED41C-B129-425F-9ED4-6D4C3D3130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701619-D700-4C71-8868-C5E78449190E}" type="datetimeFigureOut">
              <a:rPr lang="en-US"/>
              <a:pPr>
                <a:defRPr/>
              </a:pPr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76A59-2CEB-4E46-ACDC-456609F431E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6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6599240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 bwMode="ltGray">
          <a:xfrm>
            <a:off x="6648450" y="0"/>
            <a:ext cx="25146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4"/>
            <a:ext cx="19050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680D3-2722-408D-B66D-B6CE8EC46D2F}" type="datetimeFigureOut">
              <a:rPr lang="en-US"/>
              <a:pPr>
                <a:defRPr/>
              </a:pPr>
              <a:t>2/9/26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5" y="6376992"/>
            <a:ext cx="38369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A45D71-EED7-4F0B-940C-FDD304D931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52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468313" y="547690"/>
            <a:ext cx="8496301" cy="108108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68313" y="1700215"/>
            <a:ext cx="4038601" cy="410527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82686" y="6586220"/>
            <a:ext cx="155576" cy="165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04156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98990"/>
            <a:ext cx="4040188" cy="715356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2300" b="1" cap="all"/>
            </a:lvl1pPr>
            <a:lvl2pPr marL="0" indent="457200">
              <a:buClrTx/>
              <a:buSzTx/>
              <a:buNone/>
              <a:defRPr sz="2300" b="1" cap="all"/>
            </a:lvl2pPr>
            <a:lvl3pPr marL="0" indent="914400">
              <a:buClrTx/>
              <a:buSzTx/>
              <a:buNone/>
              <a:defRPr sz="2300" b="1" cap="all"/>
            </a:lvl3pPr>
            <a:lvl4pPr marL="0" indent="1371600">
              <a:buClrTx/>
              <a:buSzTx/>
              <a:buNone/>
              <a:defRPr sz="2300" b="1" cap="all"/>
            </a:lvl4pPr>
            <a:lvl5pPr marL="0" indent="1828800">
              <a:buClrTx/>
              <a:buSzTx/>
              <a:buNone/>
              <a:defRPr sz="2300" b="1" cap="all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9" y="1698990"/>
            <a:ext cx="4041776" cy="715356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2300" b="1" cap="all"/>
            </a:lvl1pPr>
          </a:lstStyle>
          <a:p>
            <a:pPr marL="0" indent="0">
              <a:buClrTx/>
              <a:buSzTx/>
              <a:buNone/>
              <a:defRPr sz="2300" b="1" cap="all"/>
            </a:pPr>
            <a:endParaRPr/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740464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1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547690"/>
            <a:ext cx="8496300" cy="108108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8313" y="1700215"/>
            <a:ext cx="4038600" cy="41052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59313" y="1700215"/>
            <a:ext cx="4038600" cy="1976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59313" y="3829050"/>
            <a:ext cx="4038600" cy="1976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04397" y="6476999"/>
            <a:ext cx="733864" cy="27432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013AA-615C-4E61-8035-811E7FE68EA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640597" y="6476999"/>
            <a:ext cx="5507719" cy="27432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75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6688"/>
            <a:ext cx="9144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Rectangle 6"/>
          <p:cNvSpPr/>
          <p:nvPr/>
        </p:nvSpPr>
        <p:spPr bwMode="ltGray">
          <a:xfrm>
            <a:off x="0" y="4"/>
            <a:ext cx="9144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74825"/>
            <a:ext cx="8229600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E640C10F-0C3D-41AE-AFAF-A738F58C9068}" type="datetimeFigureOut">
              <a:rPr lang="en-US"/>
              <a:pPr>
                <a:defRPr/>
              </a:pPr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015" y="6477000"/>
            <a:ext cx="5508625" cy="274638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201" y="6477000"/>
            <a:ext cx="733425" cy="274638"/>
          </a:xfrm>
          <a:prstGeom prst="rect">
            <a:avLst/>
          </a:prstGeom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3F3F3F"/>
                </a:solidFill>
                <a:latin typeface="Garamond" panose="02020404030301010803" pitchFamily="18" charset="0"/>
              </a:defRPr>
            </a:lvl1pPr>
          </a:lstStyle>
          <a:p>
            <a:fld id="{256C581C-F1CE-4791-99FB-EA92AFBA400F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9" name="Object 3" descr="Object 3">
            <a:extLst>
              <a:ext uri="{FF2B5EF4-FFF2-40B4-BE49-F238E27FC236}">
                <a16:creationId xmlns:a16="http://schemas.microsoft.com/office/drawing/2014/main" id="{4DEEEED9-23A5-D54C-AD54-286D29959C6E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" y="6125312"/>
            <a:ext cx="1162878" cy="73268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474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375" b="0" kern="1200">
          <a:solidFill>
            <a:srgbClr val="DDDDDD"/>
          </a:solidFill>
          <a:latin typeface="Helvetica" pitchFamily="2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9pPr>
      <a:extLst/>
    </p:titleStyle>
    <p:bodyStyle>
      <a:lvl1pPr marL="328613" indent="-239316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8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1pPr>
      <a:lvl2pPr marL="547688" indent="-2047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2pPr>
      <a:lvl3pPr marL="746522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3pPr>
      <a:lvl4pPr marL="912019" indent="-136922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4pPr>
      <a:lvl5pPr marL="1069181" indent="-136922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lang="en-US" sz="15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5pPr>
      <a:lvl6pPr marL="1220724" indent="-13716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1522476" indent="-13716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1673352" indent="-13716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customXml" Target="../ink/ink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customXml" Target="../ink/ink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customXml" Target="../ink/ink7.xml"/><Relationship Id="rId12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customXml" Target="../ink/ink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0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customXml" Target="../ink/ink1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1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9.png"/><Relationship Id="rId7" Type="http://schemas.openxmlformats.org/officeDocument/2006/relationships/customXml" Target="../ink/ink1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3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microsoft.com/office/2007/relationships/hdphoto" Target="../media/hdphoto1.wdp"/><Relationship Id="rId4" Type="http://schemas.openxmlformats.org/officeDocument/2006/relationships/image" Target="../media/image24.png"/><Relationship Id="rId9" Type="http://schemas.openxmlformats.org/officeDocument/2006/relationships/image" Target="../media/image20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5.xml"/><Relationship Id="rId5" Type="http://schemas.openxmlformats.org/officeDocument/2006/relationships/image" Target="../media/image34.png"/><Relationship Id="rId4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ysa5OBhXz-Q?feature=oembed" TargetMode="External"/><Relationship Id="rId1" Type="http://schemas.openxmlformats.org/officeDocument/2006/relationships/tags" Target="../tags/tag6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FE18-F19C-1D49-BB16-F0C4CB59F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0132" y="3429000"/>
            <a:ext cx="9728200" cy="477843"/>
          </a:xfrm>
        </p:spPr>
        <p:txBody>
          <a:bodyPr vert="horz" lIns="68580" tIns="34290" rIns="68580" bIns="34290" rtlCol="0" anchor="ctr">
            <a:no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The Maths of Predators 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and Preys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Don’t get Eaten by the Wolf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3F27-89E2-C645-B0AC-D3A85B9A9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8531" y="5341215"/>
            <a:ext cx="7006939" cy="1319049"/>
          </a:xfrm>
        </p:spPr>
        <p:txBody>
          <a:bodyPr vert="horz" wrap="square" lIns="68580" tIns="34290" rIns="68580" bIns="3429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b="1" dirty="0"/>
              <a:t>Dr John Butler</a:t>
            </a:r>
            <a:br>
              <a:rPr lang="en-US" sz="1800" dirty="0"/>
            </a:br>
            <a:r>
              <a:rPr lang="en-US" sz="1800" dirty="0"/>
              <a:t>TU Dublin (Lecturer in Mathematics and Statistics)</a:t>
            </a:r>
          </a:p>
        </p:txBody>
      </p:sp>
      <p:pic>
        <p:nvPicPr>
          <p:cNvPr id="4" name="badges Maths in the Wild-5">
            <a:hlinkClick r:id="" action="ppaction://media"/>
            <a:extLst>
              <a:ext uri="{FF2B5EF4-FFF2-40B4-BE49-F238E27FC236}">
                <a16:creationId xmlns:a16="http://schemas.microsoft.com/office/drawing/2014/main" id="{726E7F68-8AAD-2036-7EDD-C1E4B1A6F734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 rotWithShape="1">
          <a:blip r:embed="rId5"/>
          <a:srcRect l="14202" t="13167" r="14207" b="15242"/>
          <a:stretch>
            <a:fillRect/>
          </a:stretch>
        </p:blipFill>
        <p:spPr>
          <a:xfrm>
            <a:off x="3241589" y="65928"/>
            <a:ext cx="2660823" cy="2660823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28395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AA9F-142D-B6C1-0D5D-0FB58A1A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E9E8C-A333-0BFD-9E11-49302257A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 descr="A cartoon of a child pointing at a window&#10;&#10;Description automatically generated">
            <a:extLst>
              <a:ext uri="{FF2B5EF4-FFF2-40B4-BE49-F238E27FC236}">
                <a16:creationId xmlns:a16="http://schemas.microsoft.com/office/drawing/2014/main" id="{2079A022-8852-B596-972B-300B8FAC4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913"/>
          <a:stretch/>
        </p:blipFill>
        <p:spPr>
          <a:xfrm>
            <a:off x="390053" y="0"/>
            <a:ext cx="8332532" cy="68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5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6759-B149-0788-D612-205D38BA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46425-DD43-6EF1-4A49-48080C2C2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Hares and Lynx</a:t>
            </a:r>
          </a:p>
        </p:txBody>
      </p:sp>
      <p:pic>
        <p:nvPicPr>
          <p:cNvPr id="4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3D292AEE-27F0-D072-5DE2-E2DDB6E126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87" t="39961" b="2047"/>
          <a:stretch/>
        </p:blipFill>
        <p:spPr bwMode="auto">
          <a:xfrm flipH="1">
            <a:off x="5267745" y="3252924"/>
            <a:ext cx="2880000" cy="2880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C28B1D49-E754-8FAC-66EB-BBA4C6EB51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10" t="3656" r="1669" b="50000"/>
          <a:stretch/>
        </p:blipFill>
        <p:spPr bwMode="auto">
          <a:xfrm>
            <a:off x="995908" y="3252924"/>
            <a:ext cx="2880000" cy="2880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12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57F8-4A03-ED75-7A24-56D02CA21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Prey Hares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D365144F-FB40-5B89-35D5-96C5BFD17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32"/>
          <a:stretch/>
        </p:blipFill>
        <p:spPr>
          <a:xfrm>
            <a:off x="782430" y="2901829"/>
            <a:ext cx="7797800" cy="2340045"/>
          </a:xfrm>
        </p:spPr>
      </p:pic>
    </p:spTree>
    <p:extLst>
      <p:ext uri="{BB962C8B-B14F-4D97-AF65-F5344CB8AC3E}">
        <p14:creationId xmlns:p14="http://schemas.microsoft.com/office/powerpoint/2010/main" val="367798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DE13-1922-4A46-A515-0EFE4AF6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46BBF-8F2C-52D9-987E-CCE90333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E433C73E-0EFD-2F56-A34F-30E7EDB61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31"/>
          <a:stretch/>
        </p:blipFill>
        <p:spPr>
          <a:xfrm>
            <a:off x="673100" y="2484783"/>
            <a:ext cx="7797800" cy="2226434"/>
          </a:xfrm>
        </p:spPr>
      </p:pic>
    </p:spTree>
    <p:extLst>
      <p:ext uri="{BB962C8B-B14F-4D97-AF65-F5344CB8AC3E}">
        <p14:creationId xmlns:p14="http://schemas.microsoft.com/office/powerpoint/2010/main" val="509603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800D-44C3-2C9B-B483-F536BCEE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AA71-7A48-09C6-7494-4078DF23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2BDAD3E4-E7FA-48F0-38CB-8CB2D1985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6"/>
          <a:stretch/>
        </p:blipFill>
        <p:spPr>
          <a:xfrm>
            <a:off x="673100" y="1709531"/>
            <a:ext cx="7797800" cy="4424970"/>
          </a:xfrm>
        </p:spPr>
      </p:pic>
    </p:spTree>
    <p:extLst>
      <p:ext uri="{BB962C8B-B14F-4D97-AF65-F5344CB8AC3E}">
        <p14:creationId xmlns:p14="http://schemas.microsoft.com/office/powerpoint/2010/main" val="337974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DBE5-56F8-EDB6-C54C-8800D4C0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B506E-950A-FF6E-62A8-A0B80BAF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05067BA6-715A-D4E2-6B2D-AA57186A70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2189381"/>
            <a:ext cx="6350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47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B371-02A6-4690-9463-AE7301BB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10BC-B3BB-2259-F799-CDB336E6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5" name="Content Placeholder 4" descr="A graph with green and red lines&#10;&#10;AI-generated content may be incorrect.">
            <a:extLst>
              <a:ext uri="{FF2B5EF4-FFF2-40B4-BE49-F238E27FC236}">
                <a16:creationId xmlns:a16="http://schemas.microsoft.com/office/drawing/2014/main" id="{D9C747BB-0F47-FFD1-6C88-8625D45BB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2341562"/>
            <a:ext cx="7112000" cy="3492500"/>
          </a:xfrm>
        </p:spPr>
      </p:pic>
    </p:spTree>
    <p:extLst>
      <p:ext uri="{BB962C8B-B14F-4D97-AF65-F5344CB8AC3E}">
        <p14:creationId xmlns:p14="http://schemas.microsoft.com/office/powerpoint/2010/main" val="1236051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3B45-47C3-C12B-9C95-EA60B5DD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Mathematics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3D882-0A59-D117-483F-AE26EF84C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60068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CF498-6FDC-2317-D8EA-5761F7854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1A4DD-2CF8-51A0-829A-C3025BF9F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9297" indent="0">
              <a:buNone/>
            </a:pPr>
            <a:r>
              <a:rPr lang="en-IE" dirty="0"/>
              <a:t>To make a computational model for a Hare population.</a:t>
            </a:r>
          </a:p>
          <a:p>
            <a:pPr marL="89297" indent="0">
              <a:buNone/>
            </a:pPr>
            <a:r>
              <a:rPr lang="en-IE" dirty="0"/>
              <a:t>Some assumptions and simplifications must be made.</a:t>
            </a:r>
          </a:p>
          <a:p>
            <a:pPr marL="89297" indent="0">
              <a:buNone/>
            </a:pPr>
            <a:endParaRPr lang="en-IE" dirty="0"/>
          </a:p>
          <a:p>
            <a:pPr marL="89297" indent="0">
              <a:buNone/>
            </a:pPr>
            <a:r>
              <a:rPr lang="en-IE" dirty="0"/>
              <a:t>Here we make two assumptions:</a:t>
            </a:r>
          </a:p>
          <a:p>
            <a:pPr marL="546497" indent="-457200">
              <a:buAutoNum type="arabicPeriod"/>
            </a:pPr>
            <a:r>
              <a:rPr lang="en-IE" dirty="0"/>
              <a:t>Hares have no predators</a:t>
            </a:r>
          </a:p>
          <a:p>
            <a:pPr marL="546497" indent="-457200">
              <a:buAutoNum type="arabicPeriod"/>
            </a:pPr>
            <a:r>
              <a:rPr lang="en-IE" dirty="0"/>
              <a:t>Hares have unlimited food</a:t>
            </a:r>
          </a:p>
          <a:p>
            <a:pPr marL="546497" indent="-457200">
              <a:buAutoNum type="arabicPeriod"/>
            </a:pPr>
            <a:endParaRPr lang="en-IE" dirty="0"/>
          </a:p>
          <a:p>
            <a:pPr marL="89297" indent="0">
              <a:buNone/>
            </a:pPr>
            <a:r>
              <a:rPr lang="en-IE" dirty="0"/>
              <a:t>We can now move from the real world to the simulation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C207A-CAF4-D1A3-4006-20FE56567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 Population Simulation</a:t>
            </a:r>
          </a:p>
        </p:txBody>
      </p:sp>
      <p:pic>
        <p:nvPicPr>
          <p:cNvPr id="4" name="Picture 3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D5D7ABDE-F5ED-9E21-4386-7AC66EDAD9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668" y="5168217"/>
            <a:ext cx="2051458" cy="1145094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33154C37-BD8A-1D3B-A364-0D477AD051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10" t="3656" r="1669" b="50000"/>
          <a:stretch/>
        </p:blipFill>
        <p:spPr bwMode="auto">
          <a:xfrm flipH="1">
            <a:off x="1472989" y="4843873"/>
            <a:ext cx="1923576" cy="192357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834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3033-052D-BDAD-7A01-819D091F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One Year in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82739-A995-8A2B-FA1C-2C6D4D15D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4825"/>
            <a:ext cx="8229600" cy="3557325"/>
          </a:xfrm>
        </p:spPr>
        <p:txBody>
          <a:bodyPr/>
          <a:lstStyle/>
          <a:p>
            <a:r>
              <a:rPr lang="en-US" dirty="0"/>
              <a:t>To predict the future hare population from the current hare population.</a:t>
            </a:r>
          </a:p>
          <a:p>
            <a:endParaRPr lang="en-US" dirty="0"/>
          </a:p>
          <a:p>
            <a:r>
              <a:rPr lang="en-US" dirty="0"/>
              <a:t>To do this we need a birth rate, which is the amount the Hare population will increase per year</a:t>
            </a:r>
          </a:p>
          <a:p>
            <a:endParaRPr lang="en-US" dirty="0"/>
          </a:p>
          <a:p>
            <a:r>
              <a:rPr lang="en-US" dirty="0"/>
              <a:t>Now we need a simple formula using multiplication and addition to predict the future population:</a:t>
            </a:r>
            <a:br>
              <a:rPr lang="en-US" dirty="0"/>
            </a:br>
            <a:endParaRPr lang="en-US" dirty="0"/>
          </a:p>
          <a:p>
            <a:pPr marL="89297" indent="0" algn="ctr">
              <a:buNone/>
            </a:pPr>
            <a:r>
              <a:rPr lang="en-US" sz="2000" dirty="0">
                <a:solidFill>
                  <a:srgbClr val="00B050"/>
                </a:solidFill>
              </a:rPr>
              <a:t>current population </a:t>
            </a:r>
            <a:r>
              <a:rPr lang="en-IE" sz="2000" kern="100" dirty="0">
                <a:latin typeface="Helvetica" pitchFamily="2" charset="0"/>
              </a:rPr>
              <a:t>plus the </a:t>
            </a:r>
            <a:r>
              <a:rPr lang="en-IE" sz="2000" kern="100" dirty="0">
                <a:solidFill>
                  <a:srgbClr val="00B0F0"/>
                </a:solidFill>
                <a:latin typeface="Helvetica" pitchFamily="2" charset="0"/>
              </a:rPr>
              <a:t>birth rate </a:t>
            </a:r>
            <a:r>
              <a:rPr lang="en-IE" sz="2000" kern="100" dirty="0">
                <a:latin typeface="Helvetica" pitchFamily="2" charset="0"/>
              </a:rPr>
              <a:t>times</a:t>
            </a:r>
            <a:r>
              <a:rPr lang="en-IE" sz="2000" kern="100" dirty="0">
                <a:solidFill>
                  <a:srgbClr val="92D050"/>
                </a:solidFill>
                <a:latin typeface="Helvetica" pitchFamily="2" charset="0"/>
              </a:rPr>
              <a:t> </a:t>
            </a:r>
            <a:r>
              <a:rPr lang="en-IE" sz="2000" kern="100" dirty="0">
                <a:solidFill>
                  <a:srgbClr val="00B050"/>
                </a:solidFill>
                <a:latin typeface="Helvetica Light" panose="020B0403020202020204" pitchFamily="34" charset="0"/>
              </a:rPr>
              <a:t>current</a:t>
            </a:r>
            <a:r>
              <a:rPr lang="en-IE" sz="2000" kern="100" dirty="0">
                <a:solidFill>
                  <a:srgbClr val="00B050"/>
                </a:solidFill>
                <a:latin typeface="Helvetica" pitchFamily="2" charset="0"/>
              </a:rPr>
              <a:t> </a:t>
            </a:r>
            <a:r>
              <a:rPr lang="en-IE" sz="2000" kern="100" dirty="0">
                <a:solidFill>
                  <a:srgbClr val="00B050"/>
                </a:solidFill>
                <a:latin typeface="Helvetica Light" panose="020B0403020202020204" pitchFamily="34" charset="0"/>
              </a:rPr>
              <a:t>population</a:t>
            </a:r>
            <a:endParaRPr lang="en-US" sz="2000" dirty="0">
              <a:solidFill>
                <a:srgbClr val="00B050"/>
              </a:solidFill>
              <a:latin typeface="Helvetica Light" panose="020B0403020202020204" pitchFamily="34" charset="0"/>
            </a:endParaRP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08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BB8F-D270-8B57-B3A8-C1D9D8E1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D975A9BD-564D-2434-3919-C05A10F7A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3" t="14675" b="59628"/>
          <a:stretch/>
        </p:blipFill>
        <p:spPr>
          <a:xfrm>
            <a:off x="801364" y="2250549"/>
            <a:ext cx="7541272" cy="3299460"/>
          </a:xfrm>
        </p:spPr>
      </p:pic>
      <p:pic>
        <p:nvPicPr>
          <p:cNvPr id="3" name="Picture 2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DD2C7DCA-61C5-2987-F972-BD74D0977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4" name="Picture 3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E326D00-A86F-F97F-254E-FF3D514FAE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3E8718-E7CA-62A6-6DD7-7F6BA1E0A18B}"/>
              </a:ext>
            </a:extLst>
          </p:cNvPr>
          <p:cNvSpPr txBox="1"/>
          <p:nvPr/>
        </p:nvSpPr>
        <p:spPr>
          <a:xfrm>
            <a:off x="2126974" y="5226843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3403215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CD347-1FA5-9FE7-690B-04C073A9B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23E4D-6B6A-ACD7-CB6A-A93AABDCF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1: Predicting Three Years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DA9E8E-25BC-54E9-2768-12E17637EC71}"/>
                  </a:ext>
                </a:extLst>
              </p:cNvPr>
              <p:cNvSpPr txBox="1"/>
              <p:nvPr/>
            </p:nvSpPr>
            <p:spPr>
              <a:xfrm>
                <a:off x="0" y="1478370"/>
                <a:ext cx="9144000" cy="18783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Future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  <m: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urrent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  <m: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latin typeface="Cambria Math" panose="02040503050406030204" pitchFamily="18" charset="0"/>
                        </a:rPr>
                        <m:t>+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sz="2400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irth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Rate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latin typeface="Cambria Math" panose="02040503050406030204" pitchFamily="18" charset="0"/>
                        </a:rPr>
                        <m:t>∗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urrent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  <m: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</m:oMath>
                  </m:oMathPara>
                </a14:m>
                <a:endParaRPr lang="en-IE" sz="2400" kern="100" dirty="0">
                  <a:latin typeface="Helvetica" pitchFamily="2" charset="0"/>
                </a:endParaRPr>
              </a:p>
              <a:p>
                <a:pPr algn="ctr"/>
                <a:endParaRPr lang="en-IE" sz="3600" kern="100" dirty="0">
                  <a:latin typeface="Helvetica" pitchFamily="2" charset="0"/>
                </a:endParaRPr>
              </a:p>
              <a:p>
                <a:pPr algn="ctr"/>
                <a:r>
                  <a:rPr lang="en-IE" sz="3600" kern="100" dirty="0">
                    <a:solidFill>
                      <a:srgbClr val="FF0000"/>
                    </a:solidFill>
                    <a:latin typeface="Helvetica" pitchFamily="2" charset="0"/>
                  </a:rPr>
                  <a:t>H</a:t>
                </a:r>
                <a:r>
                  <a:rPr lang="en-IE" sz="3600" kern="100" dirty="0">
                    <a:latin typeface="Helvetica" pitchFamily="2" charset="0"/>
                  </a:rPr>
                  <a:t>=</a:t>
                </a:r>
                <a:r>
                  <a:rPr lang="en-IE" sz="3600" kern="100" dirty="0" err="1">
                    <a:solidFill>
                      <a:srgbClr val="92D050"/>
                    </a:solidFill>
                    <a:latin typeface="Helvetica" pitchFamily="2" charset="0"/>
                  </a:rPr>
                  <a:t>H</a:t>
                </a:r>
                <a:r>
                  <a:rPr lang="en-IE" sz="3600" kern="100" dirty="0" err="1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+</a:t>
                </a:r>
                <a:r>
                  <a:rPr lang="en-IE" sz="3600" kern="100" dirty="0" err="1">
                    <a:solidFill>
                      <a:srgbClr val="00B0F0"/>
                    </a:solidFill>
                    <a:latin typeface="Helvetica" pitchFamily="2" charset="0"/>
                  </a:rPr>
                  <a:t>r</a:t>
                </a:r>
                <a:r>
                  <a:rPr lang="en-IE" sz="3600" kern="100" baseline="-25000" dirty="0" err="1">
                    <a:solidFill>
                      <a:srgbClr val="00B0F0"/>
                    </a:solidFill>
                    <a:latin typeface="Helvetica" pitchFamily="2" charset="0"/>
                  </a:rPr>
                  <a:t>Birth</a:t>
                </a:r>
                <a:r>
                  <a:rPr lang="en-IE" sz="3600" kern="100" dirty="0">
                    <a:latin typeface="Helvetica" pitchFamily="2" charset="0"/>
                  </a:rPr>
                  <a:t>*</a:t>
                </a:r>
                <a:r>
                  <a:rPr lang="en-IE" sz="3600" kern="100" dirty="0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H</a:t>
                </a:r>
                <a:endParaRPr lang="en-IE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DA9E8E-25BC-54E9-2768-12E17637E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8370"/>
                <a:ext cx="9144000" cy="1878399"/>
              </a:xfrm>
              <a:prstGeom prst="rect">
                <a:avLst/>
              </a:prstGeom>
              <a:blipFill>
                <a:blip r:embed="rId2"/>
                <a:stretch>
                  <a:fillRect b="-10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598EDE-473D-0A3C-2CF9-6389F80E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501232"/>
            <a:ext cx="8229600" cy="2899568"/>
          </a:xfrm>
        </p:spPr>
        <p:txBody>
          <a:bodyPr/>
          <a:lstStyle/>
          <a:p>
            <a:r>
              <a:rPr lang="en-US" dirty="0"/>
              <a:t>Given the Hare population in Year 0 is 60 implement the formula three times to get the population in Year 3.</a:t>
            </a:r>
          </a:p>
        </p:txBody>
      </p:sp>
    </p:spTree>
    <p:extLst>
      <p:ext uri="{BB962C8B-B14F-4D97-AF65-F5344CB8AC3E}">
        <p14:creationId xmlns:p14="http://schemas.microsoft.com/office/powerpoint/2010/main" val="4067044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482C8-3D96-C4B9-22DA-C0BEB2BCE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115C-E0E6-4C4A-CC17-04F48695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1: Predicting Three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3A8755-CBE4-4779-08B8-767B919432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9722179"/>
              </p:ext>
            </p:extLst>
          </p:nvPr>
        </p:nvGraphicFramePr>
        <p:xfrm>
          <a:off x="699990" y="3506164"/>
          <a:ext cx="6230165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3642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826523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E" sz="2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2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2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E" sz="2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2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2800" kern="100" dirty="0">
                          <a:solidFill>
                            <a:srgbClr val="00B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2800" kern="100" dirty="0">
                        <a:solidFill>
                          <a:srgbClr val="00B050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E" sz="2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2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E" sz="2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E" sz="2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2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E" sz="2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E" sz="2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E" sz="2800" kern="100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703406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E0BDD9-BCC1-F5F2-6DFD-5158BCDC61A4}"/>
                  </a:ext>
                </a:extLst>
              </p:cNvPr>
              <p:cNvSpPr txBox="1"/>
              <p:nvPr/>
            </p:nvSpPr>
            <p:spPr>
              <a:xfrm>
                <a:off x="0" y="1478370"/>
                <a:ext cx="9144000" cy="18783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Future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  <m: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urrent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  <m: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latin typeface="Cambria Math" panose="02040503050406030204" pitchFamily="18" charset="0"/>
                        </a:rPr>
                        <m:t>+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sz="2400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irth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Rate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latin typeface="Cambria Math" panose="02040503050406030204" pitchFamily="18" charset="0"/>
                        </a:rPr>
                        <m:t>∗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urrent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  <m: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</m:oMath>
                  </m:oMathPara>
                </a14:m>
                <a:endParaRPr lang="en-IE" sz="2400" kern="100" dirty="0">
                  <a:latin typeface="Helvetica" pitchFamily="2" charset="0"/>
                </a:endParaRPr>
              </a:p>
              <a:p>
                <a:pPr algn="ctr"/>
                <a:endParaRPr lang="en-IE" sz="3600" kern="100" dirty="0">
                  <a:latin typeface="Helvetica" pitchFamily="2" charset="0"/>
                </a:endParaRPr>
              </a:p>
              <a:p>
                <a:pPr algn="ctr"/>
                <a:r>
                  <a:rPr lang="en-IE" sz="3600" kern="100" dirty="0">
                    <a:solidFill>
                      <a:srgbClr val="FF0000"/>
                    </a:solidFill>
                    <a:latin typeface="Helvetica" pitchFamily="2" charset="0"/>
                  </a:rPr>
                  <a:t>H</a:t>
                </a:r>
                <a:r>
                  <a:rPr lang="en-IE" sz="3600" kern="100" dirty="0">
                    <a:latin typeface="Helvetica" pitchFamily="2" charset="0"/>
                  </a:rPr>
                  <a:t>=</a:t>
                </a:r>
                <a:r>
                  <a:rPr lang="en-IE" sz="3600" kern="100" dirty="0" err="1">
                    <a:solidFill>
                      <a:srgbClr val="92D050"/>
                    </a:solidFill>
                    <a:latin typeface="Helvetica" pitchFamily="2" charset="0"/>
                  </a:rPr>
                  <a:t>H</a:t>
                </a:r>
                <a:r>
                  <a:rPr lang="en-IE" sz="3600" kern="100" dirty="0" err="1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+</a:t>
                </a:r>
                <a:r>
                  <a:rPr lang="en-IE" sz="3600" kern="100" dirty="0" err="1">
                    <a:solidFill>
                      <a:srgbClr val="00B0F0"/>
                    </a:solidFill>
                    <a:latin typeface="Helvetica" pitchFamily="2" charset="0"/>
                  </a:rPr>
                  <a:t>r</a:t>
                </a:r>
                <a:r>
                  <a:rPr lang="en-IE" sz="3600" kern="100" baseline="-25000" dirty="0" err="1">
                    <a:solidFill>
                      <a:srgbClr val="00B0F0"/>
                    </a:solidFill>
                    <a:latin typeface="Helvetica" pitchFamily="2" charset="0"/>
                  </a:rPr>
                  <a:t>Birth</a:t>
                </a:r>
                <a:r>
                  <a:rPr lang="en-IE" sz="3600" kern="100" dirty="0">
                    <a:latin typeface="Helvetica" pitchFamily="2" charset="0"/>
                  </a:rPr>
                  <a:t>*</a:t>
                </a:r>
                <a:r>
                  <a:rPr lang="en-IE" sz="3600" kern="100" dirty="0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H</a:t>
                </a:r>
                <a:endParaRPr lang="en-IE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DA9E8E-25BC-54E9-2768-12E17637E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8370"/>
                <a:ext cx="9144000" cy="1878399"/>
              </a:xfrm>
              <a:prstGeom prst="rect">
                <a:avLst/>
              </a:prstGeom>
              <a:blipFill>
                <a:blip r:embed="rId2"/>
                <a:stretch>
                  <a:fillRect b="-10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007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AD0D-8FDD-E790-C32C-0BA46975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1.1: Predicting One Year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9653DB-747D-88AC-2856-15E0B8029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285447"/>
              </p:ext>
            </p:extLst>
          </p:nvPr>
        </p:nvGraphicFramePr>
        <p:xfrm>
          <a:off x="1569595" y="4609021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F424497C-A2E3-CB4B-5798-CC0C27BBF7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3" t="14675" b="59628"/>
          <a:stretch/>
        </p:blipFill>
        <p:spPr bwMode="auto">
          <a:xfrm>
            <a:off x="1476001" y="1526982"/>
            <a:ext cx="6068563" cy="2655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5424CEED-CCC5-5117-BAE1-CE5E7BB05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7" name="Picture 6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BD2D8C29-FD43-6A4B-E9C9-482974DE9C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2A51C4-4339-9B45-40B9-A3B26497C030}"/>
              </a:ext>
            </a:extLst>
          </p:cNvPr>
          <p:cNvSpPr txBox="1"/>
          <p:nvPr/>
        </p:nvSpPr>
        <p:spPr>
          <a:xfrm>
            <a:off x="2087218" y="3887670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1689182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D8856-7D97-2D84-F320-36546E05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1EFA-8204-21E9-1A63-43DD4BFC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1.1: Predicting One Year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14CFD1-242F-DCFB-BE1F-CF18F9B920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744705"/>
              </p:ext>
            </p:extLst>
          </p:nvPr>
        </p:nvGraphicFramePr>
        <p:xfrm>
          <a:off x="1690685" y="2164387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60+0.2(60)=72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6" name="Picture 5" descr="A graph with green dot&#10;&#10;Description automatically generated">
            <a:extLst>
              <a:ext uri="{FF2B5EF4-FFF2-40B4-BE49-F238E27FC236}">
                <a16:creationId xmlns:a16="http://schemas.microsoft.com/office/drawing/2014/main" id="{03209209-76F6-3E06-10AB-B93CACBEC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8" y="3508513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285785F9-98B3-A81B-AF43-BDD5F6759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957E470-6EAA-272F-E6F3-778D13E810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2BF6DA-D325-E87D-AA91-59D157D5E2C3}"/>
                  </a:ext>
                </a:extLst>
              </p14:cNvPr>
              <p14:cNvContentPartPr/>
              <p14:nvPr/>
            </p14:nvContentPartPr>
            <p14:xfrm>
              <a:off x="3670865" y="4462810"/>
              <a:ext cx="21960" cy="2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2BF6DA-D325-E87D-AA91-59D157D5E2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4745" y="4456690"/>
                <a:ext cx="34200" cy="385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0E5BC75-CE75-A508-14B6-1671C921490B}"/>
              </a:ext>
            </a:extLst>
          </p:cNvPr>
          <p:cNvSpPr txBox="1"/>
          <p:nvPr/>
        </p:nvSpPr>
        <p:spPr>
          <a:xfrm>
            <a:off x="2266122" y="1393131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4184745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A81D-F8B2-A7C6-67A1-DB972D3F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EB3D0-5440-E1C8-CFB6-E5B08838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1.2: Predicting Three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FC3B02-DDCF-C000-6DB2-3E47938188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632452"/>
              </p:ext>
            </p:extLst>
          </p:nvPr>
        </p:nvGraphicFramePr>
        <p:xfrm>
          <a:off x="1690686" y="2082672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60+0.2(60)=72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72+0.2(72)=86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6" name="Picture 5" descr="A graph with green dot&#10;&#10;Description automatically generated">
            <a:extLst>
              <a:ext uri="{FF2B5EF4-FFF2-40B4-BE49-F238E27FC236}">
                <a16:creationId xmlns:a16="http://schemas.microsoft.com/office/drawing/2014/main" id="{B7EDC86D-E2EE-D8C7-20EC-8365EDBD0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329607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65FDD029-63B3-D459-0E56-989B2AC8B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9CD1C752-54DC-8210-1AE9-0C712ABEBC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5737C8-8C35-CC5E-D7CF-65A1EFEDF4F7}"/>
                  </a:ext>
                </a:extLst>
              </p14:cNvPr>
              <p14:cNvContentPartPr/>
              <p14:nvPr/>
            </p14:nvContentPartPr>
            <p14:xfrm>
              <a:off x="3670865" y="4462810"/>
              <a:ext cx="21960" cy="2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5737C8-8C35-CC5E-D7CF-65A1EFEDF4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4745" y="4456690"/>
                <a:ext cx="342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EB9258-E48D-C029-800C-E626FB64C684}"/>
                  </a:ext>
                </a:extLst>
              </p14:cNvPr>
              <p14:cNvContentPartPr/>
              <p14:nvPr/>
            </p14:nvContentPartPr>
            <p14:xfrm>
              <a:off x="2924585" y="274057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EB9258-E48D-C029-800C-E626FB64C68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18465" y="2734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71CDC19-61A6-E840-1F7B-FF861A0513E5}"/>
                  </a:ext>
                </a:extLst>
              </p14:cNvPr>
              <p14:cNvContentPartPr/>
              <p14:nvPr/>
            </p14:nvContentPartPr>
            <p14:xfrm>
              <a:off x="4480145" y="4203610"/>
              <a:ext cx="61920" cy="59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71CDC19-61A6-E840-1F7B-FF861A0513E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74025" y="4197490"/>
                <a:ext cx="74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4D7C2F5-40FD-4683-2588-BE26A5A01ADE}"/>
                  </a:ext>
                </a:extLst>
              </p14:cNvPr>
              <p14:cNvContentPartPr/>
              <p14:nvPr/>
            </p14:nvContentPartPr>
            <p14:xfrm>
              <a:off x="4511105" y="423781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4D7C2F5-40FD-4683-2588-BE26A5A01A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75465" y="420217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39496C6-A508-9A0D-0EBC-504A5B8E299B}"/>
              </a:ext>
            </a:extLst>
          </p:cNvPr>
          <p:cNvSpPr txBox="1"/>
          <p:nvPr/>
        </p:nvSpPr>
        <p:spPr>
          <a:xfrm>
            <a:off x="2266122" y="1393131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3867030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0837F-E414-B6B5-330E-96D6C325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3788-BC52-C756-7AE7-6C2869FC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1.2: Predicting Three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810E41-B2E4-1861-3C67-D66BEC3B2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4687782"/>
              </p:ext>
            </p:extLst>
          </p:nvPr>
        </p:nvGraphicFramePr>
        <p:xfrm>
          <a:off x="1690686" y="1983031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60+0.2(60)=72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72+0.2(72)=86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86+0.2(86)=103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6" name="Picture 5" descr="A graph with green dot&#10;&#10;Description automatically generated">
            <a:extLst>
              <a:ext uri="{FF2B5EF4-FFF2-40B4-BE49-F238E27FC236}">
                <a16:creationId xmlns:a16="http://schemas.microsoft.com/office/drawing/2014/main" id="{83E3CAC9-DD02-4349-FA50-749C4CE18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200400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E578692C-7084-F7D4-DB5F-13372F9CB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00F55FD8-09DD-4A56-9AFD-4EBD0F93BA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EB4F8A-6678-1A39-ECCB-83DF66A45AC0}"/>
                  </a:ext>
                </a:extLst>
              </p14:cNvPr>
              <p14:cNvContentPartPr/>
              <p14:nvPr/>
            </p14:nvContentPartPr>
            <p14:xfrm>
              <a:off x="3670865" y="4462810"/>
              <a:ext cx="21960" cy="2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EB4F8A-6678-1A39-ECCB-83DF66A45A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4745" y="4456690"/>
                <a:ext cx="342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C15F47-50BA-6799-D230-412CA456BA99}"/>
                  </a:ext>
                </a:extLst>
              </p14:cNvPr>
              <p14:cNvContentPartPr/>
              <p14:nvPr/>
            </p14:nvContentPartPr>
            <p14:xfrm>
              <a:off x="2924585" y="274057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C15F47-50BA-6799-D230-412CA456BA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18465" y="2734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15E6211-D9D8-8BB7-5CEF-B7BEA0936740}"/>
                  </a:ext>
                </a:extLst>
              </p14:cNvPr>
              <p14:cNvContentPartPr/>
              <p14:nvPr/>
            </p14:nvContentPartPr>
            <p14:xfrm>
              <a:off x="4480145" y="4203610"/>
              <a:ext cx="61920" cy="59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15E6211-D9D8-8BB7-5CEF-B7BEA09367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74025" y="4197490"/>
                <a:ext cx="74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4876E4A-3BEB-7831-07E9-483AA5F8127F}"/>
                  </a:ext>
                </a:extLst>
              </p14:cNvPr>
              <p14:cNvContentPartPr/>
              <p14:nvPr/>
            </p14:nvContentPartPr>
            <p14:xfrm>
              <a:off x="4511105" y="423781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4876E4A-3BEB-7831-07E9-483AA5F8127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75465" y="420217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16B3B95-C991-0E21-F407-2A2934CEFDA5}"/>
              </a:ext>
            </a:extLst>
          </p:cNvPr>
          <p:cNvSpPr txBox="1"/>
          <p:nvPr/>
        </p:nvSpPr>
        <p:spPr>
          <a:xfrm>
            <a:off x="2266122" y="1393131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3979278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3424-5BD2-344B-0C4C-80BC7735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C934-2A36-D80C-B585-31C84F83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5520"/>
            <a:ext cx="8229600" cy="1252728"/>
          </a:xfrm>
        </p:spPr>
        <p:txBody>
          <a:bodyPr/>
          <a:lstStyle/>
          <a:p>
            <a:r>
              <a:rPr lang="en-IE" dirty="0"/>
              <a:t>Exercise 2: Plotting Three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1F9CE1-EBFA-DF9A-1172-C7661E731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850093"/>
              </p:ext>
            </p:extLst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103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5" name="Picture 4" descr="A graph with green dots&#10;&#10;Description automatically generated">
            <a:extLst>
              <a:ext uri="{FF2B5EF4-FFF2-40B4-BE49-F238E27FC236}">
                <a16:creationId xmlns:a16="http://schemas.microsoft.com/office/drawing/2014/main" id="{BAB4FAEC-873F-7C2B-F70A-9B05BB91F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200400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86B386FE-AF6C-A9DE-476D-E551E2717A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24BBE17-C319-AD9D-5886-002EE841D1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F28D8A-2E60-1801-B350-68713EE7D046}"/>
              </a:ext>
            </a:extLst>
          </p:cNvPr>
          <p:cNvSpPr/>
          <p:nvPr/>
        </p:nvSpPr>
        <p:spPr>
          <a:xfrm>
            <a:off x="6112565" y="3488634"/>
            <a:ext cx="765313" cy="337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5324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C3F1C-8382-B6FB-4CE7-A78028AC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A3633-D252-5715-D9EE-AD750661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3: Predicting 100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07B706-0C4C-2CDA-1643-DAA65C4E3B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103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5" name="Picture 4" descr="A graph with green dots&#10;&#10;Description automatically generated">
            <a:extLst>
              <a:ext uri="{FF2B5EF4-FFF2-40B4-BE49-F238E27FC236}">
                <a16:creationId xmlns:a16="http://schemas.microsoft.com/office/drawing/2014/main" id="{844F5AD2-7446-86C5-F8C2-E644F65EE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200400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C0D4139A-81D0-2732-1733-67E199C53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D981B8AD-090B-04E8-4A05-231C76ACFD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46565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9B85-B352-00C0-F20D-F5AC324A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29D7-7FA5-51BD-3D82-E8835E1B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 Population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C4F8E45B-877D-F513-61AF-2889A53BC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64" b="47890"/>
          <a:stretch/>
        </p:blipFill>
        <p:spPr>
          <a:xfrm>
            <a:off x="1113209" y="2118356"/>
            <a:ext cx="7086574" cy="3656280"/>
          </a:xfrm>
        </p:spPr>
      </p:pic>
      <p:pic>
        <p:nvPicPr>
          <p:cNvPr id="3" name="Picture 2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8FAF8B86-DCC9-0843-36CC-FA3A8944D6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66795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CF498-6FDC-2317-D8EA-5761F7854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1A4DD-2CF8-51A0-829A-C3025BF9F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9297" indent="0">
              <a:buNone/>
            </a:pPr>
            <a:r>
              <a:rPr lang="en-IE" dirty="0"/>
              <a:t>To make a mathematical model for a Lynx population.</a:t>
            </a:r>
          </a:p>
          <a:p>
            <a:pPr marL="89297" indent="0">
              <a:buNone/>
            </a:pPr>
            <a:r>
              <a:rPr lang="en-IE" dirty="0"/>
              <a:t>Some assumptions and simplifications must be made.</a:t>
            </a:r>
          </a:p>
          <a:p>
            <a:pPr marL="89297" indent="0">
              <a:buNone/>
            </a:pPr>
            <a:endParaRPr lang="en-IE" dirty="0"/>
          </a:p>
          <a:p>
            <a:pPr marL="89297" indent="0">
              <a:buNone/>
            </a:pPr>
            <a:r>
              <a:rPr lang="en-IE" dirty="0"/>
              <a:t>Here we make one assumptions:</a:t>
            </a:r>
          </a:p>
          <a:p>
            <a:pPr marL="546497" indent="-457200">
              <a:buAutoNum type="arabicPeriod"/>
            </a:pPr>
            <a:r>
              <a:rPr lang="en-IE" dirty="0"/>
              <a:t>Lynxes have no food</a:t>
            </a:r>
          </a:p>
          <a:p>
            <a:pPr marL="89297" indent="0">
              <a:buNone/>
            </a:pPr>
            <a:endParaRPr lang="en-IE" dirty="0"/>
          </a:p>
          <a:p>
            <a:pPr marL="89297" indent="0">
              <a:buNone/>
            </a:pPr>
            <a:r>
              <a:rPr lang="en-IE" dirty="0"/>
              <a:t>We can now move from the real world to the simulation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C207A-CAF4-D1A3-4006-20FE56567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 Population Simulation</a:t>
            </a:r>
          </a:p>
        </p:txBody>
      </p:sp>
      <p:pic>
        <p:nvPicPr>
          <p:cNvPr id="3" name="Picture 2" descr="A line drawing of a cat&#10;&#10;Description automatically generated">
            <a:extLst>
              <a:ext uri="{FF2B5EF4-FFF2-40B4-BE49-F238E27FC236}">
                <a16:creationId xmlns:a16="http://schemas.microsoft.com/office/drawing/2014/main" id="{424A0838-5217-ADA2-1E0C-AE4A4E0A92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6093870" y="5098045"/>
            <a:ext cx="1901167" cy="1268086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47D3436E-C8F3-7E7B-D1DB-966B168CD2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87" t="39961" b="2047"/>
          <a:stretch/>
        </p:blipFill>
        <p:spPr bwMode="auto">
          <a:xfrm flipH="1">
            <a:off x="1148963" y="4459858"/>
            <a:ext cx="2242694" cy="2242694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348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3033-052D-BDAD-7A01-819D091F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One Year in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82739-A995-8A2B-FA1C-2C6D4D15D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4825"/>
            <a:ext cx="8229600" cy="3557325"/>
          </a:xfrm>
        </p:spPr>
        <p:txBody>
          <a:bodyPr/>
          <a:lstStyle/>
          <a:p>
            <a:r>
              <a:rPr lang="en-US" dirty="0"/>
              <a:t>To predict the future lynx population from the current lynx population.</a:t>
            </a:r>
          </a:p>
          <a:p>
            <a:endParaRPr lang="en-US" dirty="0"/>
          </a:p>
          <a:p>
            <a:r>
              <a:rPr lang="en-US" dirty="0"/>
              <a:t>To do this we need a death rate, which is the amount the lynx population will decrease per year</a:t>
            </a:r>
          </a:p>
          <a:p>
            <a:endParaRPr lang="en-US" dirty="0"/>
          </a:p>
          <a:p>
            <a:r>
              <a:rPr lang="en-US" dirty="0"/>
              <a:t>Now we need a simple formula:</a:t>
            </a:r>
            <a:br>
              <a:rPr lang="en-US" dirty="0"/>
            </a:br>
            <a:endParaRPr lang="en-US" dirty="0"/>
          </a:p>
          <a:p>
            <a:pPr marL="89297" indent="0" algn="ctr">
              <a:buNone/>
            </a:pPr>
            <a:r>
              <a:rPr lang="en-US" sz="2000" dirty="0">
                <a:solidFill>
                  <a:srgbClr val="00B050"/>
                </a:solidFill>
              </a:rPr>
              <a:t>current population </a:t>
            </a:r>
            <a:r>
              <a:rPr lang="en-IE" sz="2000" kern="100" dirty="0">
                <a:latin typeface="Helvetica" pitchFamily="2" charset="0"/>
              </a:rPr>
              <a:t>minus the </a:t>
            </a:r>
            <a:r>
              <a:rPr lang="en-IE" sz="2000" kern="100" dirty="0">
                <a:solidFill>
                  <a:srgbClr val="00B0F0"/>
                </a:solidFill>
                <a:latin typeface="Helvetica" pitchFamily="2" charset="0"/>
              </a:rPr>
              <a:t>death rate </a:t>
            </a:r>
            <a:r>
              <a:rPr lang="en-IE" sz="2000" kern="100" dirty="0">
                <a:latin typeface="Helvetica" pitchFamily="2" charset="0"/>
              </a:rPr>
              <a:t>times</a:t>
            </a:r>
            <a:r>
              <a:rPr lang="en-IE" sz="2000" kern="100" dirty="0">
                <a:solidFill>
                  <a:srgbClr val="92D050"/>
                </a:solidFill>
                <a:latin typeface="Helvetica" pitchFamily="2" charset="0"/>
              </a:rPr>
              <a:t> </a:t>
            </a:r>
            <a:r>
              <a:rPr lang="en-IE" sz="2000" kern="100" dirty="0">
                <a:solidFill>
                  <a:srgbClr val="00B050"/>
                </a:solidFill>
                <a:latin typeface="Helvetica Light" panose="020B0403020202020204" pitchFamily="34" charset="0"/>
              </a:rPr>
              <a:t>current population</a:t>
            </a:r>
            <a:endParaRPr lang="en-US" sz="2000" dirty="0">
              <a:solidFill>
                <a:srgbClr val="00B050"/>
              </a:solidFill>
              <a:latin typeface="Helvetica Light" panose="020B0403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62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8F054-A63E-41EA-E40F-73B8E4B9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6127-A2DA-E3DB-7F27-BB7FDDCD3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 Population</a:t>
            </a:r>
          </a:p>
        </p:txBody>
      </p:sp>
      <p:pic>
        <p:nvPicPr>
          <p:cNvPr id="4" name="Picture 3" descr="A screenshot of a diagram&#10;&#10;Description automatically generated">
            <a:extLst>
              <a:ext uri="{FF2B5EF4-FFF2-40B4-BE49-F238E27FC236}">
                <a16:creationId xmlns:a16="http://schemas.microsoft.com/office/drawing/2014/main" id="{FF229B88-0215-C181-AE7E-43F03771C7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514765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5DD19-0574-ED3B-9CF4-91C9B4E41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7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282FBC5-6BB6-A5F2-523A-D465FB34C1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8" t="15497" r="7152" b="61936"/>
          <a:stretch/>
        </p:blipFill>
        <p:spPr bwMode="auto">
          <a:xfrm>
            <a:off x="1494364" y="2051437"/>
            <a:ext cx="6234304" cy="279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ine drawing of a cat&#10;&#10;Description automatically generated">
            <a:extLst>
              <a:ext uri="{FF2B5EF4-FFF2-40B4-BE49-F238E27FC236}">
                <a16:creationId xmlns:a16="http://schemas.microsoft.com/office/drawing/2014/main" id="{C6ED3A7A-F1DE-2D1E-B787-6D4D712615B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AB547B-D499-6B99-62E9-21EAA53AD736}"/>
              </a:ext>
            </a:extLst>
          </p:cNvPr>
          <p:cNvSpPr txBox="1"/>
          <p:nvPr/>
        </p:nvSpPr>
        <p:spPr>
          <a:xfrm>
            <a:off x="2266122" y="5252037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2852969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7EEE-EB17-314F-237C-417568E5A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7284-16FA-71CB-3D3F-0CB52DEB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4.1: Predicting One Year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48E5DC-B193-1C56-B73F-627B4006D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4686468"/>
              </p:ext>
            </p:extLst>
          </p:nvPr>
        </p:nvGraphicFramePr>
        <p:xfrm>
          <a:off x="1690687" y="430090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282FBC5-6BB6-A5F2-523A-D465FB34C1D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8" t="15497" r="7152" b="61936"/>
          <a:stretch/>
        </p:blipFill>
        <p:spPr bwMode="auto">
          <a:xfrm>
            <a:off x="1529890" y="1645921"/>
            <a:ext cx="6037833" cy="270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screenshot of a diagram&#10;&#10;Description automatically generated">
            <a:extLst>
              <a:ext uri="{FF2B5EF4-FFF2-40B4-BE49-F238E27FC236}">
                <a16:creationId xmlns:a16="http://schemas.microsoft.com/office/drawing/2014/main" id="{982B0169-FA30-4362-CFD9-770599E012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530667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line drawing of a cat&#10;&#10;Description automatically generated">
            <a:extLst>
              <a:ext uri="{FF2B5EF4-FFF2-40B4-BE49-F238E27FC236}">
                <a16:creationId xmlns:a16="http://schemas.microsoft.com/office/drawing/2014/main" id="{B81D0C9C-E5FE-44F4-5689-406DA6F1B08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54045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17B7-549D-9C62-4928-A5B01278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A876-66EA-3B4C-2059-F92AA78C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7E7C2A-1117-DE36-09C7-96F02400DD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6685908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0A185FE9-55AA-1AB2-E020-3E5C6D3BFC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A779BC4D-F522-4C23-A500-7AA343DD9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473143CE-B89B-248D-B06B-49BB8B3810E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0F18D0-834B-48EA-1859-32617A941D41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969598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E29C-C659-1C74-FF94-09BC556D2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ECA6-5E63-F799-165E-FD4282FA1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4.1: Predicting One Year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7A3E-AD61-7E93-4BE4-EE0341790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001727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30-0.1(30)=27</a:t>
                      </a:r>
                      <a:endParaRPr lang="en-IE" sz="16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7E50C77F-D7E3-1326-5916-67B19369D5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59F6A10A-1A82-B8D3-E7C0-A9930B684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399C48F8-5581-12F3-6C35-B72B8155926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35CECB-11FC-7FE4-DFF9-64FB49DBF6A4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693C7A6-606B-5A6B-97AF-2653B17CD928}"/>
                  </a:ext>
                </a:extLst>
              </p14:cNvPr>
              <p14:cNvContentPartPr/>
              <p14:nvPr/>
            </p14:nvContentPartPr>
            <p14:xfrm>
              <a:off x="3654783" y="572493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693C7A6-606B-5A6B-97AF-2653B17CD9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9143" y="5689299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0267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C82BD-05EB-8A9E-BCBD-945C0F60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DD8A-1FD6-FBD2-CD8B-CF54B75A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4.: Predicting Three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1B9126-E327-4B07-E443-DA50B7275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886586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30-0.1(30)=27</a:t>
                      </a:r>
                      <a:endParaRPr lang="en-IE" sz="16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27-0.1(27)=24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BDB2D815-AA88-7270-B98F-A086F3BFD5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AC9FF8E4-4C97-F273-F5B0-4C44BB19F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D89ABC99-6689-6040-D0E1-3ABD1E1AE56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BDD49F-8080-25AC-1E88-AE44829EFE72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3DC3932-AEC5-965E-4540-6E8C72FD63E1}"/>
                  </a:ext>
                </a:extLst>
              </p14:cNvPr>
              <p14:cNvContentPartPr/>
              <p14:nvPr/>
            </p14:nvContentPartPr>
            <p14:xfrm>
              <a:off x="3654783" y="572493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3DC3932-AEC5-965E-4540-6E8C72FD63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9143" y="568929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7709E4D-4E39-12AC-EFDF-25D0E941BBF8}"/>
                  </a:ext>
                </a:extLst>
              </p14:cNvPr>
              <p14:cNvContentPartPr/>
              <p14:nvPr/>
            </p14:nvContentPartPr>
            <p14:xfrm>
              <a:off x="4490343" y="5762379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7709E4D-4E39-12AC-EFDF-25D0E941BB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4343" y="5726379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6297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7DAAA-BB59-AE7C-1949-3224BE43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E15E-06F0-422A-41CE-46AE9459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5: Plotting Three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B3C331-CE6D-1D51-7859-97F9CEB32B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269376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30-0.1(30)=27</a:t>
                      </a:r>
                      <a:endParaRPr lang="en-IE" sz="16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27-0.1(27)=24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24-0.1(24)=22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D38A140F-F118-4330-85E7-89FE77441E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D470B814-9E11-0594-CBA1-64D8B2E21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1D531CB3-9234-D140-0EC0-0C755F29D72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470C8A-B085-5FFA-8CC8-C3B3B66FC98C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DB3469-4EFF-AB8E-3E77-2A572DBF4E9D}"/>
                  </a:ext>
                </a:extLst>
              </p14:cNvPr>
              <p14:cNvContentPartPr/>
              <p14:nvPr/>
            </p14:nvContentPartPr>
            <p14:xfrm>
              <a:off x="3654783" y="572493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DB3469-4EFF-AB8E-3E77-2A572DBF4E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9143" y="568929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ACBC8B-13E6-A6C5-8A65-240F22374286}"/>
                  </a:ext>
                </a:extLst>
              </p14:cNvPr>
              <p14:cNvContentPartPr/>
              <p14:nvPr/>
            </p14:nvContentPartPr>
            <p14:xfrm>
              <a:off x="4490343" y="5762379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ACBC8B-13E6-A6C5-8A65-240F223742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4343" y="572637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5B2D90B-B02F-B3CE-4564-205A2BBFE4D4}"/>
                  </a:ext>
                </a:extLst>
              </p14:cNvPr>
              <p14:cNvContentPartPr/>
              <p14:nvPr/>
            </p14:nvContentPartPr>
            <p14:xfrm>
              <a:off x="5284503" y="5778939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5B2D90B-B02F-B3CE-4564-205A2BBFE4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48503" y="5742939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64680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6C9E-F49C-D9EC-9B3A-5FC939DFC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14-B58E-F37F-6C31-7CD70B64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5: Plotting Three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2A7E70-9D31-97B4-4897-6FAA7BFDC1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952577"/>
              </p:ext>
            </p:extLst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27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89B17BE8-4597-ABAA-7C08-36B8D0137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red dots and numbers&#10;&#10;Description automatically generated">
            <a:extLst>
              <a:ext uri="{FF2B5EF4-FFF2-40B4-BE49-F238E27FC236}">
                <a16:creationId xmlns:a16="http://schemas.microsoft.com/office/drawing/2014/main" id="{0DDC80EC-B7CE-BB40-17CE-1E0AE73B2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110944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49F81492-3E18-5070-15BC-C0622FCA661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A6FC7D2-7FDC-C249-61E8-FA83AF858916}"/>
              </a:ext>
            </a:extLst>
          </p:cNvPr>
          <p:cNvSpPr/>
          <p:nvPr/>
        </p:nvSpPr>
        <p:spPr>
          <a:xfrm>
            <a:off x="5973417" y="5705060"/>
            <a:ext cx="765313" cy="337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92887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8602-6BE8-ED7B-0F02-38C9D493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B987-7B51-4349-7E70-A230BADF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6: Predicting 100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27B7C1-D1AD-4BE3-0166-116E288799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27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33BE5698-4554-8D7C-0C88-5025993266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red dots and numbers&#10;&#10;Description automatically generated">
            <a:extLst>
              <a:ext uri="{FF2B5EF4-FFF2-40B4-BE49-F238E27FC236}">
                <a16:creationId xmlns:a16="http://schemas.microsoft.com/office/drawing/2014/main" id="{4EA11518-C7CC-DBF0-07EB-3CC8355E9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110944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5D1D8AA0-7D5B-C4ED-3417-E4B1683E77E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8456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41FF-60D5-D60C-1365-FE413DFD9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5137-ABC4-39A8-F54A-8882972B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D499528C-FC25-31DC-637A-044B0E495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46413"/>
          <a:stretch/>
        </p:blipFill>
        <p:spPr>
          <a:xfrm>
            <a:off x="838072" y="2037523"/>
            <a:ext cx="7252380" cy="3796748"/>
          </a:xfrm>
        </p:spPr>
      </p:pic>
      <p:pic>
        <p:nvPicPr>
          <p:cNvPr id="3" name="Picture 2" descr="A line drawing of a cat&#10;&#10;Description automatically generated">
            <a:extLst>
              <a:ext uri="{FF2B5EF4-FFF2-40B4-BE49-F238E27FC236}">
                <a16:creationId xmlns:a16="http://schemas.microsoft.com/office/drawing/2014/main" id="{D88C3D36-EE56-BF9E-329B-7C88DEA0A3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054217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B7CA-FD68-6F23-272A-39E1FB89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95306-075D-5AE5-362B-5353D8D43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1894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4C9A3-4E66-690C-788C-96B55D83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A0C2D-F928-9182-F227-DA99C1D1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Predicting Future Hare Populations with Lynxes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2D078E-15D3-2BF2-3D1F-478BF0891019}"/>
                  </a:ext>
                </a:extLst>
              </p:cNvPr>
              <p:cNvSpPr txBox="1"/>
              <p:nvPr/>
            </p:nvSpPr>
            <p:spPr>
              <a:xfrm>
                <a:off x="-145550" y="1740397"/>
                <a:ext cx="9144000" cy="18783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Future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  <m: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urrent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  <m: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latin typeface="Cambria Math" panose="02040503050406030204" pitchFamily="18" charset="0"/>
                        </a:rPr>
                        <m:t>+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sz="2400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irth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Rate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latin typeface="Cambria Math" panose="02040503050406030204" pitchFamily="18" charset="0"/>
                        </a:rPr>
                        <m:t>∗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urrent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  <m: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</m:oMath>
                  </m:oMathPara>
                </a14:m>
                <a:endParaRPr lang="en-IE" sz="2400" kern="100" dirty="0">
                  <a:latin typeface="Helvetica" pitchFamily="2" charset="0"/>
                </a:endParaRPr>
              </a:p>
              <a:p>
                <a:pPr algn="ctr"/>
                <a:endParaRPr lang="en-IE" sz="3600" kern="100" dirty="0">
                  <a:latin typeface="Helvetica" pitchFamily="2" charset="0"/>
                </a:endParaRPr>
              </a:p>
              <a:p>
                <a:pPr algn="ctr"/>
                <a:r>
                  <a:rPr lang="en-IE" sz="3600" kern="100" dirty="0">
                    <a:solidFill>
                      <a:srgbClr val="FF0000"/>
                    </a:solidFill>
                    <a:latin typeface="Helvetica" pitchFamily="2" charset="0"/>
                  </a:rPr>
                  <a:t>H</a:t>
                </a:r>
                <a:r>
                  <a:rPr lang="en-IE" sz="3600" kern="100" dirty="0">
                    <a:latin typeface="Helvetica" pitchFamily="2" charset="0"/>
                  </a:rPr>
                  <a:t>=</a:t>
                </a:r>
                <a:r>
                  <a:rPr lang="en-IE" sz="3600" kern="100" dirty="0" err="1">
                    <a:solidFill>
                      <a:srgbClr val="92D050"/>
                    </a:solidFill>
                    <a:latin typeface="Helvetica" pitchFamily="2" charset="0"/>
                  </a:rPr>
                  <a:t>H</a:t>
                </a:r>
                <a:r>
                  <a:rPr lang="en-IE" sz="3600" kern="100" dirty="0" err="1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+</a:t>
                </a:r>
                <a:r>
                  <a:rPr lang="en-IE" sz="3600" kern="100" dirty="0" err="1">
                    <a:solidFill>
                      <a:srgbClr val="00B0F0"/>
                    </a:solidFill>
                    <a:latin typeface="Helvetica" pitchFamily="2" charset="0"/>
                  </a:rPr>
                  <a:t>r</a:t>
                </a:r>
                <a:r>
                  <a:rPr lang="en-IE" sz="3600" kern="100" baseline="-25000" dirty="0" err="1">
                    <a:solidFill>
                      <a:srgbClr val="00B0F0"/>
                    </a:solidFill>
                    <a:latin typeface="Helvetica" pitchFamily="2" charset="0"/>
                  </a:rPr>
                  <a:t>Birth</a:t>
                </a:r>
                <a:r>
                  <a:rPr lang="en-IE" sz="3600" kern="100" dirty="0" err="1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H</a:t>
                </a:r>
                <a:endParaRPr lang="en-IE" sz="3600" kern="100" dirty="0">
                  <a:solidFill>
                    <a:srgbClr val="92D05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2D078E-15D3-2BF2-3D1F-478BF0891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550" y="1740397"/>
                <a:ext cx="9144000" cy="1878399"/>
              </a:xfrm>
              <a:prstGeom prst="rect">
                <a:avLst/>
              </a:prstGeom>
              <a:blipFill>
                <a:blip r:embed="rId2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black and pink circle with a black arrow&#10;&#10;AI-generated content may be incorrect.">
            <a:extLst>
              <a:ext uri="{FF2B5EF4-FFF2-40B4-BE49-F238E27FC236}">
                <a16:creationId xmlns:a16="http://schemas.microsoft.com/office/drawing/2014/main" id="{4B4444AB-1533-82C2-3184-1736F26AF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19" r="-1562"/>
          <a:stretch>
            <a:fillRect/>
          </a:stretch>
        </p:blipFill>
        <p:spPr>
          <a:xfrm>
            <a:off x="3403600" y="4503420"/>
            <a:ext cx="1778000" cy="1041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0C63F0-5321-AD27-A9FC-BEA930FA2941}"/>
              </a:ext>
            </a:extLst>
          </p:cNvPr>
          <p:cNvSpPr txBox="1"/>
          <p:nvPr/>
        </p:nvSpPr>
        <p:spPr>
          <a:xfrm>
            <a:off x="2643640" y="4717534"/>
            <a:ext cx="759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kern="100" dirty="0" err="1">
                <a:solidFill>
                  <a:srgbClr val="00B0F0"/>
                </a:solidFill>
                <a:latin typeface="Helvetica" pitchFamily="2" charset="0"/>
              </a:rPr>
              <a:t>r</a:t>
            </a:r>
            <a:r>
              <a:rPr lang="en-IE" sz="2400" kern="100" baseline="-25000" dirty="0" err="1">
                <a:solidFill>
                  <a:srgbClr val="00B0F0"/>
                </a:solidFill>
                <a:latin typeface="Helvetica" pitchFamily="2" charset="0"/>
              </a:rPr>
              <a:t>Birth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57584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1501-B003-6368-CBEF-6364376C5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1279C-F6C8-D9CD-96D6-89BA7FF1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Predicting Future Hare Populations with Lynxes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171E82-DDBE-9247-4134-1D27B20D1CF8}"/>
                  </a:ext>
                </a:extLst>
              </p:cNvPr>
              <p:cNvSpPr txBox="1"/>
              <p:nvPr/>
            </p:nvSpPr>
            <p:spPr>
              <a:xfrm>
                <a:off x="-145550" y="1740397"/>
                <a:ext cx="9144000" cy="1732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b="0" i="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Future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  <m:r>
                              <a:rPr lang="en-IE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b="0" i="0" kern="100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</m:e>
                        </m:mr>
                        <m:mr>
                          <m:e>
                            <m:r>
                              <a:rPr lang="en-IE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b="0" i="0" kern="100" smtClean="0">
                          <a:latin typeface="Cambria Math" panose="02040503050406030204" pitchFamily="18" charset="0"/>
                        </a:rPr>
                        <m:t>+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en-IE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irth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Rate</m:t>
                            </m:r>
                          </m:e>
                        </m:mr>
                      </m:m>
                      <m:r>
                        <a:rPr lang="en-IE" b="0" i="0" kern="100" smtClean="0">
                          <a:latin typeface="Cambria Math" panose="02040503050406030204" pitchFamily="18" charset="0"/>
                        </a:rPr>
                        <m:t>∗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</m:e>
                        </m:mr>
                        <m:mr>
                          <m:e>
                            <m:r>
                              <a:rPr lang="en-IE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kern="100">
                          <a:latin typeface="Cambria Math" panose="02040503050406030204" pitchFamily="18" charset="0"/>
                        </a:rPr>
                        <m:t>+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Eat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Rate</m:t>
                            </m:r>
                          </m:e>
                        </m:mr>
                      </m:m>
                      <m:r>
                        <a:rPr lang="en-IE" kern="100">
                          <a:latin typeface="Cambria Math" panose="02040503050406030204" pitchFamily="18" charset="0"/>
                        </a:rPr>
                        <m:t>∗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</m:e>
                        </m:mr>
                        <m:mr>
                          <m:e>
                            <m: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kern="100">
                          <a:latin typeface="Cambria Math" panose="02040503050406030204" pitchFamily="18" charset="0"/>
                        </a:rPr>
                        <m:t>∗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Lynx</m:t>
                            </m:r>
                          </m:e>
                        </m:mr>
                        <m:mr>
                          <m:e>
                            <m: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</m:oMath>
                  </m:oMathPara>
                </a14:m>
                <a:endParaRPr lang="en-IE" kern="100" dirty="0">
                  <a:latin typeface="Helvetica" pitchFamily="2" charset="0"/>
                </a:endParaRPr>
              </a:p>
              <a:p>
                <a:pPr algn="ctr"/>
                <a:endParaRPr lang="en-IE" sz="3600" kern="100" dirty="0">
                  <a:latin typeface="Helvetica" pitchFamily="2" charset="0"/>
                </a:endParaRPr>
              </a:p>
              <a:p>
                <a:pPr algn="ctr"/>
                <a:r>
                  <a:rPr lang="en-IE" sz="3600" kern="100" dirty="0">
                    <a:solidFill>
                      <a:srgbClr val="FF0000"/>
                    </a:solidFill>
                    <a:latin typeface="Helvetica" pitchFamily="2" charset="0"/>
                  </a:rPr>
                  <a:t>H</a:t>
                </a:r>
                <a:r>
                  <a:rPr lang="en-IE" sz="3600" kern="100" dirty="0">
                    <a:latin typeface="Helvetica" pitchFamily="2" charset="0"/>
                  </a:rPr>
                  <a:t>=</a:t>
                </a:r>
                <a:r>
                  <a:rPr lang="en-IE" sz="3600" kern="100" dirty="0" err="1">
                    <a:solidFill>
                      <a:srgbClr val="92D050"/>
                    </a:solidFill>
                    <a:latin typeface="Helvetica" pitchFamily="2" charset="0"/>
                  </a:rPr>
                  <a:t>H</a:t>
                </a:r>
                <a:r>
                  <a:rPr lang="en-IE" sz="3600" kern="100" dirty="0" err="1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+</a:t>
                </a:r>
                <a:r>
                  <a:rPr lang="en-IE" sz="3600" kern="100" dirty="0" err="1">
                    <a:solidFill>
                      <a:srgbClr val="00B0F0"/>
                    </a:solidFill>
                    <a:latin typeface="Helvetica" pitchFamily="2" charset="0"/>
                  </a:rPr>
                  <a:t>r</a:t>
                </a:r>
                <a:r>
                  <a:rPr lang="en-IE" sz="3600" kern="100" baseline="-25000" dirty="0" err="1">
                    <a:solidFill>
                      <a:srgbClr val="00B0F0"/>
                    </a:solidFill>
                    <a:latin typeface="Helvetica" pitchFamily="2" charset="0"/>
                  </a:rPr>
                  <a:t>Birth</a:t>
                </a:r>
                <a:r>
                  <a:rPr lang="en-IE" sz="3600" kern="100" dirty="0" err="1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H-</a:t>
                </a:r>
                <a:r>
                  <a:rPr lang="en-IE" sz="3600" kern="100" dirty="0" err="1">
                    <a:solidFill>
                      <a:srgbClr val="00B0F0"/>
                    </a:solidFill>
                    <a:effectLst/>
                    <a:latin typeface="Helvetica" pitchFamily="2" charset="0"/>
                  </a:rPr>
                  <a:t>r</a:t>
                </a:r>
                <a:r>
                  <a:rPr lang="en-IE" sz="3600" kern="100" baseline="-25000" dirty="0" err="1">
                    <a:solidFill>
                      <a:srgbClr val="00B0F0"/>
                    </a:solidFill>
                    <a:effectLst/>
                    <a:latin typeface="Helvetica" pitchFamily="2" charset="0"/>
                  </a:rPr>
                  <a:t>eat</a:t>
                </a:r>
                <a:r>
                  <a:rPr lang="en-IE" sz="3600" kern="100" dirty="0" err="1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LH</a:t>
                </a:r>
                <a:endParaRPr lang="en-IE" sz="3600" kern="100" dirty="0">
                  <a:solidFill>
                    <a:srgbClr val="92D05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171E82-DDBE-9247-4134-1D27B20D1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550" y="1740397"/>
                <a:ext cx="9144000" cy="1732718"/>
              </a:xfrm>
              <a:prstGeom prst="rect">
                <a:avLst/>
              </a:prstGeom>
              <a:blipFill>
                <a:blip r:embed="rId2"/>
                <a:stretch>
                  <a:fillRect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2855811-69FB-2D0E-8183-3435BC9E4A42}"/>
              </a:ext>
            </a:extLst>
          </p:cNvPr>
          <p:cNvSpPr txBox="1"/>
          <p:nvPr/>
        </p:nvSpPr>
        <p:spPr>
          <a:xfrm>
            <a:off x="1635760" y="4727694"/>
            <a:ext cx="759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kern="100" dirty="0" err="1">
                <a:solidFill>
                  <a:srgbClr val="00B0F0"/>
                </a:solidFill>
                <a:latin typeface="Helvetica" pitchFamily="2" charset="0"/>
              </a:rPr>
              <a:t>r</a:t>
            </a:r>
            <a:r>
              <a:rPr lang="en-IE" sz="2400" kern="100" baseline="-25000" dirty="0" err="1">
                <a:solidFill>
                  <a:srgbClr val="00B0F0"/>
                </a:solidFill>
                <a:latin typeface="Helvetica" pitchFamily="2" charset="0"/>
              </a:rPr>
              <a:t>Birth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4AF7F5-F686-491B-BA22-D4D8BE173FAA}"/>
              </a:ext>
            </a:extLst>
          </p:cNvPr>
          <p:cNvSpPr txBox="1"/>
          <p:nvPr/>
        </p:nvSpPr>
        <p:spPr>
          <a:xfrm>
            <a:off x="4426450" y="5339834"/>
            <a:ext cx="632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kern="100" dirty="0" err="1">
                <a:solidFill>
                  <a:srgbClr val="00B0F0"/>
                </a:solidFill>
                <a:effectLst/>
                <a:latin typeface="Helvetica" pitchFamily="2" charset="0"/>
              </a:rPr>
              <a:t>r</a:t>
            </a:r>
            <a:r>
              <a:rPr lang="en-IE" sz="2400" kern="100" baseline="-25000" dirty="0" err="1">
                <a:solidFill>
                  <a:srgbClr val="00B0F0"/>
                </a:solidFill>
                <a:effectLst/>
                <a:latin typeface="Helvetica" pitchFamily="2" charset="0"/>
              </a:rPr>
              <a:t>eat</a:t>
            </a:r>
            <a:endParaRPr lang="en-US" sz="2400" dirty="0"/>
          </a:p>
        </p:txBody>
      </p:sp>
      <p:pic>
        <p:nvPicPr>
          <p:cNvPr id="4" name="Picture 3" descr="A black and pink circle with a black arrow&#10;&#10;AI-generated content may be incorrect.">
            <a:extLst>
              <a:ext uri="{FF2B5EF4-FFF2-40B4-BE49-F238E27FC236}">
                <a16:creationId xmlns:a16="http://schemas.microsoft.com/office/drawing/2014/main" id="{5B38CE7C-DB24-2ED3-0297-BB620DCCB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969"/>
          <a:stretch>
            <a:fillRect/>
          </a:stretch>
        </p:blipFill>
        <p:spPr>
          <a:xfrm>
            <a:off x="2230120" y="4468531"/>
            <a:ext cx="4683760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269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75BC9-84F1-9926-4F6E-95A720A8D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A9A1-8372-DD69-E47E-B7B9D6D7C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Predicting Future Hare Populations with Lynxes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F16F30-CEA6-17E9-E392-CD6884A0A013}"/>
                  </a:ext>
                </a:extLst>
              </p:cNvPr>
              <p:cNvSpPr txBox="1"/>
              <p:nvPr/>
            </p:nvSpPr>
            <p:spPr>
              <a:xfrm>
                <a:off x="-145550" y="1740397"/>
                <a:ext cx="9144000" cy="18783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Future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Lynx</m:t>
                            </m:r>
                            <m: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urrent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Lynx</m:t>
                            </m:r>
                            <m: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Death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Rate</m:t>
                            </m:r>
                          </m:e>
                        </m:mr>
                      </m:m>
                      <m:r>
                        <a:rPr lang="en-IE" sz="2400" b="0" i="0" kern="100" smtClean="0">
                          <a:latin typeface="Cambria Math" panose="02040503050406030204" pitchFamily="18" charset="0"/>
                        </a:rPr>
                        <m:t>∗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sz="2400" i="1" kern="10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urrent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sz="2400" b="0" i="0" kern="10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Lynx</m:t>
                            </m:r>
                            <m: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sz="2400" b="0" i="0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</m:oMath>
                  </m:oMathPara>
                </a14:m>
                <a:endParaRPr lang="en-IE" sz="2400" kern="100" dirty="0">
                  <a:latin typeface="Helvetica" pitchFamily="2" charset="0"/>
                </a:endParaRPr>
              </a:p>
              <a:p>
                <a:pPr algn="ctr"/>
                <a:endParaRPr lang="en-IE" sz="3600" kern="100" dirty="0">
                  <a:latin typeface="Helvetica" pitchFamily="2" charset="0"/>
                </a:endParaRPr>
              </a:p>
              <a:p>
                <a:pPr algn="ctr"/>
                <a:r>
                  <a:rPr lang="en-IE" sz="3600" kern="100" dirty="0">
                    <a:solidFill>
                      <a:srgbClr val="FF0000"/>
                    </a:solidFill>
                    <a:latin typeface="Helvetica" pitchFamily="2" charset="0"/>
                  </a:rPr>
                  <a:t>L</a:t>
                </a:r>
                <a:r>
                  <a:rPr lang="en-IE" sz="3600" kern="100" dirty="0">
                    <a:latin typeface="Helvetica" pitchFamily="2" charset="0"/>
                  </a:rPr>
                  <a:t>=</a:t>
                </a:r>
                <a:r>
                  <a:rPr lang="en-IE" sz="3600" kern="100" dirty="0">
                    <a:solidFill>
                      <a:srgbClr val="92D050"/>
                    </a:solidFill>
                    <a:latin typeface="Helvetica" pitchFamily="2" charset="0"/>
                  </a:rPr>
                  <a:t>L</a:t>
                </a:r>
                <a:r>
                  <a:rPr lang="en-IE" sz="3600" kern="10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-</a:t>
                </a:r>
                <a:r>
                  <a:rPr lang="en-IE" sz="3600" kern="100" dirty="0" err="1">
                    <a:solidFill>
                      <a:srgbClr val="00B0F0"/>
                    </a:solidFill>
                    <a:latin typeface="Helvetica" pitchFamily="2" charset="0"/>
                  </a:rPr>
                  <a:t>r</a:t>
                </a:r>
                <a:r>
                  <a:rPr lang="en-IE" sz="3600" kern="100" baseline="-25000" dirty="0" err="1">
                    <a:solidFill>
                      <a:srgbClr val="00B0F0"/>
                    </a:solidFill>
                    <a:latin typeface="Helvetica" pitchFamily="2" charset="0"/>
                  </a:rPr>
                  <a:t>Death</a:t>
                </a:r>
                <a:r>
                  <a:rPr lang="en-IE" sz="3600" kern="100" dirty="0" err="1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L</a:t>
                </a:r>
                <a:endParaRPr lang="en-IE" sz="3600" kern="100" dirty="0">
                  <a:solidFill>
                    <a:srgbClr val="92D05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F16F30-CEA6-17E9-E392-CD6884A0A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550" y="1740397"/>
                <a:ext cx="9144000" cy="1878399"/>
              </a:xfrm>
              <a:prstGeom prst="rect">
                <a:avLst/>
              </a:prstGeom>
              <a:blipFill>
                <a:blip r:embed="rId2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pink circle with black text&#10;&#10;AI-generated content may be incorrect.">
            <a:extLst>
              <a:ext uri="{FF2B5EF4-FFF2-40B4-BE49-F238E27FC236}">
                <a16:creationId xmlns:a16="http://schemas.microsoft.com/office/drawing/2014/main" id="{D8CEF7D7-D9CF-BCFC-8FED-7C9E1522D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88"/>
          <a:stretch>
            <a:fillRect/>
          </a:stretch>
        </p:blipFill>
        <p:spPr>
          <a:xfrm>
            <a:off x="3628775" y="4442460"/>
            <a:ext cx="1886450" cy="1041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659EB0-595C-BFF8-3770-5ED564C968F6}"/>
              </a:ext>
            </a:extLst>
          </p:cNvPr>
          <p:cNvSpPr txBox="1"/>
          <p:nvPr/>
        </p:nvSpPr>
        <p:spPr>
          <a:xfrm>
            <a:off x="5290820" y="4732327"/>
            <a:ext cx="927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kern="100" dirty="0" err="1">
                <a:solidFill>
                  <a:srgbClr val="00B0F0"/>
                </a:solidFill>
                <a:latin typeface="Helvetica" pitchFamily="2" charset="0"/>
              </a:rPr>
              <a:t>r</a:t>
            </a:r>
            <a:r>
              <a:rPr lang="en-IE" sz="2400" kern="100" baseline="-25000" dirty="0" err="1">
                <a:solidFill>
                  <a:srgbClr val="00B0F0"/>
                </a:solidFill>
                <a:latin typeface="Helvetica" pitchFamily="2" charset="0"/>
              </a:rPr>
              <a:t>Death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37901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C1CD8-024C-CB1C-C542-CC921336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E1EA-A752-AC6E-7200-648DC9E0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Predicting Future Lynx Populations with Hares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86AAC1-4C54-48C0-B7DB-57F2601F264B}"/>
                  </a:ext>
                </a:extLst>
              </p:cNvPr>
              <p:cNvSpPr txBox="1"/>
              <p:nvPr/>
            </p:nvSpPr>
            <p:spPr>
              <a:xfrm>
                <a:off x="-145550" y="1740397"/>
                <a:ext cx="9144000" cy="1966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Future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Lynx</m:t>
                            </m:r>
                            <m:r>
                              <a:rPr lang="en-IE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kern="10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ynx</m:t>
                            </m:r>
                          </m:e>
                        </m:mr>
                        <m:mr>
                          <m:e>
                            <m: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i="1" kern="100">
                          <a:latin typeface="Cambria Math" panose="02040503050406030204" pitchFamily="18" charset="0"/>
                        </a:rPr>
                        <m:t>−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Death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Rate</m:t>
                            </m:r>
                          </m:e>
                        </m:mr>
                      </m:m>
                      <m:r>
                        <a:rPr lang="en-IE" kern="100">
                          <a:latin typeface="Cambria Math" panose="02040503050406030204" pitchFamily="18" charset="0"/>
                        </a:rPr>
                        <m:t>∗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Lynx</m:t>
                            </m:r>
                          </m:e>
                        </m:mr>
                        <m:mr>
                          <m:e>
                            <m: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kern="100">
                          <a:latin typeface="Cambria Math" panose="02040503050406030204" pitchFamily="18" charset="0"/>
                        </a:rPr>
                        <m:t>+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Food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Rate</m:t>
                            </m:r>
                          </m:e>
                        </m:mr>
                      </m:m>
                      <m:r>
                        <a:rPr lang="en-IE" kern="100">
                          <a:latin typeface="Cambria Math" panose="02040503050406030204" pitchFamily="18" charset="0"/>
                        </a:rPr>
                        <m:t>∗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Hare</m:t>
                            </m:r>
                          </m:e>
                        </m:mr>
                        <m:mr>
                          <m:e>
                            <m: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  <m:r>
                        <a:rPr lang="en-IE" kern="100">
                          <a:latin typeface="Cambria Math" panose="02040503050406030204" pitchFamily="18" charset="0"/>
                        </a:rPr>
                        <m:t>∗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E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Lynx</m:t>
                            </m:r>
                          </m:e>
                        </m:mr>
                        <m:mr>
                          <m:e>
                            <m: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E" kern="1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Population</m:t>
                            </m:r>
                          </m:e>
                        </m:mr>
                      </m:m>
                    </m:oMath>
                  </m:oMathPara>
                </a14:m>
                <a:endParaRPr lang="en-IE" kern="100" dirty="0">
                  <a:latin typeface="Helvetica" pitchFamily="2" charset="0"/>
                </a:endParaRPr>
              </a:p>
              <a:p>
                <a:pPr algn="ctr"/>
                <a:endParaRPr lang="en-IE" sz="4400" kern="100" dirty="0">
                  <a:latin typeface="Helvetica" pitchFamily="2" charset="0"/>
                </a:endParaRPr>
              </a:p>
              <a:p>
                <a:pPr algn="ctr"/>
                <a:r>
                  <a:rPr lang="en-IE" sz="4400" kern="100" dirty="0">
                    <a:solidFill>
                      <a:srgbClr val="FF0000"/>
                    </a:solidFill>
                    <a:latin typeface="Helvetica" pitchFamily="2" charset="0"/>
                  </a:rPr>
                  <a:t>L</a:t>
                </a:r>
                <a:r>
                  <a:rPr lang="en-IE" sz="4400" kern="100" dirty="0">
                    <a:latin typeface="Helvetica" pitchFamily="2" charset="0"/>
                  </a:rPr>
                  <a:t>=</a:t>
                </a:r>
                <a:r>
                  <a:rPr lang="en-IE" sz="4400" kern="100" dirty="0" err="1">
                    <a:solidFill>
                      <a:srgbClr val="92D050"/>
                    </a:solidFill>
                    <a:latin typeface="Helvetica" pitchFamily="2" charset="0"/>
                  </a:rPr>
                  <a:t>L</a:t>
                </a:r>
                <a:r>
                  <a:rPr lang="en-IE" sz="4400" kern="100" dirty="0" err="1">
                    <a:latin typeface="Helvetica" pitchFamily="2" charset="0"/>
                  </a:rPr>
                  <a:t>-</a:t>
                </a:r>
                <a:r>
                  <a:rPr lang="en-IE" sz="4400" kern="100" dirty="0" err="1">
                    <a:solidFill>
                      <a:srgbClr val="00B0F0"/>
                    </a:solidFill>
                    <a:latin typeface="Helvetica" pitchFamily="2" charset="0"/>
                  </a:rPr>
                  <a:t>r</a:t>
                </a:r>
                <a:r>
                  <a:rPr lang="en-IE" sz="4400" kern="100" baseline="-25000" dirty="0" err="1">
                    <a:solidFill>
                      <a:srgbClr val="00B0F0"/>
                    </a:solidFill>
                    <a:latin typeface="Helvetica" pitchFamily="2" charset="0"/>
                  </a:rPr>
                  <a:t>Death</a:t>
                </a:r>
                <a:r>
                  <a:rPr lang="en-IE" sz="4400" kern="100" dirty="0" err="1">
                    <a:solidFill>
                      <a:srgbClr val="92D050"/>
                    </a:solidFill>
                    <a:latin typeface="Helvetica" pitchFamily="2" charset="0"/>
                  </a:rPr>
                  <a:t>L+</a:t>
                </a:r>
                <a:r>
                  <a:rPr lang="en-IE" sz="4400" kern="100" dirty="0" err="1">
                    <a:solidFill>
                      <a:srgbClr val="00B0F0"/>
                    </a:solidFill>
                    <a:latin typeface="Helvetica" pitchFamily="2" charset="0"/>
                  </a:rPr>
                  <a:t>r</a:t>
                </a:r>
                <a:r>
                  <a:rPr lang="en-IE" sz="4400" kern="100" baseline="-25000" dirty="0" err="1">
                    <a:solidFill>
                      <a:srgbClr val="00B0F0"/>
                    </a:solidFill>
                    <a:latin typeface="Helvetica" pitchFamily="2" charset="0"/>
                  </a:rPr>
                  <a:t>Food</a:t>
                </a:r>
                <a:r>
                  <a:rPr lang="en-IE" sz="4400" kern="100" dirty="0" err="1">
                    <a:solidFill>
                      <a:srgbClr val="92D050"/>
                    </a:solidFill>
                    <a:latin typeface="Helvetica" pitchFamily="2" charset="0"/>
                  </a:rPr>
                  <a:t>LH</a:t>
                </a:r>
                <a:endParaRPr lang="en-IE" sz="4400" kern="100" dirty="0">
                  <a:solidFill>
                    <a:srgbClr val="92D05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86AAC1-4C54-48C0-B7DB-57F2601F2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550" y="1740397"/>
                <a:ext cx="9144000" cy="1966820"/>
              </a:xfrm>
              <a:prstGeom prst="rect">
                <a:avLst/>
              </a:prstGeom>
              <a:blipFill>
                <a:blip r:embed="rId2"/>
                <a:stretch>
                  <a:fillRect b="-14103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pink circle with black text&#10;&#10;AI-generated content may be incorrect.">
            <a:extLst>
              <a:ext uri="{FF2B5EF4-FFF2-40B4-BE49-F238E27FC236}">
                <a16:creationId xmlns:a16="http://schemas.microsoft.com/office/drawing/2014/main" id="{211090B3-586C-ABF6-CB95-24A41C9D8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355"/>
          <a:stretch>
            <a:fillRect/>
          </a:stretch>
        </p:blipFill>
        <p:spPr>
          <a:xfrm>
            <a:off x="2587490" y="4665980"/>
            <a:ext cx="4463550" cy="1041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738CBF-481D-7508-EDF3-8C671C58C8D0}"/>
              </a:ext>
            </a:extLst>
          </p:cNvPr>
          <p:cNvSpPr txBox="1"/>
          <p:nvPr/>
        </p:nvSpPr>
        <p:spPr>
          <a:xfrm>
            <a:off x="7051040" y="5002014"/>
            <a:ext cx="117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kern="100" dirty="0" err="1">
                <a:solidFill>
                  <a:srgbClr val="00B0F0"/>
                </a:solidFill>
                <a:latin typeface="Helvetica" pitchFamily="2" charset="0"/>
              </a:rPr>
              <a:t>r</a:t>
            </a:r>
            <a:r>
              <a:rPr lang="en-IE" sz="2400" kern="100" baseline="-25000" dirty="0" err="1">
                <a:solidFill>
                  <a:srgbClr val="00B0F0"/>
                </a:solidFill>
                <a:latin typeface="Helvetica" pitchFamily="2" charset="0"/>
              </a:rPr>
              <a:t>Death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89BF6-8DF5-6C7A-F4EA-2E390FE8F206}"/>
              </a:ext>
            </a:extLst>
          </p:cNvPr>
          <p:cNvSpPr txBox="1"/>
          <p:nvPr/>
        </p:nvSpPr>
        <p:spPr>
          <a:xfrm>
            <a:off x="4053840" y="4361934"/>
            <a:ext cx="955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kern="100" dirty="0" err="1">
                <a:solidFill>
                  <a:srgbClr val="00B0F0"/>
                </a:solidFill>
                <a:latin typeface="Helvetica" pitchFamily="2" charset="0"/>
              </a:rPr>
              <a:t>r</a:t>
            </a:r>
            <a:r>
              <a:rPr lang="en-IE" sz="2400" kern="100" baseline="-25000" dirty="0" err="1">
                <a:solidFill>
                  <a:srgbClr val="00B0F0"/>
                </a:solidFill>
                <a:latin typeface="Helvetica" pitchFamily="2" charset="0"/>
              </a:rPr>
              <a:t>Food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1210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9729-B40C-3B45-22FA-280F0102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4F71-0FEE-5105-A447-318EF2E8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Predicting Future Hare and Lynx Populations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EC3B5-3222-57D8-5708-5A0346644BE5}"/>
              </a:ext>
            </a:extLst>
          </p:cNvPr>
          <p:cNvSpPr txBox="1"/>
          <p:nvPr/>
        </p:nvSpPr>
        <p:spPr>
          <a:xfrm>
            <a:off x="4465122" y="4790030"/>
            <a:ext cx="36972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kern="100" dirty="0">
                <a:latin typeface="Helvetica" pitchFamily="2" charset="0"/>
              </a:rPr>
              <a:t>Lynx</a:t>
            </a:r>
          </a:p>
          <a:p>
            <a:pPr algn="ctr"/>
            <a:r>
              <a:rPr lang="en-IE" sz="3600" kern="100" dirty="0">
                <a:solidFill>
                  <a:srgbClr val="FF0000"/>
                </a:solidFill>
                <a:latin typeface="Helvetica" pitchFamily="2" charset="0"/>
              </a:rPr>
              <a:t>L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 err="1">
                <a:solidFill>
                  <a:srgbClr val="00B0F0"/>
                </a:solidFill>
                <a:latin typeface="Helvetica" pitchFamily="2" charset="0"/>
              </a:rPr>
              <a:t>r</a:t>
            </a:r>
            <a:r>
              <a:rPr lang="en-IE" sz="3600" kern="100" baseline="-25000" dirty="0" err="1">
                <a:solidFill>
                  <a:srgbClr val="00B0F0"/>
                </a:solidFill>
                <a:latin typeface="Helvetica" pitchFamily="2" charset="0"/>
              </a:rPr>
              <a:t>Death</a:t>
            </a:r>
            <a:r>
              <a:rPr lang="en-IE" sz="3600" kern="100" dirty="0">
                <a:latin typeface="Helvetica" pitchFamily="2" charset="0"/>
              </a:rPr>
              <a:t>*</a:t>
            </a:r>
            <a:r>
              <a:rPr lang="en-IE" sz="3600" kern="100" dirty="0">
                <a:solidFill>
                  <a:srgbClr val="92D050"/>
                </a:solidFill>
                <a:latin typeface="Helvetica" pitchFamily="2" charset="0"/>
              </a:rPr>
              <a:t>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3AB82-9ECD-75FD-C70C-6250A62D8E95}"/>
              </a:ext>
            </a:extLst>
          </p:cNvPr>
          <p:cNvSpPr txBox="1"/>
          <p:nvPr/>
        </p:nvSpPr>
        <p:spPr>
          <a:xfrm>
            <a:off x="-356261" y="2084544"/>
            <a:ext cx="64690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kern="100" dirty="0">
                <a:latin typeface="Helvetica" pitchFamily="2" charset="0"/>
              </a:rPr>
              <a:t>Hare</a:t>
            </a:r>
          </a:p>
          <a:p>
            <a:pPr algn="ctr"/>
            <a:r>
              <a:rPr lang="en-IE" sz="3600" kern="100" dirty="0">
                <a:solidFill>
                  <a:srgbClr val="FF0000"/>
                </a:solidFill>
                <a:latin typeface="Helvetica" pitchFamily="2" charset="0"/>
              </a:rPr>
              <a:t>H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 err="1">
                <a:solidFill>
                  <a:srgbClr val="92D050"/>
                </a:solidFill>
                <a:latin typeface="Helvetica" pitchFamily="2" charset="0"/>
              </a:rPr>
              <a:t>H</a:t>
            </a:r>
            <a:r>
              <a:rPr lang="en-IE" sz="3600" kern="100" dirty="0" err="1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 err="1">
                <a:solidFill>
                  <a:srgbClr val="00B0F0"/>
                </a:solidFill>
                <a:latin typeface="Helvetica" pitchFamily="2" charset="0"/>
              </a:rPr>
              <a:t>r</a:t>
            </a:r>
            <a:r>
              <a:rPr lang="en-IE" sz="3600" kern="100" baseline="-25000" dirty="0" err="1">
                <a:solidFill>
                  <a:srgbClr val="00B0F0"/>
                </a:solidFill>
                <a:latin typeface="Helvetica" pitchFamily="2" charset="0"/>
              </a:rPr>
              <a:t>Birth</a:t>
            </a:r>
            <a:r>
              <a:rPr lang="en-IE" sz="3600" kern="100" dirty="0">
                <a:latin typeface="Helvetica" pitchFamily="2" charset="0"/>
              </a:rPr>
              <a:t>*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endParaRPr lang="en-IE" sz="3600" kern="100" dirty="0">
              <a:solidFill>
                <a:srgbClr val="92D050"/>
              </a:solidFill>
              <a:latin typeface="Helvetica" pitchFamily="2" charset="0"/>
            </a:endParaRPr>
          </a:p>
        </p:txBody>
      </p:sp>
      <p:pic>
        <p:nvPicPr>
          <p:cNvPr id="4" name="Picture 3" descr="A line drawing of a cat&#10;&#10;Description automatically generated">
            <a:extLst>
              <a:ext uri="{FF2B5EF4-FFF2-40B4-BE49-F238E27FC236}">
                <a16:creationId xmlns:a16="http://schemas.microsoft.com/office/drawing/2014/main" id="{174D8DCA-5FD1-00FE-3141-0A4BD24381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964353" y="5125946"/>
            <a:ext cx="1090527" cy="727386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213BD510-BAA3-4FA1-C11A-4C83AB01AB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0694"/>
            <a:ext cx="1229041" cy="686033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779B87D-B38E-AD17-E14C-CC57A6465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3429000"/>
            <a:ext cx="65024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476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01DE2-1E34-4931-32E4-CAE2835FB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BBB0F-8944-575C-89BC-A22A901FD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Predicting Many Years in the Future a year at a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5EA7E3-79E5-0505-D02A-4C2D102BA190}"/>
                  </a:ext>
                </a:extLst>
              </p:cNvPr>
              <p:cNvSpPr txBox="1"/>
              <p:nvPr/>
            </p:nvSpPr>
            <p:spPr>
              <a:xfrm>
                <a:off x="3503220" y="4959921"/>
                <a:ext cx="564077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E" sz="3600" kern="100" dirty="0">
                    <a:latin typeface="Helvetica" pitchFamily="2" charset="0"/>
                  </a:rPr>
                  <a:t>Lynx</a:t>
                </a:r>
              </a:p>
              <a:p>
                <a:pPr algn="ctr"/>
                <a:r>
                  <a:rPr lang="en-IE" sz="3600" kern="100" dirty="0">
                    <a:solidFill>
                      <a:srgbClr val="FF0000"/>
                    </a:solidFill>
                    <a:latin typeface="Helvetica" pitchFamily="2" charset="0"/>
                  </a:rPr>
                  <a:t>L</a:t>
                </a:r>
                <a:r>
                  <a:rPr lang="en-IE" sz="3600" kern="100" dirty="0">
                    <a:latin typeface="Helvetica" pitchFamily="2" charset="0"/>
                  </a:rPr>
                  <a:t>=</a:t>
                </a:r>
                <a:r>
                  <a:rPr lang="en-IE" sz="3600" kern="100" dirty="0">
                    <a:solidFill>
                      <a:srgbClr val="92D050"/>
                    </a:solidFill>
                    <a:latin typeface="Helvetica" pitchFamily="2" charset="0"/>
                  </a:rPr>
                  <a:t>L</a:t>
                </a:r>
                <a:r>
                  <a:rPr lang="en-IE" sz="3600" kern="100" dirty="0">
                    <a:latin typeface="Helvetica" pitchFamily="2" charset="0"/>
                  </a:rPr>
                  <a:t>+(-</a:t>
                </a:r>
                <a:r>
                  <a:rPr lang="en-IE" sz="3600" kern="100" dirty="0" err="1">
                    <a:solidFill>
                      <a:srgbClr val="00B0F0"/>
                    </a:solidFill>
                    <a:latin typeface="Helvetica" pitchFamily="2" charset="0"/>
                  </a:rPr>
                  <a:t>r</a:t>
                </a:r>
                <a:r>
                  <a:rPr lang="en-IE" sz="3600" kern="100" baseline="-25000" dirty="0" err="1">
                    <a:solidFill>
                      <a:srgbClr val="00B0F0"/>
                    </a:solidFill>
                    <a:latin typeface="Helvetica" pitchFamily="2" charset="0"/>
                  </a:rPr>
                  <a:t>Death</a:t>
                </a:r>
                <a:r>
                  <a:rPr lang="en-IE" sz="3600" kern="100" dirty="0">
                    <a:latin typeface="Helvetica" pitchFamily="2" charset="0"/>
                  </a:rPr>
                  <a:t>*</a:t>
                </a:r>
                <a:r>
                  <a:rPr lang="en-IE" sz="3600" kern="100" dirty="0">
                    <a:solidFill>
                      <a:srgbClr val="92D050"/>
                    </a:solidFill>
                    <a:latin typeface="Helvetica" pitchFamily="2" charset="0"/>
                  </a:rPr>
                  <a:t>L</a:t>
                </a:r>
                <a:r>
                  <a:rPr lang="en-IE" sz="3600" kern="1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E" sz="3600" b="0" i="0" kern="100" dirty="0" smtClean="0">
                        <a:latin typeface="Helvetica" pitchFamily="2" charset="0"/>
                      </a:rPr>
                      <m:t>+</m:t>
                    </m:r>
                    <m:r>
                      <m:rPr>
                        <m:nor/>
                      </m:rPr>
                      <a:rPr lang="en-IE" sz="3600" kern="100" dirty="0">
                        <a:solidFill>
                          <a:srgbClr val="00B0F0"/>
                        </a:solidFill>
                        <a:latin typeface="Helvetica" pitchFamily="2" charset="0"/>
                      </a:rPr>
                      <m:t>r</m:t>
                    </m:r>
                    <m:r>
                      <m:rPr>
                        <m:nor/>
                      </m:rPr>
                      <a:rPr lang="en-IE" sz="3600" b="0" i="0" kern="100" baseline="-25000" dirty="0" smtClean="0">
                        <a:solidFill>
                          <a:srgbClr val="00B0F0"/>
                        </a:solidFill>
                        <a:latin typeface="Helvetica" pitchFamily="2" charset="0"/>
                      </a:rPr>
                      <m:t>Food</m:t>
                    </m:r>
                    <m:r>
                      <m:rPr>
                        <m:nor/>
                      </m:rPr>
                      <a:rPr lang="en-IE" sz="3600" kern="100" dirty="0">
                        <a:latin typeface="Helvetica" pitchFamily="2" charset="0"/>
                      </a:rPr>
                      <m:t>∗</m:t>
                    </m:r>
                    <m:r>
                      <m:rPr>
                        <m:nor/>
                      </m:rPr>
                      <a:rPr lang="en-IE" sz="36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H</m:t>
                    </m:r>
                    <m:r>
                      <m:rPr>
                        <m:nor/>
                      </m:rPr>
                      <a:rPr lang="en-IE" sz="36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∗</m:t>
                    </m:r>
                    <m:r>
                      <m:rPr>
                        <m:nor/>
                      </m:rPr>
                      <a:rPr lang="en-IE" sz="36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L</m:t>
                    </m:r>
                  </m:oMath>
                </a14:m>
                <a:r>
                  <a:rPr lang="en-IE" sz="3600" kern="100" dirty="0">
                    <a:latin typeface="Helvetica" pitchFamily="2" charset="0"/>
                  </a:rPr>
                  <a:t>)</a:t>
                </a:r>
                <a:endParaRPr lang="en-IE" sz="3600" kern="100" dirty="0">
                  <a:solidFill>
                    <a:srgbClr val="92D05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5EA7E3-79E5-0505-D02A-4C2D102BA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220" y="4959921"/>
                <a:ext cx="5640779" cy="1200329"/>
              </a:xfrm>
              <a:prstGeom prst="rect">
                <a:avLst/>
              </a:prstGeom>
              <a:blipFill>
                <a:blip r:embed="rId2"/>
                <a:stretch>
                  <a:fillRect l="-676" t="-7292" r="-676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A81549-0473-69D8-81A0-AA7537298DF7}"/>
                  </a:ext>
                </a:extLst>
              </p:cNvPr>
              <p:cNvSpPr txBox="1"/>
              <p:nvPr/>
            </p:nvSpPr>
            <p:spPr>
              <a:xfrm>
                <a:off x="-145550" y="1740397"/>
                <a:ext cx="503818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E" sz="3600" kern="100" dirty="0">
                    <a:latin typeface="Helvetica" pitchFamily="2" charset="0"/>
                  </a:rPr>
                  <a:t>Hare</a:t>
                </a:r>
              </a:p>
              <a:p>
                <a:pPr algn="ctr"/>
                <a:r>
                  <a:rPr lang="en-IE" sz="3600" kern="100" dirty="0">
                    <a:solidFill>
                      <a:srgbClr val="FF0000"/>
                    </a:solidFill>
                    <a:latin typeface="Helvetica" pitchFamily="2" charset="0"/>
                  </a:rPr>
                  <a:t>H</a:t>
                </a:r>
                <a:r>
                  <a:rPr lang="en-IE" sz="3600" kern="100" dirty="0">
                    <a:latin typeface="Helvetica" pitchFamily="2" charset="0"/>
                  </a:rPr>
                  <a:t>=</a:t>
                </a:r>
                <a:r>
                  <a:rPr lang="en-IE" sz="3600" kern="100" dirty="0">
                    <a:solidFill>
                      <a:srgbClr val="92D050"/>
                    </a:solidFill>
                    <a:latin typeface="Helvetica" pitchFamily="2" charset="0"/>
                  </a:rPr>
                  <a:t>H</a:t>
                </a:r>
                <a:r>
                  <a:rPr lang="en-IE" sz="3600" kern="10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+(</a:t>
                </a:r>
                <a:r>
                  <a:rPr lang="en-IE" sz="3600" kern="100" dirty="0" err="1">
                    <a:solidFill>
                      <a:srgbClr val="00B0F0"/>
                    </a:solidFill>
                    <a:latin typeface="Helvetica" pitchFamily="2" charset="0"/>
                  </a:rPr>
                  <a:t>r</a:t>
                </a:r>
                <a:r>
                  <a:rPr lang="en-IE" sz="3600" kern="100" baseline="-25000" dirty="0" err="1">
                    <a:solidFill>
                      <a:srgbClr val="00B0F0"/>
                    </a:solidFill>
                    <a:latin typeface="Helvetica" pitchFamily="2" charset="0"/>
                  </a:rPr>
                  <a:t>Birth</a:t>
                </a:r>
                <a:r>
                  <a:rPr lang="en-IE" sz="3600" kern="100" dirty="0">
                    <a:latin typeface="Helvetica" pitchFamily="2" charset="0"/>
                  </a:rPr>
                  <a:t>*</a:t>
                </a:r>
                <a:r>
                  <a:rPr lang="en-IE" sz="3600" kern="100" dirty="0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H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E" sz="3600" kern="100" dirty="0">
                        <a:latin typeface="Helvetica" pitchFamily="2" charset="0"/>
                      </a:rPr>
                      <m:t>−</m:t>
                    </m:r>
                    <m:r>
                      <m:rPr>
                        <m:nor/>
                      </m:rPr>
                      <a:rPr lang="en-IE" sz="3600" kern="100" dirty="0">
                        <a:solidFill>
                          <a:srgbClr val="00B0F0"/>
                        </a:solidFill>
                        <a:latin typeface="Helvetica" pitchFamily="2" charset="0"/>
                      </a:rPr>
                      <m:t>r</m:t>
                    </m:r>
                    <m:r>
                      <m:rPr>
                        <m:nor/>
                      </m:rPr>
                      <a:rPr lang="en-IE" sz="3600" kern="100" baseline="-25000" dirty="0">
                        <a:solidFill>
                          <a:srgbClr val="00B0F0"/>
                        </a:solidFill>
                        <a:latin typeface="Helvetica" pitchFamily="2" charset="0"/>
                      </a:rPr>
                      <m:t>Eat</m:t>
                    </m:r>
                    <m:r>
                      <m:rPr>
                        <m:nor/>
                      </m:rPr>
                      <a:rPr lang="en-IE" sz="3600" kern="100" dirty="0">
                        <a:latin typeface="Helvetica" pitchFamily="2" charset="0"/>
                      </a:rPr>
                      <m:t>∗</m:t>
                    </m:r>
                    <m:r>
                      <m:rPr>
                        <m:nor/>
                      </m:rPr>
                      <a:rPr lang="en-IE" sz="36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H</m:t>
                    </m:r>
                    <m:r>
                      <m:rPr>
                        <m:nor/>
                      </m:rPr>
                      <a:rPr lang="en-IE" sz="3600" kern="100" dirty="0" smtClean="0">
                        <a:solidFill>
                          <a:schemeClr val="tx1"/>
                        </a:solidFill>
                        <a:latin typeface="Helvetica" pitchFamily="2" charset="0"/>
                      </a:rPr>
                      <m:t>∗</m:t>
                    </m:r>
                    <m:r>
                      <m:rPr>
                        <m:nor/>
                      </m:rPr>
                      <a:rPr lang="en-IE" sz="36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L</m:t>
                    </m:r>
                    <m:r>
                      <m:rPr>
                        <m:nor/>
                      </m:rPr>
                      <a:rPr lang="en-IE" sz="3600" kern="100" dirty="0" smtClean="0">
                        <a:solidFill>
                          <a:schemeClr val="tx1"/>
                        </a:solidFill>
                        <a:latin typeface="Helvetica" pitchFamily="2" charset="0"/>
                      </a:rPr>
                      <m:t>)</m:t>
                    </m:r>
                  </m:oMath>
                </a14:m>
                <a:endParaRPr lang="en-IE" sz="3600" kern="100" dirty="0">
                  <a:solidFill>
                    <a:srgbClr val="92D05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A81549-0473-69D8-81A0-AA7537298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550" y="1740397"/>
                <a:ext cx="5038184" cy="1200329"/>
              </a:xfrm>
              <a:prstGeom prst="rect">
                <a:avLst/>
              </a:prstGeom>
              <a:blipFill>
                <a:blip r:embed="rId3"/>
                <a:stretch>
                  <a:fillRect l="-2010" t="-7292" r="-754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D525FE61-5956-6E87-DC1D-9E90464958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823200" y="4719811"/>
            <a:ext cx="1090527" cy="727386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9F89A83F-1E4E-40D3-9FC5-D0B632D837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14" y="1563174"/>
            <a:ext cx="1229041" cy="686033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black oval with a white background&#10;&#10;AI-generated content may be incorrect.">
            <a:extLst>
              <a:ext uri="{FF2B5EF4-FFF2-40B4-BE49-F238E27FC236}">
                <a16:creationId xmlns:a16="http://schemas.microsoft.com/office/drawing/2014/main" id="{3DF03346-DEF7-F538-F381-82D04ECB52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3436230"/>
            <a:ext cx="6502400" cy="1257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7D3B72-4890-C199-CA80-A41F00856E29}"/>
              </a:ext>
            </a:extLst>
          </p:cNvPr>
          <p:cNvSpPr txBox="1"/>
          <p:nvPr/>
        </p:nvSpPr>
        <p:spPr>
          <a:xfrm>
            <a:off x="7566878" y="3880214"/>
            <a:ext cx="801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800" kern="100" dirty="0" err="1">
                <a:solidFill>
                  <a:srgbClr val="00B0F0"/>
                </a:solidFill>
                <a:latin typeface="Helvetica" pitchFamily="2" charset="0"/>
              </a:rPr>
              <a:t>r</a:t>
            </a:r>
            <a:r>
              <a:rPr lang="en-IE" sz="1800" kern="100" baseline="-25000" dirty="0" err="1">
                <a:solidFill>
                  <a:srgbClr val="00B0F0"/>
                </a:solidFill>
                <a:latin typeface="Helvetica" pitchFamily="2" charset="0"/>
              </a:rPr>
              <a:t>Death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95995C-5AC7-4707-DD0F-BBCAC77B3BFC}"/>
                  </a:ext>
                </a:extLst>
              </p:cNvPr>
              <p:cNvSpPr txBox="1"/>
              <p:nvPr/>
            </p:nvSpPr>
            <p:spPr>
              <a:xfrm>
                <a:off x="2107870" y="3342303"/>
                <a:ext cx="47145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E" sz="1800" kern="100" dirty="0" smtClean="0">
                          <a:solidFill>
                            <a:srgbClr val="00B0F0"/>
                          </a:solidFill>
                          <a:latin typeface="Helvetica" pitchFamily="2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IE" sz="1800" b="0" i="0" kern="100" baseline="-25000" dirty="0" smtClean="0">
                          <a:solidFill>
                            <a:srgbClr val="00B0F0"/>
                          </a:solidFill>
                          <a:latin typeface="Helvetica" pitchFamily="2" charset="0"/>
                        </a:rPr>
                        <m:t>Food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95995C-5AC7-4707-DD0F-BBCAC77B3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870" y="3342303"/>
                <a:ext cx="471450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1DD2CE-9767-FB13-6EBD-DD00FC5CD069}"/>
                  </a:ext>
                </a:extLst>
              </p:cNvPr>
              <p:cNvSpPr txBox="1"/>
              <p:nvPr/>
            </p:nvSpPr>
            <p:spPr>
              <a:xfrm>
                <a:off x="2214748" y="4375529"/>
                <a:ext cx="47145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E" sz="1800" kern="100" dirty="0" smtClean="0">
                          <a:solidFill>
                            <a:srgbClr val="00B0F0"/>
                          </a:solidFill>
                          <a:latin typeface="Helvetica" pitchFamily="2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IE" sz="1800" b="0" i="0" kern="100" baseline="-25000" dirty="0" smtClean="0">
                          <a:solidFill>
                            <a:srgbClr val="00B0F0"/>
                          </a:solidFill>
                          <a:latin typeface="Helvetica" pitchFamily="2" charset="0"/>
                        </a:rPr>
                        <m:t>Eat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1DD2CE-9767-FB13-6EBD-DD00FC5CD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748" y="4375529"/>
                <a:ext cx="471450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DFB247A-A227-E7F6-0EAF-73B4A82C7801}"/>
              </a:ext>
            </a:extLst>
          </p:cNvPr>
          <p:cNvSpPr txBox="1"/>
          <p:nvPr/>
        </p:nvSpPr>
        <p:spPr>
          <a:xfrm>
            <a:off x="853947" y="3741922"/>
            <a:ext cx="1027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800" kern="100" dirty="0" err="1">
                <a:solidFill>
                  <a:srgbClr val="00B0F0"/>
                </a:solidFill>
                <a:latin typeface="Helvetica" pitchFamily="2" charset="0"/>
              </a:rPr>
              <a:t>r</a:t>
            </a:r>
            <a:r>
              <a:rPr lang="en-IE" sz="1800" kern="100" baseline="-25000" dirty="0" err="1">
                <a:solidFill>
                  <a:srgbClr val="00B0F0"/>
                </a:solidFill>
                <a:latin typeface="Helvetica" pitchFamily="2" charset="0"/>
              </a:rPr>
              <a:t>Birth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3794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0D87-CA1D-F37F-9975-65858714D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55F8A-079E-0605-37ED-B922B10DD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7: Label the Graph</a:t>
            </a:r>
          </a:p>
        </p:txBody>
      </p:sp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F5D0157C-9C5E-9837-11FC-C8492F213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2" t="71435" r="25385" b="14363"/>
          <a:stretch/>
        </p:blipFill>
        <p:spPr bwMode="auto">
          <a:xfrm>
            <a:off x="1037396" y="2782957"/>
            <a:ext cx="7069208" cy="25364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15E3688F-21A0-CF8B-C8E3-33F1AB69455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5063380" y="196106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C44BE6AC-182C-90B2-E253-C47D9799BF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810" y="2027265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 Box 10">
            <a:extLst>
              <a:ext uri="{FF2B5EF4-FFF2-40B4-BE49-F238E27FC236}">
                <a16:creationId xmlns:a16="http://schemas.microsoft.com/office/drawing/2014/main" id="{FF83A191-9602-D43F-1BBB-1FB891959798}"/>
              </a:ext>
            </a:extLst>
          </p:cNvPr>
          <p:cNvSpPr txBox="1"/>
          <p:nvPr/>
        </p:nvSpPr>
        <p:spPr>
          <a:xfrm>
            <a:off x="7502084" y="3600121"/>
            <a:ext cx="604520" cy="48514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Death rate</a:t>
            </a: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FCC8D84F-BC08-4137-EA04-1B8AC662906F}"/>
              </a:ext>
            </a:extLst>
          </p:cNvPr>
          <p:cNvSpPr txBox="1"/>
          <p:nvPr/>
        </p:nvSpPr>
        <p:spPr>
          <a:xfrm>
            <a:off x="826695" y="3566050"/>
            <a:ext cx="604520" cy="48514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Birth rate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86D853B2-FB8E-5901-8202-932C6CE10F1B}"/>
              </a:ext>
            </a:extLst>
          </p:cNvPr>
          <p:cNvSpPr txBox="1"/>
          <p:nvPr/>
        </p:nvSpPr>
        <p:spPr>
          <a:xfrm>
            <a:off x="4269740" y="4330936"/>
            <a:ext cx="604520" cy="48514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Eat Rate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2278EB1E-413D-A625-5BA4-D4B46A4EB873}"/>
              </a:ext>
            </a:extLst>
          </p:cNvPr>
          <p:cNvSpPr txBox="1"/>
          <p:nvPr/>
        </p:nvSpPr>
        <p:spPr>
          <a:xfrm>
            <a:off x="4038076" y="2956155"/>
            <a:ext cx="604520" cy="48514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Food Rate</a:t>
            </a:r>
          </a:p>
        </p:txBody>
      </p:sp>
    </p:spTree>
    <p:extLst>
      <p:ext uri="{BB962C8B-B14F-4D97-AF65-F5344CB8AC3E}">
        <p14:creationId xmlns:p14="http://schemas.microsoft.com/office/powerpoint/2010/main" val="13846733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E838-62DA-73AB-0312-7700D1E6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87E158-CBCC-49AA-A893-B686657F6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0" t="15131" r="15032" b="59481"/>
          <a:stretch/>
        </p:blipFill>
        <p:spPr>
          <a:xfrm>
            <a:off x="1191236" y="1500755"/>
            <a:ext cx="6459524" cy="2699506"/>
          </a:xfrm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0B2E5AC9-CBA4-69A0-211D-E32249CFED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" t="15353" r="14402" b="61841"/>
          <a:stretch/>
        </p:blipFill>
        <p:spPr bwMode="auto">
          <a:xfrm>
            <a:off x="1305754" y="4025574"/>
            <a:ext cx="6532492" cy="252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42FAA1C1-CA01-FF16-411E-71F9115FA52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316452" y="437494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4E477D1E-3029-0E2C-B3AE-782C08C370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2" y="1697759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078937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A230-73FA-9ED0-E508-0E3258DC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961E-BD55-74E3-F0B4-78A173C9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662007A1-CFD8-004B-7A97-D5B040C231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316452" y="437494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9E73B857-4201-7EEA-467F-49BBF08809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2" y="1697759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B2C0C-7AB1-2372-BE88-21B1F0EC09B4}"/>
              </a:ext>
            </a:extLst>
          </p:cNvPr>
          <p:cNvSpPr txBox="1"/>
          <p:nvPr/>
        </p:nvSpPr>
        <p:spPr>
          <a:xfrm>
            <a:off x="2005071" y="1766030"/>
            <a:ext cx="73262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4000" b="1" kern="100" dirty="0" err="1">
                <a:latin typeface="Helvetica" pitchFamily="2" charset="0"/>
              </a:rPr>
              <a:t>H</a:t>
            </a:r>
            <a:r>
              <a:rPr lang="en-IE" sz="4000" b="1" kern="100" baseline="-25000" dirty="0" err="1">
                <a:latin typeface="Helvetica" pitchFamily="2" charset="0"/>
              </a:rPr>
              <a:t>Future</a:t>
            </a:r>
            <a:r>
              <a:rPr lang="en-IE" sz="4000" kern="100" dirty="0">
                <a:latin typeface="Helvetica" pitchFamily="2" charset="0"/>
              </a:rPr>
              <a:t>=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40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40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304BC-A02C-4FC5-1A21-02D82D16FB82}"/>
              </a:ext>
            </a:extLst>
          </p:cNvPr>
          <p:cNvSpPr txBox="1"/>
          <p:nvPr/>
        </p:nvSpPr>
        <p:spPr>
          <a:xfrm>
            <a:off x="2005071" y="4476317"/>
            <a:ext cx="70067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4000" b="1" kern="100" dirty="0" err="1">
                <a:latin typeface="Helvetica" pitchFamily="2" charset="0"/>
              </a:rPr>
              <a:t>L</a:t>
            </a:r>
            <a:r>
              <a:rPr lang="en-IE" sz="4000" b="1" kern="100" baseline="-25000" dirty="0" err="1">
                <a:latin typeface="Helvetica" pitchFamily="2" charset="0"/>
              </a:rPr>
              <a:t>Future</a:t>
            </a:r>
            <a:r>
              <a:rPr lang="en-IE" sz="4000" kern="100" dirty="0">
                <a:latin typeface="Helvetica" pitchFamily="2" charset="0"/>
              </a:rPr>
              <a:t>= 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82395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E23B2-C89E-64FD-0C50-164965C7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9FB7-FAE2-3342-307E-2195D15D5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8.1: Predicting One Year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61452E-37D4-0F9D-AAFA-E09B436D18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455113"/>
              </p:ext>
            </p:extLst>
          </p:nvPr>
        </p:nvGraphicFramePr>
        <p:xfrm>
          <a:off x="679836" y="2708808"/>
          <a:ext cx="7784327" cy="2693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785150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176730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AAD9E8-C5DB-0938-2AD5-1A3F57788DA2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A5D3A-DE1C-B489-D7FD-727A039BE527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366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CABFC-A61A-813B-6DDC-229E2F9A9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A94A-A199-C170-4D6E-4A923E57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8.1: Predicting One Year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E73F52-2DEA-BC7A-ACAB-15A7DD6773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485043"/>
              </p:ext>
            </p:extLst>
          </p:nvPr>
        </p:nvGraphicFramePr>
        <p:xfrm>
          <a:off x="55084" y="2796944"/>
          <a:ext cx="9033832" cy="270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1478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4204636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4137718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endParaRPr lang="en-IE" sz="1800" b="1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08AFABF-FBE9-3201-5C1F-FB47D3F0343E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4C1BB-7402-330E-04E7-FEE03F34352C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30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205C-606F-948A-0A20-21BF25D9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78559-2F15-4F3D-C0A9-5C2640606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8.2: Predicting Three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9E87A0-CF41-884A-8634-FEBA422A2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08701"/>
              </p:ext>
            </p:extLst>
          </p:nvPr>
        </p:nvGraphicFramePr>
        <p:xfrm>
          <a:off x="55084" y="2796944"/>
          <a:ext cx="9033832" cy="270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1478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4204636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4137718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endParaRPr lang="en-IE" sz="1800" b="1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6B229CE-F00F-0011-C427-F89A8F6858BF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DE0C6-22A1-A649-58A3-33E180EA2EC5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580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DCF57-E64A-CDA3-9FE4-91367090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4EC3-815D-7091-5764-6A366070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8.2: Predicting Three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26924D-63B4-8756-9FC7-1830AD0EE7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084" y="2796944"/>
          <a:ext cx="9033832" cy="270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1478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4204636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4137718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endParaRPr lang="en-IE" sz="1800" b="1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5.9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68.8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32.4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17B2AC7-E7C8-79C7-7454-7060E13150A1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38372-1739-2EB4-0F06-67C78B5A1FD7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758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44B6-2679-AC11-EE03-E484CE3D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A212-852B-3EDA-38EC-62A35CFD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9: Plotting Three Years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EC1F95-3DB8-0BCE-24F0-FFEA34651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941739"/>
              </p:ext>
            </p:extLst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63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30.6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65.9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31.3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68.8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32.4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5" name="Picture 4" descr="A graph with red and green dots&#10;&#10;Description automatically generated">
            <a:extLst>
              <a:ext uri="{FF2B5EF4-FFF2-40B4-BE49-F238E27FC236}">
                <a16:creationId xmlns:a16="http://schemas.microsoft.com/office/drawing/2014/main" id="{918FBC5E-D1A8-AA9F-2E16-CB8345DAB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996" y="3200400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083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B032-250A-9230-E80F-B3F9F225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AECE-9148-4D9C-FBD9-43A4A2B07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10: Plotting Hares and Lynxes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50BD2A-07E3-3382-50DD-D354E886D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036117"/>
              </p:ext>
            </p:extLst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animals&#10;&#10;Description automatically generated">
            <a:extLst>
              <a:ext uri="{FF2B5EF4-FFF2-40B4-BE49-F238E27FC236}">
                <a16:creationId xmlns:a16="http://schemas.microsoft.com/office/drawing/2014/main" id="{A53B5B4E-4928-3354-F740-2D13BB9AD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2004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759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51EB5-111E-0926-2BC3-0DDC44D3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17123-2838-2B61-267B-2145D453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 10: Plotting Hares and Lynxes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AC7ABB-0D52-A20B-076B-F6A7550209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63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30.6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65.9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31.3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68.8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32.4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animals&#10;&#10;Description automatically generated">
            <a:extLst>
              <a:ext uri="{FF2B5EF4-FFF2-40B4-BE49-F238E27FC236}">
                <a16:creationId xmlns:a16="http://schemas.microsoft.com/office/drawing/2014/main" id="{65847769-4736-2C13-F4AD-DC018589C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2004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956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F8DBA-8F66-8909-9F28-9E8346F1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98D7-BAA1-FCC8-91B9-6388ADA4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8" name="Content Placeholder 7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AC8C6F6-58D0-E1CA-9D29-A50D998B4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45" y="1748803"/>
            <a:ext cx="6877878" cy="4585252"/>
          </a:xfrm>
        </p:spPr>
      </p:pic>
    </p:spTree>
    <p:extLst>
      <p:ext uri="{BB962C8B-B14F-4D97-AF65-F5344CB8AC3E}">
        <p14:creationId xmlns:p14="http://schemas.microsoft.com/office/powerpoint/2010/main" val="30389401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8438-B29D-4604-8E4C-C97C06FB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  <a:endParaRPr lang="en-US" dirty="0"/>
          </a:p>
        </p:txBody>
      </p:sp>
      <p:pic>
        <p:nvPicPr>
          <p:cNvPr id="5" name="Content Placeholder 4" descr="A graph of a number of dots&#10;&#10;Description automatically generated">
            <a:extLst>
              <a:ext uri="{FF2B5EF4-FFF2-40B4-BE49-F238E27FC236}">
                <a16:creationId xmlns:a16="http://schemas.microsoft.com/office/drawing/2014/main" id="{539B5F7F-F65D-F547-7D51-4D4A91079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703" y="1672603"/>
            <a:ext cx="5118652" cy="5118652"/>
          </a:xfrm>
        </p:spPr>
      </p:pic>
    </p:spTree>
    <p:extLst>
      <p:ext uri="{BB962C8B-B14F-4D97-AF65-F5344CB8AC3E}">
        <p14:creationId xmlns:p14="http://schemas.microsoft.com/office/powerpoint/2010/main" val="30304441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0EDE-7E46-85AF-30B0-2F437BC9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0E5D-D955-BCDB-15E1-98F76068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2B3F86A0-27A9-94B8-70F5-0562E7004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24"/>
          <a:stretch/>
        </p:blipFill>
        <p:spPr>
          <a:xfrm>
            <a:off x="8459" y="2210463"/>
            <a:ext cx="9130331" cy="1979171"/>
          </a:xfrm>
        </p:spPr>
      </p:pic>
    </p:spTree>
    <p:extLst>
      <p:ext uri="{BB962C8B-B14F-4D97-AF65-F5344CB8AC3E}">
        <p14:creationId xmlns:p14="http://schemas.microsoft.com/office/powerpoint/2010/main" val="12554852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CEE7-0DF6-40B9-9E27-AD3711C1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  <a:endParaRPr lang="en-US" dirty="0"/>
          </a:p>
        </p:txBody>
      </p:sp>
      <p:pic>
        <p:nvPicPr>
          <p:cNvPr id="4" name="Hare_Lynx_oribt">
            <a:hlinkClick r:id="" action="ppaction://media"/>
            <a:extLst>
              <a:ext uri="{FF2B5EF4-FFF2-40B4-BE49-F238E27FC236}">
                <a16:creationId xmlns:a16="http://schemas.microsoft.com/office/drawing/2014/main" id="{AF2ACB25-19DE-4B93-87FB-B0EDA80A8D12}"/>
              </a:ext>
            </a:extLst>
          </p:cNvPr>
          <p:cNvPicPr>
            <a:picLocks noGrp="1" noChangeAspect="1"/>
          </p:cNvPicPr>
          <p:nvPr>
            <p:ph idx="1"/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1725" y="1774825"/>
            <a:ext cx="6938963" cy="4625975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5043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D65D-01A6-5FB7-3624-3B95E911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E602-305F-8DCE-561D-68FA9E64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57B90-1031-0BAF-7975-3B1D81974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Deer, Plants and Wolves</a:t>
            </a:r>
          </a:p>
        </p:txBody>
      </p:sp>
      <p:pic>
        <p:nvPicPr>
          <p:cNvPr id="4" name="Picture 2" descr="1,000+ Best Wolf Photos · 100% Free Download · Pexels Stock Photos">
            <a:extLst>
              <a:ext uri="{FF2B5EF4-FFF2-40B4-BE49-F238E27FC236}">
                <a16:creationId xmlns:a16="http://schemas.microsoft.com/office/drawing/2014/main" id="{533DE9D0-F38E-8AF3-60E0-EF338FC401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1" t="3690" r="18587" b="3690"/>
          <a:stretch/>
        </p:blipFill>
        <p:spPr bwMode="auto">
          <a:xfrm>
            <a:off x="6189334" y="3727727"/>
            <a:ext cx="2520000" cy="252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eer with antlers walking in grass&#10;&#10;Description automatically generated">
            <a:extLst>
              <a:ext uri="{FF2B5EF4-FFF2-40B4-BE49-F238E27FC236}">
                <a16:creationId xmlns:a16="http://schemas.microsoft.com/office/drawing/2014/main" id="{61199400-44FD-B14B-690E-F1806350B4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" t="10150" r="38067" b="30382"/>
          <a:stretch/>
        </p:blipFill>
        <p:spPr>
          <a:xfrm>
            <a:off x="294267" y="3727727"/>
            <a:ext cx="2520000" cy="2520000"/>
          </a:xfrm>
          <a:prstGeom prst="ellipse">
            <a:avLst/>
          </a:prstGeom>
        </p:spPr>
      </p:pic>
      <p:pic>
        <p:nvPicPr>
          <p:cNvPr id="8" name="Picture 7" descr="A deer standing in the woods&#10;&#10;Description automatically generated">
            <a:extLst>
              <a:ext uri="{FF2B5EF4-FFF2-40B4-BE49-F238E27FC236}">
                <a16:creationId xmlns:a16="http://schemas.microsoft.com/office/drawing/2014/main" id="{A5BC6B5D-5EED-858F-641A-3D8558349B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3" r="12833"/>
          <a:stretch/>
        </p:blipFill>
        <p:spPr>
          <a:xfrm>
            <a:off x="3225524" y="3727727"/>
            <a:ext cx="2520000" cy="2520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253877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F11A2-C02A-B266-27EE-47BB46A77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DC59-A6D2-777E-62E2-24EF784B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Plants and Deer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9E27B3-4190-B944-2CC0-AE34D2E2B517}"/>
                  </a:ext>
                </a:extLst>
              </p:cNvPr>
              <p:cNvSpPr txBox="1"/>
              <p:nvPr/>
            </p:nvSpPr>
            <p:spPr>
              <a:xfrm>
                <a:off x="0" y="4837774"/>
                <a:ext cx="9144000" cy="1692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E" sz="3600" kern="100" dirty="0">
                    <a:latin typeface="Helvetica" pitchFamily="2" charset="0"/>
                  </a:rPr>
                  <a:t>Deer</a:t>
                </a:r>
              </a:p>
              <a:p>
                <a:pPr algn="ctr"/>
                <a:r>
                  <a:rPr lang="en-IE" sz="3200" kern="100" dirty="0">
                    <a:solidFill>
                      <a:srgbClr val="FF0000"/>
                    </a:solidFill>
                    <a:latin typeface="Helvetica" pitchFamily="2" charset="0"/>
                  </a:rPr>
                  <a:t>D[i+1]</a:t>
                </a:r>
                <a:r>
                  <a:rPr lang="en-IE" sz="3200" kern="100" dirty="0">
                    <a:latin typeface="Helvetica" pitchFamily="2" charset="0"/>
                  </a:rPr>
                  <a:t>=</a:t>
                </a:r>
                <a:r>
                  <a:rPr lang="en-IE" sz="3200" kern="100" dirty="0">
                    <a:solidFill>
                      <a:srgbClr val="92D050"/>
                    </a:solidFill>
                    <a:latin typeface="Helvetica" pitchFamily="2" charset="0"/>
                  </a:rPr>
                  <a:t>D[</a:t>
                </a:r>
                <a:r>
                  <a:rPr lang="en-IE" sz="3200" kern="100" dirty="0" err="1">
                    <a:solidFill>
                      <a:srgbClr val="92D050"/>
                    </a:solidFill>
                    <a:latin typeface="Helvetica" pitchFamily="2" charset="0"/>
                  </a:rPr>
                  <a:t>i</a:t>
                </a:r>
                <a:r>
                  <a:rPr lang="en-IE" sz="3200" kern="100" dirty="0">
                    <a:solidFill>
                      <a:srgbClr val="92D050"/>
                    </a:solidFill>
                    <a:latin typeface="Helvetica" pitchFamily="2" charset="0"/>
                  </a:rPr>
                  <a:t>]</a:t>
                </a:r>
                <a:r>
                  <a:rPr lang="en-IE" sz="3200" kern="100" dirty="0">
                    <a:latin typeface="Helvetica" pitchFamily="2" charset="0"/>
                  </a:rPr>
                  <a:t>-</a:t>
                </a:r>
                <a:r>
                  <a:rPr lang="en-IE" sz="3200" kern="100" dirty="0">
                    <a:solidFill>
                      <a:srgbClr val="00B0F0"/>
                    </a:solidFill>
                    <a:latin typeface="Helvetica" pitchFamily="2" charset="0"/>
                  </a:rPr>
                  <a:t>0.075</a:t>
                </a:r>
                <a:r>
                  <a:rPr lang="en-IE" sz="3200" kern="100" dirty="0">
                    <a:latin typeface="Helvetica" pitchFamily="2" charset="0"/>
                  </a:rPr>
                  <a:t>*</a:t>
                </a:r>
                <a:r>
                  <a:rPr lang="en-IE" sz="3200" kern="100" dirty="0">
                    <a:solidFill>
                      <a:srgbClr val="92D050"/>
                    </a:solidFill>
                    <a:latin typeface="Helvetica" pitchFamily="2" charset="0"/>
                  </a:rPr>
                  <a:t>D</a:t>
                </a:r>
                <a:r>
                  <a:rPr lang="en-IE" sz="3200" kern="100" dirty="0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[</a:t>
                </a:r>
                <a:r>
                  <a:rPr lang="en-IE" sz="3200" kern="100" dirty="0" err="1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i</a:t>
                </a:r>
                <a:r>
                  <a:rPr lang="en-IE" sz="3200" kern="100" dirty="0">
                    <a:solidFill>
                      <a:srgbClr val="92D050"/>
                    </a:solidFill>
                    <a:latin typeface="Helvetica" pitchFamily="2" charset="0"/>
                  </a:rPr>
                  <a:t>]</a:t>
                </a:r>
                <a:r>
                  <a:rPr lang="en-IE" sz="3200" kern="1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E" sz="3200" kern="100" dirty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00B0F0"/>
                        </a:solidFill>
                        <a:latin typeface="Helvetica" pitchFamily="2" charset="0"/>
                      </a:rPr>
                      <m:t>0.00</m:t>
                    </m:r>
                    <m:r>
                      <m:rPr>
                        <m:nor/>
                      </m:rPr>
                      <a:rPr lang="en-IE" sz="3200" b="0" i="0" kern="100" dirty="0" smtClean="0">
                        <a:solidFill>
                          <a:srgbClr val="00B0F0"/>
                        </a:solidFill>
                        <a:latin typeface="Helvetica" pitchFamily="2" charset="0"/>
                      </a:rPr>
                      <m:t>2</m:t>
                    </m:r>
                    <m:r>
                      <m:rPr>
                        <m:nor/>
                      </m:rPr>
                      <a:rPr lang="en-IE" sz="3200" kern="100" dirty="0">
                        <a:latin typeface="Helvetica" pitchFamily="2" charset="0"/>
                      </a:rPr>
                      <m:t>∗</m:t>
                    </m:r>
                    <m:r>
                      <m:rPr>
                        <m:nor/>
                      </m:rPr>
                      <a:rPr lang="en-IE" sz="3200" b="0" i="0" kern="100" dirty="0" smtClean="0">
                        <a:solidFill>
                          <a:srgbClr val="92D050"/>
                        </a:solidFill>
                        <a:latin typeface="Helvetica" pitchFamily="2" charset="0"/>
                      </a:rPr>
                      <m:t>P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[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i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]∗</m:t>
                    </m:r>
                    <m:r>
                      <m:rPr>
                        <m:nor/>
                      </m:rPr>
                      <a:rPr lang="en-IE" sz="3200" b="0" i="0" kern="100" dirty="0" smtClean="0">
                        <a:solidFill>
                          <a:srgbClr val="92D050"/>
                        </a:solidFill>
                        <a:latin typeface="Helvetica" pitchFamily="2" charset="0"/>
                      </a:rPr>
                      <m:t>D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[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i</m:t>
                    </m:r>
                    <m:r>
                      <m:rPr>
                        <m:nor/>
                      </m:rPr>
                      <a:rPr lang="en-IE" sz="3200" kern="100" dirty="0" smtClean="0">
                        <a:solidFill>
                          <a:srgbClr val="92D050"/>
                        </a:solidFill>
                        <a:latin typeface="Helvetica" pitchFamily="2" charset="0"/>
                      </a:rPr>
                      <m:t>]</m:t>
                    </m:r>
                  </m:oMath>
                </a14:m>
                <a:endParaRPr lang="en-IE" sz="3200" kern="100" dirty="0">
                  <a:solidFill>
                    <a:srgbClr val="92D050"/>
                  </a:solidFill>
                  <a:latin typeface="Helvetica" pitchFamily="2" charset="0"/>
                </a:endParaRPr>
              </a:p>
              <a:p>
                <a:pPr algn="r"/>
                <a:r>
                  <a:rPr lang="en-IE" sz="3600" dirty="0" err="1">
                    <a:latin typeface="Helvetica Light" panose="020B0403020202020204" pitchFamily="34" charset="0"/>
                  </a:rPr>
                  <a:t>i</a:t>
                </a:r>
                <a:r>
                  <a:rPr lang="en-IE" sz="3600" dirty="0">
                    <a:latin typeface="Helvetica Light" panose="020B0403020202020204" pitchFamily="34" charset="0"/>
                  </a:rPr>
                  <a:t>=0,1,2,…,N-1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9E27B3-4190-B944-2CC0-AE34D2E2B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37774"/>
                <a:ext cx="9144000" cy="1692771"/>
              </a:xfrm>
              <a:prstGeom prst="rect">
                <a:avLst/>
              </a:prstGeom>
              <a:blipFill>
                <a:blip r:embed="rId2"/>
                <a:stretch>
                  <a:fillRect t="-5970" r="-2083" b="-12687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6E80F7-CE2E-9CE2-DBDF-D4F842C263F4}"/>
                  </a:ext>
                </a:extLst>
              </p:cNvPr>
              <p:cNvSpPr txBox="1"/>
              <p:nvPr/>
            </p:nvSpPr>
            <p:spPr>
              <a:xfrm>
                <a:off x="-145550" y="1740397"/>
                <a:ext cx="9144000" cy="1138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E" sz="3600" kern="100" dirty="0">
                    <a:latin typeface="Helvetica" pitchFamily="2" charset="0"/>
                  </a:rPr>
                  <a:t>Plants</a:t>
                </a:r>
              </a:p>
              <a:p>
                <a:pPr algn="ctr"/>
                <a:r>
                  <a:rPr lang="en-IE" sz="3200" kern="100" dirty="0">
                    <a:solidFill>
                      <a:srgbClr val="FF0000"/>
                    </a:solidFill>
                    <a:latin typeface="Helvetica" pitchFamily="2" charset="0"/>
                  </a:rPr>
                  <a:t>P[i+1]</a:t>
                </a:r>
                <a:r>
                  <a:rPr lang="en-IE" sz="3200" kern="100" dirty="0">
                    <a:latin typeface="Helvetica" pitchFamily="2" charset="0"/>
                  </a:rPr>
                  <a:t>=</a:t>
                </a:r>
                <a:r>
                  <a:rPr lang="en-IE" sz="3200" kern="100" dirty="0">
                    <a:solidFill>
                      <a:srgbClr val="92D050"/>
                    </a:solidFill>
                    <a:latin typeface="Helvetica" pitchFamily="2" charset="0"/>
                  </a:rPr>
                  <a:t>P[</a:t>
                </a:r>
                <a:r>
                  <a:rPr lang="en-IE" sz="3200" kern="100" dirty="0" err="1">
                    <a:solidFill>
                      <a:srgbClr val="92D050"/>
                    </a:solidFill>
                    <a:latin typeface="Helvetica" pitchFamily="2" charset="0"/>
                  </a:rPr>
                  <a:t>i</a:t>
                </a:r>
                <a:r>
                  <a:rPr lang="en-IE" sz="3200" kern="100" dirty="0">
                    <a:solidFill>
                      <a:srgbClr val="92D050"/>
                    </a:solidFill>
                    <a:latin typeface="Helvetica" pitchFamily="2" charset="0"/>
                  </a:rPr>
                  <a:t>]</a:t>
                </a:r>
                <a:r>
                  <a:rPr lang="en-IE" sz="3200" kern="10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+</a:t>
                </a:r>
                <a:r>
                  <a:rPr lang="en-IE" sz="3200" kern="100" dirty="0">
                    <a:solidFill>
                      <a:srgbClr val="00B0F0"/>
                    </a:solidFill>
                    <a:latin typeface="Helvetica" pitchFamily="2" charset="0"/>
                  </a:rPr>
                  <a:t>0.9</a:t>
                </a:r>
                <a:r>
                  <a:rPr lang="en-IE" sz="3200" kern="100" dirty="0">
                    <a:latin typeface="Helvetica" pitchFamily="2" charset="0"/>
                  </a:rPr>
                  <a:t>*</a:t>
                </a:r>
                <a:r>
                  <a:rPr lang="en-IE" sz="3200" kern="100" dirty="0">
                    <a:solidFill>
                      <a:srgbClr val="92D050"/>
                    </a:solidFill>
                    <a:latin typeface="Helvetica" pitchFamily="2" charset="0"/>
                  </a:rPr>
                  <a:t>P</a:t>
                </a:r>
                <a:r>
                  <a:rPr lang="en-IE" sz="3200" kern="100" dirty="0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[</a:t>
                </a:r>
                <a:r>
                  <a:rPr lang="en-IE" sz="3200" kern="100" dirty="0" err="1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i</a:t>
                </a:r>
                <a:r>
                  <a:rPr lang="en-IE" sz="3200" kern="100" dirty="0">
                    <a:solidFill>
                      <a:srgbClr val="92D050"/>
                    </a:solidFill>
                    <a:latin typeface="Helvetica" pitchFamily="2" charset="0"/>
                  </a:rPr>
                  <a:t>]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E" sz="3200" kern="100" dirty="0">
                        <a:latin typeface="Helvetica" pitchFamily="2" charset="0"/>
                      </a:rPr>
                      <m:t>−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00B0F0"/>
                        </a:solidFill>
                        <a:latin typeface="Helvetica" pitchFamily="2" charset="0"/>
                      </a:rPr>
                      <m:t>0.02</m:t>
                    </m:r>
                    <m:r>
                      <m:rPr>
                        <m:nor/>
                      </m:rPr>
                      <a:rPr lang="en-IE" sz="3200" kern="100" dirty="0">
                        <a:latin typeface="Helvetica" pitchFamily="2" charset="0"/>
                      </a:rPr>
                      <m:t>∗</m:t>
                    </m:r>
                    <m:r>
                      <m:rPr>
                        <m:nor/>
                      </m:rPr>
                      <a:rPr lang="en-US" sz="3200" b="0" i="0" kern="100" dirty="0" smtClean="0">
                        <a:solidFill>
                          <a:srgbClr val="92D050"/>
                        </a:solidFill>
                        <a:latin typeface="Helvetica" pitchFamily="2" charset="0"/>
                      </a:rPr>
                      <m:t>P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[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i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]∗</m:t>
                    </m:r>
                    <m:r>
                      <m:rPr>
                        <m:nor/>
                      </m:rPr>
                      <a:rPr lang="en-US" sz="3200" b="0" i="0" kern="100" dirty="0" smtClean="0">
                        <a:solidFill>
                          <a:srgbClr val="92D050"/>
                        </a:solidFill>
                        <a:latin typeface="Helvetica" pitchFamily="2" charset="0"/>
                      </a:rPr>
                      <m:t>D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[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i</m:t>
                    </m:r>
                    <m:r>
                      <m:rPr>
                        <m:nor/>
                      </m:rPr>
                      <a:rPr lang="en-IE" sz="3200" kern="100" dirty="0">
                        <a:solidFill>
                          <a:srgbClr val="92D050"/>
                        </a:solidFill>
                        <a:latin typeface="Helvetica" pitchFamily="2" charset="0"/>
                      </a:rPr>
                      <m:t>])</m:t>
                    </m:r>
                  </m:oMath>
                </a14:m>
                <a:endParaRPr lang="en-IE" sz="3200" kern="100" dirty="0">
                  <a:solidFill>
                    <a:srgbClr val="92D050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6E80F7-CE2E-9CE2-DBDF-D4F842C26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550" y="1740397"/>
                <a:ext cx="9144000" cy="1138773"/>
              </a:xfrm>
              <a:prstGeom prst="rect">
                <a:avLst/>
              </a:prstGeom>
              <a:blipFill>
                <a:blip r:embed="rId3"/>
                <a:stretch>
                  <a:fillRect t="-7692" b="-1648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black oval with a white background&#10;&#10;AI-generated content may be incorrect.">
            <a:extLst>
              <a:ext uri="{FF2B5EF4-FFF2-40B4-BE49-F238E27FC236}">
                <a16:creationId xmlns:a16="http://schemas.microsoft.com/office/drawing/2014/main" id="{C5AE33BA-E050-21C3-8E6B-755746358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71" y="3088438"/>
            <a:ext cx="7700340" cy="15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9858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3E91E-A587-C9EB-B51A-B94536FD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59B1-FA67-8E8B-25D3-10390656C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Plants and Deer</a:t>
            </a:r>
            <a:endParaRPr lang="en-I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36292-4BCC-0403-141D-9C340464B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9297" indent="0">
              <a:buNone/>
            </a:pPr>
            <a:endParaRPr lang="en-IE" dirty="0"/>
          </a:p>
        </p:txBody>
      </p:sp>
      <p:pic>
        <p:nvPicPr>
          <p:cNvPr id="4" name="Picture 3" descr="A graph with a blue line&#10;&#10;AI-generated content may be incorrect.">
            <a:extLst>
              <a:ext uri="{FF2B5EF4-FFF2-40B4-BE49-F238E27FC236}">
                <a16:creationId xmlns:a16="http://schemas.microsoft.com/office/drawing/2014/main" id="{F4E05267-386C-E0E7-2C8F-67CCBE210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71" y="1991525"/>
            <a:ext cx="72898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4117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A3DA5-176E-9144-84C5-CD86F96C1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6BD8-6749-04D6-6306-B5E3893EB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Deer vs Plant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B3EDD-6F42-F0B5-D5CA-973B1BDAC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9297" indent="0">
              <a:buNone/>
            </a:pPr>
            <a:endParaRPr lang="en-IE" dirty="0"/>
          </a:p>
        </p:txBody>
      </p:sp>
      <p:pic>
        <p:nvPicPr>
          <p:cNvPr id="5" name="Picture 4" descr="A graph with a black circle&#10;&#10;AI-generated content may be incorrect.">
            <a:extLst>
              <a:ext uri="{FF2B5EF4-FFF2-40B4-BE49-F238E27FC236}">
                <a16:creationId xmlns:a16="http://schemas.microsoft.com/office/drawing/2014/main" id="{A532D477-51FC-CD57-9E27-21171A071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306" y="2874214"/>
            <a:ext cx="3837388" cy="382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004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7E1D7-6044-E157-6C17-58715F9C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8799-267A-2886-63B1-E33310DC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7017C-9516-B4C9-4042-294FEAC3A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9297" indent="0">
              <a:buNone/>
            </a:pPr>
            <a:endParaRPr lang="en-US" dirty="0"/>
          </a:p>
        </p:txBody>
      </p:sp>
      <p:pic>
        <p:nvPicPr>
          <p:cNvPr id="6" name="Picture 5" descr="A graph with a red line&#10;&#10;AI-generated content may be incorrect.">
            <a:extLst>
              <a:ext uri="{FF2B5EF4-FFF2-40B4-BE49-F238E27FC236}">
                <a16:creationId xmlns:a16="http://schemas.microsoft.com/office/drawing/2014/main" id="{11B04375-853C-817E-B71D-66A55EA96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2698971"/>
            <a:ext cx="72136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528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3951D-3513-A541-4B8F-73D899C3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E527-2830-F37A-73C3-720D55EA6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Wolves and Deer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8963F-3CFA-0996-A169-F22A42EC6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9297" indent="0">
              <a:buNone/>
            </a:pPr>
            <a:endParaRPr lang="en-US" dirty="0"/>
          </a:p>
          <a:p>
            <a:pPr marL="89297" indent="0">
              <a:buNone/>
            </a:pPr>
            <a:endParaRPr lang="en-US" dirty="0"/>
          </a:p>
        </p:txBody>
      </p:sp>
      <p:pic>
        <p:nvPicPr>
          <p:cNvPr id="6" name="Picture 5" descr="A graph with a blue line&#10;&#10;AI-generated content may be incorrect.">
            <a:extLst>
              <a:ext uri="{FF2B5EF4-FFF2-40B4-BE49-F238E27FC236}">
                <a16:creationId xmlns:a16="http://schemas.microsoft.com/office/drawing/2014/main" id="{58F235AE-A595-D108-FAE0-DBC6442A7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" y="2689473"/>
            <a:ext cx="72898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926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69B2B-FB35-E81C-6BBB-4BA35456D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F1B79-8BA4-0E61-A70A-717A715AD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Wolves and Deer and Plants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CD6FE-4B1C-D1F5-C476-C3F07C235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9297" indent="0">
              <a:buNone/>
            </a:pPr>
            <a:endParaRPr lang="en-US" dirty="0"/>
          </a:p>
        </p:txBody>
      </p:sp>
      <p:pic>
        <p:nvPicPr>
          <p:cNvPr id="4" name="Content Placeholder 4" descr="A graph with a red line and blue line&#10;&#10;AI-generated content may be incorrect.">
            <a:extLst>
              <a:ext uri="{FF2B5EF4-FFF2-40B4-BE49-F238E27FC236}">
                <a16:creationId xmlns:a16="http://schemas.microsoft.com/office/drawing/2014/main" id="{1DA73A09-D09B-9387-A8F4-F20368B8F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5200" y="2952267"/>
            <a:ext cx="72136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10407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805D6-D4C3-4451-5AA4-B59ABFEC2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9967-2739-26E1-061D-83F1534C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85327-DFAD-AC3B-54FF-0F921120B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9297" indent="0">
              <a:buNone/>
            </a:pPr>
            <a:endParaRPr lang="en-US" dirty="0"/>
          </a:p>
        </p:txBody>
      </p:sp>
      <p:pic>
        <p:nvPicPr>
          <p:cNvPr id="5" name="Picture 4" descr="A diagram of a plant and deer&#10;&#10;AI-generated content may be incorrect.">
            <a:extLst>
              <a:ext uri="{FF2B5EF4-FFF2-40B4-BE49-F238E27FC236}">
                <a16:creationId xmlns:a16="http://schemas.microsoft.com/office/drawing/2014/main" id="{CDDE915C-3D5F-C9A0-94EE-F6903944D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209" y="2940768"/>
            <a:ext cx="5867582" cy="32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5170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F34D-D61F-0157-5637-7C0104FD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D41E-745F-5C69-BA8D-5CACCBD3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11: Label the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06669-40A4-F1A8-30B5-8F3D8B04C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9297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B01F3-1C92-96A1-57C8-9E2075181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209" y="2940768"/>
            <a:ext cx="5867581" cy="32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702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4894-5E62-CEBA-FB26-5EF37D36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E82A-B3AA-F9F0-F34A-9697A436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E7A7D-A450-68C4-7066-32FD3D08B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9297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20BE91-DB00-5854-9E1B-303E1B5DD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209" y="2940768"/>
            <a:ext cx="5867581" cy="3229444"/>
          </a:xfrm>
          <a:prstGeom prst="rect">
            <a:avLst/>
          </a:prstGeom>
        </p:spPr>
      </p:pic>
      <p:sp>
        <p:nvSpPr>
          <p:cNvPr id="4" name="Text Box 47">
            <a:extLst>
              <a:ext uri="{FF2B5EF4-FFF2-40B4-BE49-F238E27FC236}">
                <a16:creationId xmlns:a16="http://schemas.microsoft.com/office/drawing/2014/main" id="{E2A39BB2-44A5-3D6C-ACA2-E2E345501372}"/>
              </a:ext>
            </a:extLst>
          </p:cNvPr>
          <p:cNvSpPr txBox="1"/>
          <p:nvPr/>
        </p:nvSpPr>
        <p:spPr>
          <a:xfrm>
            <a:off x="6796319" y="3159654"/>
            <a:ext cx="1685925" cy="3048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Death Rate Deer</a:t>
            </a:r>
          </a:p>
        </p:txBody>
      </p:sp>
      <p:sp>
        <p:nvSpPr>
          <p:cNvPr id="6" name="Text Box 47">
            <a:extLst>
              <a:ext uri="{FF2B5EF4-FFF2-40B4-BE49-F238E27FC236}">
                <a16:creationId xmlns:a16="http://schemas.microsoft.com/office/drawing/2014/main" id="{C3B6AC94-946D-AF2C-0D72-590F00954886}"/>
              </a:ext>
            </a:extLst>
          </p:cNvPr>
          <p:cNvSpPr txBox="1"/>
          <p:nvPr/>
        </p:nvSpPr>
        <p:spPr>
          <a:xfrm>
            <a:off x="287212" y="3206950"/>
            <a:ext cx="1419225" cy="3048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More Plants Grow</a:t>
            </a:r>
          </a:p>
        </p:txBody>
      </p:sp>
      <p:sp>
        <p:nvSpPr>
          <p:cNvPr id="7" name="Text Box 47">
            <a:extLst>
              <a:ext uri="{FF2B5EF4-FFF2-40B4-BE49-F238E27FC236}">
                <a16:creationId xmlns:a16="http://schemas.microsoft.com/office/drawing/2014/main" id="{7CFF4BA6-45F4-B22A-571C-7CF90698734D}"/>
              </a:ext>
            </a:extLst>
          </p:cNvPr>
          <p:cNvSpPr txBox="1"/>
          <p:nvPr/>
        </p:nvSpPr>
        <p:spPr>
          <a:xfrm>
            <a:off x="3929062" y="3913916"/>
            <a:ext cx="1285875" cy="27622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en-IE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Deer eat plants</a:t>
            </a:r>
            <a:endParaRPr lang="en-I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Box 47">
            <a:extLst>
              <a:ext uri="{FF2B5EF4-FFF2-40B4-BE49-F238E27FC236}">
                <a16:creationId xmlns:a16="http://schemas.microsoft.com/office/drawing/2014/main" id="{03A8C361-694D-0140-2415-A6053CEB5057}"/>
              </a:ext>
            </a:extLst>
          </p:cNvPr>
          <p:cNvSpPr txBox="1"/>
          <p:nvPr/>
        </p:nvSpPr>
        <p:spPr>
          <a:xfrm>
            <a:off x="3729037" y="3054550"/>
            <a:ext cx="1685925" cy="3048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Food for deer</a:t>
            </a:r>
          </a:p>
        </p:txBody>
      </p:sp>
      <p:sp>
        <p:nvSpPr>
          <p:cNvPr id="9" name="Text Box 47">
            <a:extLst>
              <a:ext uri="{FF2B5EF4-FFF2-40B4-BE49-F238E27FC236}">
                <a16:creationId xmlns:a16="http://schemas.microsoft.com/office/drawing/2014/main" id="{877E4CBF-FAEC-71F9-C1A7-446786B7204B}"/>
              </a:ext>
            </a:extLst>
          </p:cNvPr>
          <p:cNvSpPr txBox="1"/>
          <p:nvPr/>
        </p:nvSpPr>
        <p:spPr>
          <a:xfrm>
            <a:off x="6165241" y="5431847"/>
            <a:ext cx="1685925" cy="3048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Death rate Wolves</a:t>
            </a:r>
          </a:p>
        </p:txBody>
      </p:sp>
    </p:spTree>
    <p:extLst>
      <p:ext uri="{BB962C8B-B14F-4D97-AF65-F5344CB8AC3E}">
        <p14:creationId xmlns:p14="http://schemas.microsoft.com/office/powerpoint/2010/main" val="30496119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56170-43E2-C15C-66C7-20C716D5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8FF646-D3A9-18E0-CD88-41381127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0466E304-596F-E225-303A-E3869AFB5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7402536" y="1527446"/>
            <a:ext cx="1741464" cy="14224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Online Media 2" descr="How Wolves Change Rivers">
            <a:hlinkClick r:id="" action="ppaction://media"/>
            <a:extLst>
              <a:ext uri="{FF2B5EF4-FFF2-40B4-BE49-F238E27FC236}">
                <a16:creationId xmlns:a16="http://schemas.microsoft.com/office/drawing/2014/main" id="{F4AB3517-744C-283B-D0CF-7132FDDFD269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353588" y="1932167"/>
            <a:ext cx="6867674" cy="38802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329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09F8-69F8-65B4-4DB3-5D4024EE7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698973-CDE4-A72E-D357-A5C8E300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Exercise 12: Describe what is happening in the below graph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6DA8B5-B9BC-CAEF-3B01-B403229FB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33" y="2688799"/>
            <a:ext cx="5724525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diagram of a circle&#10;&#10;Description automatically generated">
            <a:extLst>
              <a:ext uri="{FF2B5EF4-FFF2-40B4-BE49-F238E27FC236}">
                <a16:creationId xmlns:a16="http://schemas.microsoft.com/office/drawing/2014/main" id="{452C5541-D631-FAF8-7B7D-395196652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321" y="2643079"/>
            <a:ext cx="3116679" cy="311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068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7F5A1-5CD2-6D1C-3D64-41870DE49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42FA3-07AB-933A-FA28-46EFE6F6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have Enough Wolves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E6133-6057-1D2C-69F7-B3E6457B2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9297" indent="0">
              <a:buNone/>
            </a:pPr>
            <a:endParaRPr lang="en-US" dirty="0"/>
          </a:p>
        </p:txBody>
      </p:sp>
      <p:pic>
        <p:nvPicPr>
          <p:cNvPr id="6" name="Picture 5" descr="A graph of a diagram&#10;&#10;AI-generated content may be incorrect.">
            <a:extLst>
              <a:ext uri="{FF2B5EF4-FFF2-40B4-BE49-F238E27FC236}">
                <a16:creationId xmlns:a16="http://schemas.microsoft.com/office/drawing/2014/main" id="{2E0C42F9-6866-DD5B-0AFA-868890EE4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35" y="2598266"/>
            <a:ext cx="4371065" cy="2160000"/>
          </a:xfrm>
          <a:prstGeom prst="rect">
            <a:avLst/>
          </a:prstGeom>
        </p:spPr>
      </p:pic>
      <p:pic>
        <p:nvPicPr>
          <p:cNvPr id="10" name="Picture 9" descr="A graph and diagram of a graph&#10;&#10;AI-generated content may be incorrect.">
            <a:extLst>
              <a:ext uri="{FF2B5EF4-FFF2-40B4-BE49-F238E27FC236}">
                <a16:creationId xmlns:a16="http://schemas.microsoft.com/office/drawing/2014/main" id="{2BC77468-37FA-8379-A6D2-9CC85822A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238" y="2598266"/>
            <a:ext cx="4371064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418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5E87E-8447-3FE3-B961-7A5A8B0C3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Discussion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0ACEE-DD5F-BECD-B730-3E338A895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200" y="1774825"/>
            <a:ext cx="7594600" cy="4625975"/>
          </a:xfrm>
        </p:spPr>
        <p:txBody>
          <a:bodyPr/>
          <a:lstStyle/>
          <a:p>
            <a:pPr marL="546497" lvl="0" indent="-457200">
              <a:buFont typeface="+mj-lt"/>
              <a:buAutoNum type="arabicPeriod"/>
            </a:pPr>
            <a:r>
              <a:rPr lang="en-IE" dirty="0"/>
              <a:t>What happened to the environment when the wolves are re-introduced?</a:t>
            </a:r>
          </a:p>
          <a:p>
            <a:pPr marL="546497" indent="-457200">
              <a:buFont typeface="+mj-lt"/>
              <a:buAutoNum type="arabicPeriod"/>
            </a:pPr>
            <a:endParaRPr lang="en-IE" dirty="0"/>
          </a:p>
          <a:p>
            <a:pPr marL="546497" lvl="0" indent="-457200">
              <a:buFont typeface="+mj-lt"/>
              <a:buAutoNum type="arabicPeriod"/>
            </a:pPr>
            <a:r>
              <a:rPr lang="en-IE" dirty="0"/>
              <a:t>What happened to the wolf population when they are re-introduced? </a:t>
            </a:r>
            <a:br>
              <a:rPr lang="en-IE" dirty="0"/>
            </a:br>
            <a:endParaRPr lang="en-IE" dirty="0"/>
          </a:p>
          <a:p>
            <a:pPr marL="546497" lvl="0" indent="-457200">
              <a:buFont typeface="+mj-lt"/>
              <a:buAutoNum type="arabicPeriod"/>
            </a:pPr>
            <a:r>
              <a:rPr lang="en-IE" dirty="0"/>
              <a:t>What happened to the deer population when the wolves are re-introduced?</a:t>
            </a:r>
          </a:p>
          <a:p>
            <a:pPr marL="546497" indent="-457200">
              <a:buFont typeface="+mj-lt"/>
              <a:buAutoNum type="arabicPeriod"/>
            </a:pPr>
            <a:endParaRPr lang="en-IE" dirty="0"/>
          </a:p>
          <a:p>
            <a:pPr marL="546497" lvl="0" indent="-457200">
              <a:buFont typeface="+mj-lt"/>
              <a:buAutoNum type="arabicPeriod"/>
            </a:pPr>
            <a:r>
              <a:rPr lang="en-IE" dirty="0"/>
              <a:t>Do you think the wolves should have been re-introduced in Ireland?</a:t>
            </a:r>
            <a:br>
              <a:rPr lang="en-IE" dirty="0"/>
            </a:br>
            <a:endParaRPr lang="en-IE" dirty="0"/>
          </a:p>
          <a:p>
            <a:pPr marL="546497" lvl="0" indent="-457200">
              <a:buFont typeface="+mj-lt"/>
              <a:buAutoNum type="arabicPeriod"/>
            </a:pPr>
            <a:r>
              <a:rPr lang="en-IE" dirty="0"/>
              <a:t>What else could you model with these Equations?</a:t>
            </a:r>
          </a:p>
          <a:p>
            <a:pPr marL="546497" indent="-457200">
              <a:buFont typeface="+mj-lt"/>
              <a:buAutoNum type="arabicPeriod"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227260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Thank you for Listening</a:t>
            </a:r>
            <a:endParaRPr dirty="0"/>
          </a:p>
        </p:txBody>
      </p:sp>
      <p:pic>
        <p:nvPicPr>
          <p:cNvPr id="41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950775"/>
            <a:ext cx="2914650" cy="1914527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3" y="1950773"/>
            <a:ext cx="3003799" cy="1960814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" name="Picture 6" descr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075" y="3943350"/>
            <a:ext cx="2743200" cy="2057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 descr="Central Quad Grangegorman Campus / Feilden Clegg Bradley Studios | ArchDaily">
            <a:extLst>
              <a:ext uri="{FF2B5EF4-FFF2-40B4-BE49-F238E27FC236}">
                <a16:creationId xmlns:a16="http://schemas.microsoft.com/office/drawing/2014/main" id="{C4997F36-7E6B-344E-94A1-DFB7CE106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2" y="4014451"/>
            <a:ext cx="2941221" cy="196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D11653-09CF-479A-B5E6-DA1C8A2A2894}"/>
              </a:ext>
            </a:extLst>
          </p:cNvPr>
          <p:cNvSpPr/>
          <p:nvPr/>
        </p:nvSpPr>
        <p:spPr>
          <a:xfrm>
            <a:off x="1084668" y="1899699"/>
            <a:ext cx="53412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TCD</a:t>
            </a: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8D2E5-C8BA-4061-8B86-54193F42DFA6}"/>
              </a:ext>
            </a:extLst>
          </p:cNvPr>
          <p:cNvSpPr/>
          <p:nvPr/>
        </p:nvSpPr>
        <p:spPr>
          <a:xfrm>
            <a:off x="1123739" y="3962661"/>
            <a:ext cx="93166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TU Dublin</a:t>
            </a:r>
            <a:endParaRPr lang="en-US" sz="13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6D1713-5D9A-4878-A200-0B59DC3E763D}"/>
              </a:ext>
            </a:extLst>
          </p:cNvPr>
          <p:cNvSpPr/>
          <p:nvPr/>
        </p:nvSpPr>
        <p:spPr>
          <a:xfrm>
            <a:off x="5113477" y="3911587"/>
            <a:ext cx="229524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Max Planck Institute Germany</a:t>
            </a: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4F6C52-2B8B-4C4D-8FCE-12AEF01D7D10}"/>
              </a:ext>
            </a:extLst>
          </p:cNvPr>
          <p:cNvSpPr/>
          <p:nvPr/>
        </p:nvSpPr>
        <p:spPr>
          <a:xfrm>
            <a:off x="5113477" y="1950406"/>
            <a:ext cx="264970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Albert Einstein College of Medicine</a:t>
            </a:r>
            <a:endParaRPr lang="en-US" sz="1350" dirty="0"/>
          </a:p>
        </p:txBody>
      </p:sp>
      <p:pic>
        <p:nvPicPr>
          <p:cNvPr id="3" name="Picture 2" descr="1,000+ Best Wolf Photos · 100% Free Download · Pexels Stock Photos">
            <a:extLst>
              <a:ext uri="{FF2B5EF4-FFF2-40B4-BE49-F238E27FC236}">
                <a16:creationId xmlns:a16="http://schemas.microsoft.com/office/drawing/2014/main" id="{0E96C6CA-9D74-FAC7-C754-2BCF589D43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1" t="23951" r="18587" b="23951"/>
          <a:stretch/>
        </p:blipFill>
        <p:spPr bwMode="auto">
          <a:xfrm>
            <a:off x="92000" y="1494451"/>
            <a:ext cx="8960000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6626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4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1_Modul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Latex like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17163</TotalTime>
  <Words>1432</Words>
  <Application>Microsoft Macintosh PowerPoint</Application>
  <PresentationFormat>On-screen Show (4:3)</PresentationFormat>
  <Paragraphs>408</Paragraphs>
  <Slides>68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Aptos</vt:lpstr>
      <vt:lpstr>Arial</vt:lpstr>
      <vt:lpstr>Calibri</vt:lpstr>
      <vt:lpstr>Cambria Math</vt:lpstr>
      <vt:lpstr>Garamond</vt:lpstr>
      <vt:lpstr>Helvetica</vt:lpstr>
      <vt:lpstr>Helvetica Light</vt:lpstr>
      <vt:lpstr>Wingdings 2</vt:lpstr>
      <vt:lpstr>1_Module</vt:lpstr>
      <vt:lpstr>The Maths of Predators  and Preys Don’t get Eaten by the Wolf</vt:lpstr>
      <vt:lpstr>PowerPoint Presentation</vt:lpstr>
      <vt:lpstr>Predator Prey</vt:lpstr>
      <vt:lpstr>Prey Hares</vt:lpstr>
      <vt:lpstr>Predator</vt:lpstr>
      <vt:lpstr>Predator and Prey</vt:lpstr>
      <vt:lpstr>Predator and Prey</vt:lpstr>
      <vt:lpstr>Predator and Prey</vt:lpstr>
      <vt:lpstr>Mathematics</vt:lpstr>
      <vt:lpstr>Hare Population Simulation</vt:lpstr>
      <vt:lpstr>Predicting One Year in the Future</vt:lpstr>
      <vt:lpstr>Hares</vt:lpstr>
      <vt:lpstr>Exercise 1: Predicting Three Years</vt:lpstr>
      <vt:lpstr>Exercise 1: Predicting Three Years</vt:lpstr>
      <vt:lpstr>Exercise 1.1: Predicting One Year</vt:lpstr>
      <vt:lpstr>Exercise 1.1: Predicting One Year</vt:lpstr>
      <vt:lpstr>Exercise 1.2: Predicting Three Years</vt:lpstr>
      <vt:lpstr>Exercise 1.2: Predicting Three Years</vt:lpstr>
      <vt:lpstr>Exercise 2: Plotting Three Years</vt:lpstr>
      <vt:lpstr>Exercise 3: Predicting 100 Years</vt:lpstr>
      <vt:lpstr>Hare Population</vt:lpstr>
      <vt:lpstr>Lynx Population Simulation</vt:lpstr>
      <vt:lpstr>Predicting One Year in the Future</vt:lpstr>
      <vt:lpstr>Lynx Population</vt:lpstr>
      <vt:lpstr>Exercise 4.1: Predicting One Year</vt:lpstr>
      <vt:lpstr>Lynx</vt:lpstr>
      <vt:lpstr>Exercise 4.1: Predicting One Year</vt:lpstr>
      <vt:lpstr>Exercise 4.: Predicting Three Years</vt:lpstr>
      <vt:lpstr>Exercise 5: Plotting Three Years</vt:lpstr>
      <vt:lpstr>Exercise 5: Plotting Three Years</vt:lpstr>
      <vt:lpstr>Exercise 6: Predicting 100 Years</vt:lpstr>
      <vt:lpstr>Lynx</vt:lpstr>
      <vt:lpstr>Predator and Prey</vt:lpstr>
      <vt:lpstr>Predicting Future Hare Populations with Lynxes</vt:lpstr>
      <vt:lpstr>Predicting Future Hare Populations with Lynxes</vt:lpstr>
      <vt:lpstr>Predicting Future Hare Populations with Lynxes</vt:lpstr>
      <vt:lpstr>Predicting Future Lynx Populations with Hares</vt:lpstr>
      <vt:lpstr>Predicting Future Hare and Lynx Populations</vt:lpstr>
      <vt:lpstr>Predicting Many Years in the Future a year at a time</vt:lpstr>
      <vt:lpstr>Exercise 7: Label the Graph</vt:lpstr>
      <vt:lpstr>Predator and Prey</vt:lpstr>
      <vt:lpstr>Predator and Prey</vt:lpstr>
      <vt:lpstr>Exercise 8.1: Predicting One Year</vt:lpstr>
      <vt:lpstr>Exercise 8.1: Predicting One Year</vt:lpstr>
      <vt:lpstr>Exercise 8.2: Predicting Three Years</vt:lpstr>
      <vt:lpstr>Exercise 8.2: Predicting Three Years</vt:lpstr>
      <vt:lpstr>Exercise 9: Plotting Three Years</vt:lpstr>
      <vt:lpstr>Exercise 10: Plotting Hares and Lynxes</vt:lpstr>
      <vt:lpstr>Exercise 10: Plotting Hares and Lynxes</vt:lpstr>
      <vt:lpstr>Predator and Prey</vt:lpstr>
      <vt:lpstr>Predator and Prey</vt:lpstr>
      <vt:lpstr>Predator and Prey</vt:lpstr>
      <vt:lpstr>Predator and Prey</vt:lpstr>
      <vt:lpstr>Predator Prey</vt:lpstr>
      <vt:lpstr>Plants and Deer</vt:lpstr>
      <vt:lpstr>Plants and Deer</vt:lpstr>
      <vt:lpstr>Deer vs Plant</vt:lpstr>
      <vt:lpstr>Wolves</vt:lpstr>
      <vt:lpstr>Wolves and Deer</vt:lpstr>
      <vt:lpstr>Wolves and Deer and Plants</vt:lpstr>
      <vt:lpstr>Directed Graph</vt:lpstr>
      <vt:lpstr>Exercise 11: Label the Graph</vt:lpstr>
      <vt:lpstr>Directed Graph</vt:lpstr>
      <vt:lpstr>Three Animals</vt:lpstr>
      <vt:lpstr>Exercise 12: Describe what is happening in the below graph</vt:lpstr>
      <vt:lpstr>Do we have Enough Wolves</vt:lpstr>
      <vt:lpstr>Discussion Questions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Study Walking</dc:title>
  <dc:creator>John Butler</dc:creator>
  <cp:lastModifiedBy>John Butler</cp:lastModifiedBy>
  <cp:revision>47</cp:revision>
  <dcterms:created xsi:type="dcterms:W3CDTF">2023-05-03T09:30:47Z</dcterms:created>
  <dcterms:modified xsi:type="dcterms:W3CDTF">2026-02-09T14:30:57Z</dcterms:modified>
</cp:coreProperties>
</file>